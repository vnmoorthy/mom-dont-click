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f20e568c-a05f-21a1-ec33-aed584570661}">
          <p14:sldIdLst>
            <p14:sldId id="256"/>
          </p14:sldIdLst>
        </p14:section>
        <p14:section name="Problem" id="{bf528777-8e04-9959-139b-8e4f11256427}">
          <p14:sldIdLst>
            <p14:sldId id="257"/>
            <p14:sldId id="258"/>
          </p14:sldIdLst>
        </p14:section>
        <p14:section name="Product" id="{4c4fd008-1b78-aa01-e465-1d0a0233fc1f}">
          <p14:sldIdLst>
            <p14:sldId id="259"/>
            <p14:sldId id="260"/>
            <p14:sldId id="261"/>
          </p14:sldIdLst>
        </p14:section>
        <p14:section name="How it is built" id="{5ed6592b-ec9c-85bb-8980-56a4d13c4767}">
          <p14:sldIdLst>
            <p14:sldId id="262"/>
            <p14:sldId id="263"/>
            <p14:sldId id="264"/>
          </p14:sldIdLst>
        </p14:section>
        <p14:section name="Close" id="{2585cf59-c616-47cb-1133-9dae3d164f4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Mom, Don't Click. Every family has one person who gets the text: is this real? In mine, that is me. So I gave my mom one email address. She forwards anything sketchy, and it clicks so she never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your family's fraud desk. Mom texts: is this real? You are in a meeting. You answer three hours later. Sometimes that is after the click. Americans over sixty reported losing 4.88 billion dollars to fraud in 2024. For all US consumers it was 12.5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insight. Parents will not install an app. But they already know how to forward an email. So the whole product is an address. No app, no account, no setup. Give your mom this address and you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Mom forwards it. A throwaway browser in the cloud opens the link and watches what the page asks for. In parallel, we check the claims. Then one giant sentence comes back. And if it was a scam, you get this: Mom was sent a parcel scam. She did not click.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wall, running live. Here is what my mom forwarded this morning: your parcel is being held. She never opens it. A throwaway browser does. Watch the left. It walks into the fake carrier page and types obviously fake details, which it only does on our own training pages. Step two demands a card number. That gets boxed in red, and it stops. On the right, the evidence lands chip by chip. Then the whole screen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Scam. Do not click. Carriers never ask for a card number by email. One sentence a seventy-five-year-old can act on, plus three reasons. It only ever gives three answers: scam, treat as a scam, or no red flags found. It never says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it is one Mastra workflow. Read the message. Check memory. Then three branches in parallel: open the link, check the claims, check the address. Rules decide the level. The model only writes the sentence. Seen it before? It is answered straight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tool here does a real job. AgentMail is the address. Kernel is the browser. Exa finds the real site. Mastra runs the workflow. Neon is the memory. Fly keeps it on. assistant-ui answers follow-ups. Remove any one and it stops. And it still runs with zero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built to fail in one direction. Rules decide, so a scam email cannot talk the verdict down. The browser looks. It never types. A dead link is evidence. On our labelled set it scores twelve of twelve. That is a regression check, not a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Mom forwards. It clicks. You only hear about it when it matters. The adult child pays, a few dollars a month per parent. Next: a phone number for texts, a family dashboard, and shared memory across families. The code is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NIGH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8778240" cy="896112"/>
          </a:xfrm>
          <a:prstGeom prst="rect">
            <a:avLst/>
          </a:prstGeom>
          <a:noFill/>
          <a:ln/>
        </p:spPr>
        <p:txBody>
          <a:bodyPr wrap="square" rtlCol="0"/>
          <a:lstStyle>
            <a:lvl1pPr algn="l" indent="0" marL="0">
              <a:buNone/>
              <a:defRPr lang="en-US" sz="5400"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TEMENT_NIGH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777240"/>
          </a:xfrm>
          <a:prstGeom prst="rect">
            <a:avLst/>
          </a:prstGeom>
          <a:noFill/>
          <a:ln/>
        </p:spPr>
        <p:txBody>
          <a:bodyPr wrap="square" rtlCol="0"/>
          <a:lstStyle>
            <a:lvl1pPr algn="l" indent="0" marL="0">
              <a:buNone/>
              <a:defRPr lang="en-US" sz="4000" dirty="0">
                <a:solidFill>
                  <a:schemeClr val="bg1"/>
                </a:solidFill>
              </a:defRPr>
            </a:lvl1pPr>
          </a:lstStyle>
          <a:p>
            <a:pPr algn="l" indent="0" marL="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_NIGH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44168" y="237744"/>
            <a:ext cx="5486400" cy="274320"/>
          </a:xfrm>
          <a:prstGeom prst="rect">
            <a:avLst/>
          </a:prstGeom>
          <a:noFill/>
          <a:ln/>
        </p:spPr>
        <p:txBody>
          <a:bodyPr wrap="square" rtlCol="0"/>
          <a:lstStyle>
            <a:lvl1pPr algn="l" indent="0" marL="0">
              <a:buNone/>
              <a:defRPr lang="en-US" sz="1200" b="1" dirty="0">
                <a:solidFill>
                  <a:schemeClr val="bg1"/>
                </a:solidFill>
                <a:latin typeface="Courier New" pitchFamily="34" charset="0"/>
                <a:ea typeface="Courier New" pitchFamily="34" charset="-122"/>
                <a:cs typeface="Courier New" pitchFamily="34" charset="-120"/>
              </a:defRPr>
            </a:lvl1pPr>
          </a:lstStyle>
          <a:p>
            <a:pPr algn="l" indent="0" marL="0">
              <a:buNone/>
            </a:pPr>
            <a:endParaRPr lang="en-US" sz="1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VERDICT_RED">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02336" y="0"/>
            <a:ext cx="11338560" cy="4114800"/>
          </a:xfrm>
          <a:prstGeom prst="rect">
            <a:avLst/>
          </a:prstGeom>
          <a:noFill/>
          <a:ln/>
        </p:spPr>
        <p:txBody>
          <a:bodyPr wrap="square" rtlCol="0"/>
          <a:lstStyle>
            <a:lvl1pPr algn="l" indent="0" marL="0">
              <a:buNone/>
              <a:defRPr lang="en-US" sz="22000" dirty="0">
                <a:solidFill>
                  <a:schemeClr val="bg1"/>
                </a:solidFill>
              </a:defRPr>
            </a:lvl1pPr>
          </a:lstStyle>
          <a:p>
            <a:pPr algn="l" indent="0" marL="0">
              <a:buNone/>
            </a:pPr>
            <a:endParaRPr lang="en-US" sz="220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NIGHT">
    <p:bg>
      <p:bgPr>
        <a:solidFill>
          <a:schemeClr val="tx2"/>
        </a:solidFill>
      </p:bgPr>
    </p:bg>
    <p:spTree>
      <p:nvGrpSpPr>
        <p:cNvPr id="1" name=""/>
        <p:cNvGrpSpPr/>
        <p:nvPr/>
      </p:nvGrpSpPr>
      <p:grpSpPr>
        <a:xfrm>
          <a:off x="0" y="0"/>
          <a:ext cx="0" cy="0"/>
          <a:chOff x="0" y="0"/>
          <a:chExt cx="0" cy="0"/>
        </a:xfrm>
      </p:grpSpPr>
      <p:pic>
        <p:nvPicPr>
          <p:cNvPr id="2" name="Image 0" descr="/Users/moorthy/Downloads/Projects/Build Personal Agents Hack/docs/deck/build/assets/logo.png">    </p:cNvPr>
          <p:cNvPicPr>
            <a:picLocks noChangeAspect="1"/>
          </p:cNvPicPr>
          <p:nvPr/>
        </p:nvPicPr>
        <p:blipFill>
          <a:blip r:embed="rId1"/>
          <a:stretch>
            <a:fillRect/>
          </a:stretch>
        </p:blipFill>
        <p:spPr>
          <a:xfrm>
            <a:off x="548640" y="6336792"/>
            <a:ext cx="237744" cy="237744"/>
          </a:xfrm>
          <a:prstGeom prst="rect">
            <a:avLst/>
          </a:prstGeom>
        </p:spPr>
      </p:pic>
      <p:sp>
        <p:nvSpPr>
          <p:cNvPr id="3" name="Text 0"/>
          <p:cNvSpPr/>
          <p:nvPr/>
        </p:nvSpPr>
        <p:spPr>
          <a:xfrm>
            <a:off x="877824" y="6336792"/>
            <a:ext cx="3657600" cy="237744"/>
          </a:xfrm>
          <a:prstGeom prst="rect">
            <a:avLst/>
          </a:prstGeom>
          <a:noFill/>
          <a:ln/>
        </p:spPr>
        <p:txBody>
          <a:bodyPr wrap="square" lIns="0" tIns="0" rIns="0" bIns="0" rtlCol="0" anchor="ctr"/>
          <a:lstStyle/>
          <a:p>
            <a:pPr indent="0" marL="0">
              <a:buNone/>
            </a:pPr>
            <a:r>
              <a:rPr lang="en-US" sz="1000" b="1" spc="300" kern="0" dirty="0">
                <a:solidFill>
                  <a:schemeClr val="accent4"/>
                </a:solidFill>
                <a:latin typeface="Courier New" pitchFamily="34" charset="0"/>
                <a:ea typeface="Courier New" pitchFamily="34" charset="-122"/>
                <a:cs typeface="Courier New" pitchFamily="34" charset="-120"/>
              </a:rPr>
              <a:t>MOM, DON'T CLICK</a:t>
            </a:r>
            <a:endParaRPr lang="en-US" sz="1000" dirty="0"/>
          </a:p>
        </p:txBody>
      </p:sp>
      <p:sp>
        <p:nvSpPr>
          <p:cNvPr id="4" name="Text 1"/>
          <p:cNvSpPr/>
          <p:nvPr>
            <p:ph idx="102" type="title" hasCustomPrompt="1"/>
          </p:nvPr>
        </p:nvSpPr>
        <p:spPr>
          <a:xfrm>
            <a:off x="548640" y="640080"/>
            <a:ext cx="11094415" cy="749808"/>
          </a:xfrm>
          <a:prstGeom prst="rect">
            <a:avLst/>
          </a:prstGeom>
          <a:noFill/>
          <a:ln/>
        </p:spPr>
        <p:txBody>
          <a:bodyPr wrap="square" rtlCol="0"/>
          <a:lstStyle>
            <a:lvl1pPr algn="l" indent="0" marL="0">
              <a:buNone/>
              <a:defRPr lang="en-US" sz="3400"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11535" y="6336792"/>
            <a:ext cx="73152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latin typeface="Courier New"/>
                <a:ea typeface="Courier New"/>
                <a:cs typeface="Courier New"/>
              </a:defRPr>
            </a:lvl1pPr>
          </a:lstStyle>
          <a:p>
            <a:pPr algn="r"/>
            <a:fld id="{F7021451-1387-4CA6-816F-3879F97B5CBC}" type="slidenum">
              <a:rPr b="1"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_PAPER">
    <p:bg>
      <p:bgPr>
        <a:solidFill>
          <a:schemeClr val="bg1"/>
        </a:solidFill>
      </p:bgPr>
    </p:bg>
    <p:spTree>
      <p:nvGrpSpPr>
        <p:cNvPr id="1" name=""/>
        <p:cNvGrpSpPr/>
        <p:nvPr/>
      </p:nvGrpSpPr>
      <p:grpSpPr>
        <a:xfrm>
          <a:off x="0" y="0"/>
          <a:ext cx="0" cy="0"/>
          <a:chOff x="0" y="0"/>
          <a:chExt cx="0" cy="0"/>
        </a:xfrm>
      </p:grpSpPr>
      <p:pic>
        <p:nvPicPr>
          <p:cNvPr id="2" name="Image 0" descr="/Users/moorthy/Downloads/Projects/Build Personal Agents Hack/docs/deck/build/assets/logo.png">    </p:cNvPr>
          <p:cNvPicPr>
            <a:picLocks noChangeAspect="1"/>
          </p:cNvPicPr>
          <p:nvPr/>
        </p:nvPicPr>
        <p:blipFill>
          <a:blip r:embed="rId1"/>
          <a:stretch>
            <a:fillRect/>
          </a:stretch>
        </p:blipFill>
        <p:spPr>
          <a:xfrm>
            <a:off x="548640" y="6336792"/>
            <a:ext cx="237744" cy="237744"/>
          </a:xfrm>
          <a:prstGeom prst="rect">
            <a:avLst/>
          </a:prstGeom>
        </p:spPr>
      </p:pic>
      <p:sp>
        <p:nvSpPr>
          <p:cNvPr id="3" name="Text 0"/>
          <p:cNvSpPr/>
          <p:nvPr/>
        </p:nvSpPr>
        <p:spPr>
          <a:xfrm>
            <a:off x="877824" y="6336792"/>
            <a:ext cx="3657600" cy="237744"/>
          </a:xfrm>
          <a:prstGeom prst="rect">
            <a:avLst/>
          </a:prstGeom>
          <a:noFill/>
          <a:ln/>
        </p:spPr>
        <p:txBody>
          <a:bodyPr wrap="square" lIns="0" tIns="0" rIns="0" bIns="0" rtlCol="0" anchor="ctr"/>
          <a:lstStyle/>
          <a:p>
            <a:pPr indent="0" marL="0">
              <a:buNone/>
            </a:pPr>
            <a:r>
              <a:rPr lang="en-US" sz="1000" b="1" spc="300" kern="0" dirty="0">
                <a:solidFill>
                  <a:srgbClr val="62574A"/>
                </a:solidFill>
                <a:latin typeface="Courier New" pitchFamily="34" charset="0"/>
                <a:ea typeface="Courier New" pitchFamily="34" charset="-122"/>
                <a:cs typeface="Courier New" pitchFamily="34" charset="-120"/>
              </a:rPr>
              <a:t>MOM, DON'T CLICK</a:t>
            </a:r>
            <a:endParaRPr lang="en-US" sz="1000" dirty="0"/>
          </a:p>
        </p:txBody>
      </p:sp>
      <p:sp>
        <p:nvSpPr>
          <p:cNvPr id="4" name="Text 1"/>
          <p:cNvSpPr/>
          <p:nvPr>
            <p:ph idx="102" type="title" hasCustomPrompt="1"/>
          </p:nvPr>
        </p:nvSpPr>
        <p:spPr>
          <a:xfrm>
            <a:off x="548640" y="640080"/>
            <a:ext cx="11094415" cy="749808"/>
          </a:xfrm>
          <a:prstGeom prst="rect">
            <a:avLst/>
          </a:prstGeom>
          <a:noFill/>
          <a:ln/>
        </p:spPr>
        <p:txBody>
          <a:bodyPr wrap="square" rtlCol="0"/>
          <a:lstStyle>
            <a:lvl1pPr algn="l" indent="0" marL="0">
              <a:buNone/>
              <a:defRPr lang="en-US" sz="3400"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11535" y="6336792"/>
            <a:ext cx="73152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2574A"/>
                </a:solidFill>
                <a:latin typeface="Courier New"/>
                <a:ea typeface="Courier New"/>
                <a:cs typeface="Courier New"/>
              </a:defRPr>
            </a:lvl1pPr>
          </a:lstStyle>
          <a:p>
            <a:pPr algn="r"/>
            <a:fld id="{F7021451-1387-4CA6-816F-3879F97B5CBC}" type="slidenum">
              <a:rPr b="1"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36792"/>
            <a:ext cx="73152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latin typeface="Courier New"/>
                <a:ea typeface="Courier New"/>
                <a:cs typeface="Courier New"/>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7.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7.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6.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1-logo" descr="Mom, Don't Click logo">    </p:cNvPr>
          <p:cNvPicPr>
            <a:picLocks noChangeAspect="1"/>
          </p:cNvPicPr>
          <p:nvPr/>
        </p:nvPicPr>
        <p:blipFill>
          <a:blip r:embed="rId1"/>
          <a:stretch>
            <a:fillRect/>
          </a:stretch>
        </p:blipFill>
        <p:spPr>
          <a:xfrm>
            <a:off x="548640" y="457200"/>
            <a:ext cx="457200" cy="457200"/>
          </a:xfrm>
          <a:prstGeom prst="rect">
            <a:avLst/>
          </a:prstGeom>
        </p:spPr>
      </p:pic>
      <p:sp>
        <p:nvSpPr>
          <p:cNvPr id="3" name="s1-wordmark"/>
          <p:cNvSpPr txBox="1"/>
          <p:nvPr/>
        </p:nvSpPr>
        <p:spPr>
          <a:xfrm>
            <a:off x="1143000" y="457200"/>
            <a:ext cx="3657600" cy="457200"/>
          </a:xfrm>
          <a:prstGeom prst="rect">
            <a:avLst/>
          </a:prstGeom>
          <a:noFill/>
          <a:ln/>
        </p:spPr>
        <p:txBody>
          <a:bodyPr wrap="square" lIns="0" tIns="0" rIns="0" bIns="0" rtlCol="0" anchor="ctr"/>
          <a:lstStyle/>
          <a:p>
            <a:pPr indent="0" marL="0">
              <a:buNone/>
            </a:pPr>
            <a:r>
              <a:rPr lang="en-US" sz="1600" dirty="0">
                <a:solidFill>
                  <a:schemeClr val="bg1"/>
                </a:solidFill>
                <a:latin typeface="Arial Black" pitchFamily="34" charset="0"/>
                <a:ea typeface="Arial Black" pitchFamily="34" charset="-122"/>
                <a:cs typeface="Arial Black" pitchFamily="34" charset="-120"/>
              </a:rPr>
              <a:t>Mom, Don't Click</a:t>
            </a:r>
            <a:endParaRPr lang="en-US" sz="1600" dirty="0"/>
          </a:p>
        </p:txBody>
      </p:sp>
      <p:sp>
        <p:nvSpPr>
          <p:cNvPr id="4" name="Title"/>
          <p:cNvSpPr/>
          <p:nvPr>
            <p:ph idx="100" type="title" hasCustomPrompt="1"/>
          </p:nvPr>
        </p:nvSpPr>
        <p:spPr>
          <a:xfrm>
            <a:off x="548640" y="1188720"/>
            <a:ext cx="8778240" cy="896112"/>
          </a:xfrm>
          <a:prstGeom prst="rect">
            <a:avLst/>
          </a:prstGeom>
          <a:noFill/>
          <a:ln/>
        </p:spPr>
        <p:txBody>
          <a:bodyPr wrap="square" lIns="0" tIns="0" rIns="0" bIns="0" rtlCol="0" anchor="ctr"/>
          <a:lstStyle/>
          <a:p>
            <a:pPr algn="l" indent="0" marL="0">
              <a:buNone/>
            </a:pPr>
            <a:r>
              <a:rPr lang="en-US" sz="5400" spc="-150" kern="0" dirty="0">
                <a:solidFill>
                  <a:schemeClr val="bg1"/>
                </a:solidFill>
              </a:rPr>
              <a:t>Mom, don't click.</a:t>
            </a:r>
            <a:endParaRPr lang="en-US" sz="5400" dirty="0"/>
          </a:p>
        </p:txBody>
      </p:sp>
      <p:sp>
        <p:nvSpPr>
          <p:cNvPr id="5" name="s1-line2"/>
          <p:cNvSpPr txBox="1"/>
          <p:nvPr/>
        </p:nvSpPr>
        <p:spPr>
          <a:xfrm>
            <a:off x="548640" y="2048256"/>
            <a:ext cx="8778240" cy="896112"/>
          </a:xfrm>
          <a:prstGeom prst="rect">
            <a:avLst/>
          </a:prstGeom>
          <a:noFill/>
          <a:ln/>
        </p:spPr>
        <p:txBody>
          <a:bodyPr wrap="square" lIns="0" tIns="0" rIns="0" bIns="0" rtlCol="0" anchor="ctr"/>
          <a:lstStyle/>
          <a:p>
            <a:pPr indent="0" marL="0">
              <a:buNone/>
            </a:pPr>
            <a:r>
              <a:rPr lang="en-US" sz="5400" spc="-150" kern="0" dirty="0">
                <a:solidFill>
                  <a:schemeClr val="accent1"/>
                </a:solidFill>
                <a:latin typeface="Arial Black" pitchFamily="34" charset="0"/>
                <a:ea typeface="Arial Black" pitchFamily="34" charset="-122"/>
                <a:cs typeface="Arial Black" pitchFamily="34" charset="-120"/>
              </a:rPr>
              <a:t>We'll click it for you.</a:t>
            </a:r>
            <a:endParaRPr lang="en-US" sz="5400" dirty="0"/>
          </a:p>
        </p:txBody>
      </p:sp>
      <p:sp>
        <p:nvSpPr>
          <p:cNvPr id="6" name="s1-sub"/>
          <p:cNvSpPr txBox="1"/>
          <p:nvPr/>
        </p:nvSpPr>
        <p:spPr>
          <a:xfrm>
            <a:off x="548640" y="3429000"/>
            <a:ext cx="3931920" cy="1188720"/>
          </a:xfrm>
          <a:prstGeom prst="rect">
            <a:avLst/>
          </a:prstGeom>
          <a:noFill/>
          <a:ln/>
        </p:spPr>
        <p:txBody>
          <a:bodyPr wrap="square" lIns="0" tIns="0" rIns="0" bIns="0" rtlCol="0" anchor="t"/>
          <a:lstStyle/>
          <a:p>
            <a:pPr indent="0" marL="0">
              <a:buNone/>
            </a:pPr>
            <a:r>
              <a:rPr lang="en-US" sz="2000" dirty="0">
                <a:solidFill>
                  <a:schemeClr val="bg2"/>
                </a:solidFill>
              </a:rPr>
              <a:t>One email address your mom forwards anything sketchy to.</a:t>
            </a:r>
            <a:endParaRPr lang="en-US" sz="2000" dirty="0"/>
          </a:p>
        </p:txBody>
      </p:sp>
      <p:pic>
        <p:nvPicPr>
          <p:cNvPr id="7" name="s1-shot" descr="The wall mid-run: a throwaway browser on a fake carrier page with the card fields boxed in red">    </p:cNvPr>
          <p:cNvPicPr>
            <a:picLocks noChangeAspect="1"/>
          </p:cNvPicPr>
          <p:nvPr/>
        </p:nvPicPr>
        <p:blipFill>
          <a:blip r:embed="rId2"/>
          <a:stretch>
            <a:fillRect/>
          </a:stretch>
        </p:blipFill>
        <p:spPr>
          <a:xfrm>
            <a:off x="5029200" y="3291840"/>
            <a:ext cx="8412480" cy="4259484"/>
          </a:xfrm>
          <a:prstGeom prst="rect">
            <a:avLst/>
          </a:prstGeom>
        </p:spPr>
      </p:pic>
      <p:sp>
        <p:nvSpPr>
          <p:cNvPr id="8" name="s1-shot-frame"/>
          <p:cNvSpPr/>
          <p:nvPr/>
        </p:nvSpPr>
        <p:spPr>
          <a:xfrm>
            <a:off x="5029200" y="3291840"/>
            <a:ext cx="8412480" cy="4259484"/>
          </a:xfrm>
          <a:prstGeom prst="roundRect">
            <a:avLst>
              <a:gd name="adj" fmla="val 3864"/>
            </a:avLst>
          </a:prstGeom>
          <a:noFill/>
          <a:ln w="12700">
            <a:solidFill>
              <a:srgbClr val="3A3129"/>
            </a:solidFill>
            <a:prstDash val="solid"/>
          </a:ln>
        </p:spPr>
      </p:sp>
      <p:sp>
        <p:nvSpPr>
          <p:cNvPr id="9" name="s1-footer"/>
          <p:cNvSpPr txBox="1"/>
          <p:nvPr/>
        </p:nvSpPr>
        <p:spPr>
          <a:xfrm>
            <a:off x="548640" y="5852160"/>
            <a:ext cx="4206240" cy="512064"/>
          </a:xfrm>
          <a:prstGeom prst="rect">
            <a:avLst/>
          </a:prstGeom>
          <a:noFill/>
          <a:ln/>
        </p:spPr>
        <p:txBody>
          <a:bodyPr wrap="square" lIns="0" tIns="0" rIns="0" bIns="0" rtlCol="0" anchor="t"/>
          <a:lstStyle/>
          <a:p>
            <a:pPr indent="0" marL="0">
              <a:buNone/>
            </a:pPr>
            <a:r>
              <a:rPr lang="en-US" sz="1200" b="1" spc="300" kern="0" dirty="0">
                <a:solidFill>
                  <a:schemeClr val="accent4"/>
                </a:solidFill>
                <a:latin typeface="Courier New" pitchFamily="34" charset="0"/>
                <a:ea typeface="Courier New" pitchFamily="34" charset="-122"/>
                <a:cs typeface="Courier New" pitchFamily="34" charset="-120"/>
              </a:rPr>
              <a:t>BUILD PERSONAL AGENTS HACK</a:t>
            </a:r>
            <a:endParaRPr lang="en-US" sz="1200" dirty="0"/>
          </a:p>
          <a:p>
            <a:pPr indent="0" marL="0">
              <a:buNone/>
            </a:pPr>
            <a:r>
              <a:rPr lang="en-US" sz="1200" b="1" spc="300" kern="0" dirty="0">
                <a:solidFill>
                  <a:schemeClr val="accent4"/>
                </a:solidFill>
                <a:latin typeface="Courier New" pitchFamily="34" charset="0"/>
                <a:ea typeface="Courier New" pitchFamily="34" charset="-122"/>
                <a:cs typeface="Courier New" pitchFamily="34" charset="-120"/>
              </a:rPr>
              <a:t>SAN FRANCISCO · 2026</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700"/>
                            </p:stCondLst>
                            <p:childTnLst>
                              <p:par>
                                <p:cTn id="9" presetID="22" presetClass="entr" presetSubtype="8" fill="hold" grpId="0" nodeType="afterEffect">
                                  <p:stCondLst>
                                    <p:cond delay="15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350"/>
                            </p:stCondLst>
                            <p:childTnLst>
                              <p:par>
                                <p:cTn id="13" presetID="10" presetClass="entr" presetSubtype="0" fill="hold" grpId="0" nodeType="afterEffect">
                                  <p:stCondLst>
                                    <p:cond delay="1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childTnLst>
                          </p:cTn>
                        </p:par>
                        <p:par>
                          <p:cTn id="16" fill="hold">
                            <p:stCondLst>
                              <p:cond delay="1900"/>
                            </p:stCondLst>
                            <p:childTnLst>
                              <p:par>
                                <p:cTn id="17" presetID="42"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800"/>
                                        <p:tgtEl>
                                          <p:spTgt spid="7"/>
                                        </p:tgtEl>
                                      </p:cBhvr>
                                    </p:animEffect>
                                    <p:anim calcmode="lin" valueType="num">
                                      <p:cBhvr>
                                        <p:cTn id="20" dur="800" decel="100000" fill="hold"/>
                                        <p:tgtEl>
                                          <p:spTgt spid="7"/>
                                        </p:tgtEl>
                                        <p:attrNameLst>
                                          <p:attrName>ppt_x</p:attrName>
                                        </p:attrNameLst>
                                      </p:cBhvr>
                                      <p:tavLst>
                                        <p:tav tm="0">
                                          <p:val>
                                            <p:strVal val="#ppt_x+.08"/>
                                          </p:val>
                                        </p:tav>
                                        <p:tav tm="100000">
                                          <p:val>
                                            <p:strVal val="#ppt_x"/>
                                          </p:val>
                                        </p:tav>
                                      </p:tavLst>
                                    </p:anim>
                                    <p:anim calcmode="lin" valueType="num">
                                      <p:cBhvr>
                                        <p:cTn id="21" dur="800" decel="100000" fill="hold"/>
                                        <p:tgtEl>
                                          <p:spTgt spid="7"/>
                                        </p:tgtEl>
                                        <p:attrNameLst>
                                          <p:attrName>ppt_y</p:attrName>
                                        </p:attrNameLst>
                                      </p:cBhvr>
                                      <p:tavLst>
                                        <p:tav tm="0">
                                          <p:val>
                                            <p:strVal val="#ppt_y"/>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800"/>
                                        <p:tgtEl>
                                          <p:spTgt spid="8"/>
                                        </p:tgtEl>
                                      </p:cBhvr>
                                    </p:animEffect>
                                    <p:anim calcmode="lin" valueType="num">
                                      <p:cBhvr>
                                        <p:cTn id="25" dur="800" decel="100000" fill="hold"/>
                                        <p:tgtEl>
                                          <p:spTgt spid="8"/>
                                        </p:tgtEl>
                                        <p:attrNameLst>
                                          <p:attrName>ppt_x</p:attrName>
                                        </p:attrNameLst>
                                      </p:cBhvr>
                                      <p:tavLst>
                                        <p:tav tm="0">
                                          <p:val>
                                            <p:strVal val="#ppt_x+.08"/>
                                          </p:val>
                                        </p:tav>
                                        <p:tav tm="100000">
                                          <p:val>
                                            <p:strVal val="#ppt_x"/>
                                          </p:val>
                                        </p:tav>
                                      </p:tavLst>
                                    </p:anim>
                                    <p:anim calcmode="lin" valueType="num">
                                      <p:cBhvr>
                                        <p:cTn id="26" dur="800" decel="100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2-eyebrow"/>
          <p:cNvSpPr txBox="1"/>
          <p:nvPr/>
        </p:nvSpPr>
        <p:spPr>
          <a:xfrm>
            <a:off x="548640" y="384048"/>
            <a:ext cx="5486400" cy="256032"/>
          </a:xfrm>
          <a:prstGeom prst="rect">
            <a:avLst/>
          </a:prstGeom>
          <a:noFill/>
          <a:ln/>
        </p:spPr>
        <p:txBody>
          <a:bodyPr wrap="square" lIns="0" tIns="0" rIns="0" bIns="0" rtlCol="0" anchor="ctr"/>
          <a:lstStyle/>
          <a:p>
            <a:pPr indent="0" marL="0">
              <a:buNone/>
            </a:pPr>
            <a:r>
              <a:rPr lang="en-US" sz="1200" b="1" spc="300" kern="0" dirty="0">
                <a:solidFill>
                  <a:srgbClr val="62574A"/>
                </a:solidFill>
                <a:latin typeface="Courier New" pitchFamily="34" charset="0"/>
                <a:ea typeface="Courier New" pitchFamily="34" charset="-122"/>
                <a:cs typeface="Courier New" pitchFamily="34" charset="-120"/>
              </a:rPr>
              <a:t>THE PROBLEM</a:t>
            </a:r>
            <a:endParaRPr lang="en-US" sz="1200" dirty="0"/>
          </a:p>
        </p:txBody>
      </p:sp>
      <p:sp>
        <p:nvSpPr>
          <p:cNvPr id="3" name="Title"/>
          <p:cNvSpPr/>
          <p:nvPr>
            <p:ph idx="102" type="title" hasCustomPrompt="1"/>
          </p:nvPr>
        </p:nvSpPr>
        <p:spPr>
          <a:xfrm>
            <a:off x="548640" y="640080"/>
            <a:ext cx="11094415" cy="749808"/>
          </a:xfrm>
          <a:prstGeom prst="rect">
            <a:avLst/>
          </a:prstGeom>
          <a:noFill/>
          <a:ln/>
        </p:spPr>
        <p:txBody>
          <a:bodyPr wrap="square" lIns="0" tIns="0" rIns="0" bIns="0" rtlCol="0" anchor="ctr"/>
          <a:lstStyle/>
          <a:p>
            <a:pPr algn="l" indent="0" marL="0">
              <a:buNone/>
            </a:pPr>
            <a:r>
              <a:rPr lang="en-US" sz="3400" spc="-75" kern="0" dirty="0">
                <a:solidFill>
                  <a:schemeClr val="tx1"/>
                </a:solidFill>
              </a:rPr>
              <a:t>You are your family's fraud desk</a:t>
            </a:r>
            <a:endParaRPr lang="en-US" sz="3400" dirty="0"/>
          </a:p>
        </p:txBody>
      </p:sp>
      <p:sp>
        <p:nvSpPr>
          <p:cNvPr id="4" name="s2-thread"/>
          <p:cNvSpPr/>
          <p:nvPr/>
        </p:nvSpPr>
        <p:spPr>
          <a:xfrm>
            <a:off x="548640" y="1691640"/>
            <a:ext cx="4937760" cy="4206240"/>
          </a:xfrm>
          <a:prstGeom prst="roundRect">
            <a:avLst>
              <a:gd name="adj" fmla="val 3913"/>
            </a:avLst>
          </a:prstGeom>
          <a:solidFill>
            <a:srgbClr val="FFFDF8"/>
          </a:solidFill>
          <a:ln w="12700">
            <a:solidFill>
              <a:schemeClr val="accent6"/>
            </a:solidFill>
            <a:prstDash val="solid"/>
          </a:ln>
        </p:spPr>
      </p:sp>
      <p:sp>
        <p:nvSpPr>
          <p:cNvPr id="5" name="s2-avatar"/>
          <p:cNvSpPr/>
          <p:nvPr/>
        </p:nvSpPr>
        <p:spPr>
          <a:xfrm>
            <a:off x="822960" y="1947672"/>
            <a:ext cx="475488" cy="475488"/>
          </a:xfrm>
          <a:prstGeom prst="ellipse">
            <a:avLst/>
          </a:prstGeom>
          <a:solidFill>
            <a:schemeClr val="tx1"/>
          </a:solidFill>
          <a:ln/>
        </p:spPr>
      </p:sp>
      <p:sp>
        <p:nvSpPr>
          <p:cNvPr id="6" name="s2-avatar-letter"/>
          <p:cNvSpPr txBox="1"/>
          <p:nvPr/>
        </p:nvSpPr>
        <p:spPr>
          <a:xfrm>
            <a:off x="822960" y="1947672"/>
            <a:ext cx="475488" cy="475488"/>
          </a:xfrm>
          <a:prstGeom prst="rect">
            <a:avLst/>
          </a:prstGeom>
          <a:noFill/>
          <a:ln/>
        </p:spPr>
        <p:txBody>
          <a:bodyPr wrap="square" lIns="0" tIns="0" rIns="0" bIns="0" rtlCol="0" anchor="ctr"/>
          <a:lstStyle/>
          <a:p>
            <a:pPr algn="ctr" indent="0" marL="0">
              <a:buNone/>
            </a:pPr>
            <a:r>
              <a:rPr lang="en-US" sz="1600" dirty="0">
                <a:solidFill>
                  <a:schemeClr val="bg1"/>
                </a:solidFill>
                <a:latin typeface="Arial Black" pitchFamily="34" charset="0"/>
                <a:ea typeface="Arial Black" pitchFamily="34" charset="-122"/>
                <a:cs typeface="Arial Black" pitchFamily="34" charset="-120"/>
              </a:rPr>
              <a:t>M</a:t>
            </a:r>
            <a:endParaRPr lang="en-US" sz="1600" dirty="0"/>
          </a:p>
        </p:txBody>
      </p:sp>
      <p:sp>
        <p:nvSpPr>
          <p:cNvPr id="7" name="s2-name"/>
          <p:cNvSpPr txBox="1"/>
          <p:nvPr/>
        </p:nvSpPr>
        <p:spPr>
          <a:xfrm>
            <a:off x="1444752" y="1929384"/>
            <a:ext cx="2743200" cy="274320"/>
          </a:xfrm>
          <a:prstGeom prst="rect">
            <a:avLst/>
          </a:prstGeom>
          <a:noFill/>
          <a:ln/>
        </p:spPr>
        <p:txBody>
          <a:bodyPr wrap="square" lIns="0" tIns="0" rIns="0" bIns="0" rtlCol="0" anchor="ctr"/>
          <a:lstStyle/>
          <a:p>
            <a:pPr indent="0" marL="0">
              <a:buNone/>
            </a:pPr>
            <a:r>
              <a:rPr lang="en-US" sz="1600" b="1" dirty="0">
                <a:solidFill>
                  <a:schemeClr val="tx1"/>
                </a:solidFill>
              </a:rPr>
              <a:t>Mom</a:t>
            </a:r>
            <a:endParaRPr lang="en-US" sz="1600" dirty="0"/>
          </a:p>
        </p:txBody>
      </p:sp>
      <p:sp>
        <p:nvSpPr>
          <p:cNvPr id="8" name="s2-kind"/>
          <p:cNvSpPr txBox="1"/>
          <p:nvPr/>
        </p:nvSpPr>
        <p:spPr>
          <a:xfrm>
            <a:off x="1444752" y="2212848"/>
            <a:ext cx="2743200" cy="237744"/>
          </a:xfrm>
          <a:prstGeom prst="rect">
            <a:avLst/>
          </a:prstGeom>
          <a:noFill/>
          <a:ln/>
        </p:spPr>
        <p:txBody>
          <a:bodyPr wrap="square" lIns="0" tIns="0" rIns="0" bIns="0" rtlCol="0" anchor="ctr"/>
          <a:lstStyle/>
          <a:p>
            <a:pPr indent="0" marL="0">
              <a:buNone/>
            </a:pPr>
            <a:r>
              <a:rPr lang="en-US" sz="1200" b="1" spc="300" kern="0" dirty="0">
                <a:solidFill>
                  <a:srgbClr val="62574A"/>
                </a:solidFill>
                <a:latin typeface="Courier New" pitchFamily="34" charset="0"/>
                <a:ea typeface="Courier New" pitchFamily="34" charset="-122"/>
                <a:cs typeface="Courier New" pitchFamily="34" charset="-120"/>
              </a:rPr>
              <a:t>TEXT MESSAGE</a:t>
            </a:r>
            <a:endParaRPr lang="en-US" sz="1200" dirty="0"/>
          </a:p>
        </p:txBody>
      </p:sp>
      <p:sp>
        <p:nvSpPr>
          <p:cNvPr id="9" name="s2-bubble-mom"/>
          <p:cNvSpPr/>
          <p:nvPr/>
        </p:nvSpPr>
        <p:spPr>
          <a:xfrm>
            <a:off x="822960" y="2743200"/>
            <a:ext cx="3566160" cy="914400"/>
          </a:xfrm>
          <a:prstGeom prst="roundRect">
            <a:avLst>
              <a:gd name="adj" fmla="val 24000"/>
            </a:avLst>
          </a:prstGeom>
          <a:solidFill>
            <a:srgbClr val="EDE5D4"/>
          </a:solidFill>
          <a:ln/>
        </p:spPr>
        <p:txBody>
          <a:bodyPr wrap="square" lIns="203200" tIns="0" rIns="203200" bIns="0" rtlCol="0" anchor="ctr"/>
          <a:lstStyle/>
          <a:p>
            <a:pPr indent="0" marL="0">
              <a:buNone/>
            </a:pPr>
            <a:r>
              <a:rPr lang="en-US" sz="1800" dirty="0">
                <a:solidFill>
                  <a:schemeClr val="tx1"/>
                </a:solidFill>
              </a:rPr>
              <a:t>is this real?? it says my account is suspended</a:t>
            </a:r>
            <a:endParaRPr lang="en-US" sz="1800" dirty="0"/>
          </a:p>
        </p:txBody>
      </p:sp>
      <p:sp>
        <p:nvSpPr>
          <p:cNvPr id="10" name="s2-later"/>
          <p:cNvSpPr txBox="1"/>
          <p:nvPr/>
        </p:nvSpPr>
        <p:spPr>
          <a:xfrm>
            <a:off x="822960" y="3904488"/>
            <a:ext cx="4389120" cy="256032"/>
          </a:xfrm>
          <a:prstGeom prst="rect">
            <a:avLst/>
          </a:prstGeom>
          <a:noFill/>
          <a:ln/>
        </p:spPr>
        <p:txBody>
          <a:bodyPr wrap="square" lIns="0" tIns="0" rIns="0" bIns="0" rtlCol="0" anchor="ctr"/>
          <a:lstStyle/>
          <a:p>
            <a:pPr algn="ctr" indent="0" marL="0">
              <a:buNone/>
            </a:pPr>
            <a:r>
              <a:rPr lang="en-US" sz="1200" b="1" spc="300" kern="0" dirty="0">
                <a:solidFill>
                  <a:srgbClr val="62574A"/>
                </a:solidFill>
                <a:latin typeface="Courier New" pitchFamily="34" charset="0"/>
                <a:ea typeface="Courier New" pitchFamily="34" charset="-122"/>
                <a:cs typeface="Courier New" pitchFamily="34" charset="-120"/>
              </a:rPr>
              <a:t>THREE HOURS LATER</a:t>
            </a:r>
            <a:endParaRPr lang="en-US" sz="1200" dirty="0"/>
          </a:p>
        </p:txBody>
      </p:sp>
      <p:sp>
        <p:nvSpPr>
          <p:cNvPr id="11" name="s2-bubble-you"/>
          <p:cNvSpPr/>
          <p:nvPr/>
        </p:nvSpPr>
        <p:spPr>
          <a:xfrm>
            <a:off x="1828800" y="4389120"/>
            <a:ext cx="3383280" cy="914400"/>
          </a:xfrm>
          <a:prstGeom prst="roundRect">
            <a:avLst>
              <a:gd name="adj" fmla="val 24000"/>
            </a:avLst>
          </a:prstGeom>
          <a:solidFill>
            <a:schemeClr val="tx1"/>
          </a:solidFill>
          <a:ln/>
        </p:spPr>
        <p:txBody>
          <a:bodyPr wrap="square" lIns="203200" tIns="0" rIns="203200" bIns="0" rtlCol="0" anchor="ctr"/>
          <a:lstStyle/>
          <a:p>
            <a:pPr indent="0" marL="0">
              <a:buNone/>
            </a:pPr>
            <a:r>
              <a:rPr lang="en-US" sz="1800" dirty="0">
                <a:solidFill>
                  <a:schemeClr val="bg1"/>
                </a:solidFill>
              </a:rPr>
              <a:t>sorry, was in meetings. </a:t>
            </a:r>
            <a:pPr indent="0" marL="0">
              <a:buNone/>
            </a:pPr>
            <a:r>
              <a:rPr lang="en-US" sz="1800" b="1" dirty="0">
                <a:solidFill>
                  <a:schemeClr val="bg1"/>
                </a:solidFill>
              </a:rPr>
              <a:t>DON'T CLICK</a:t>
            </a:r>
            <a:endParaRPr lang="en-US" sz="1800" dirty="0"/>
          </a:p>
        </p:txBody>
      </p:sp>
      <p:sp>
        <p:nvSpPr>
          <p:cNvPr id="12" name="s2-you"/>
          <p:cNvSpPr txBox="1"/>
          <p:nvPr/>
        </p:nvSpPr>
        <p:spPr>
          <a:xfrm>
            <a:off x="1828800" y="5385816"/>
            <a:ext cx="3383280" cy="237744"/>
          </a:xfrm>
          <a:prstGeom prst="rect">
            <a:avLst/>
          </a:prstGeom>
          <a:noFill/>
          <a:ln/>
        </p:spPr>
        <p:txBody>
          <a:bodyPr wrap="square" lIns="0" tIns="0" rIns="0" bIns="0" rtlCol="0" anchor="ctr"/>
          <a:lstStyle/>
          <a:p>
            <a:pPr algn="r" indent="0" marL="0">
              <a:buNone/>
            </a:pPr>
            <a:r>
              <a:rPr lang="en-US" sz="1200" b="1" spc="300" kern="0" dirty="0">
                <a:solidFill>
                  <a:srgbClr val="62574A"/>
                </a:solidFill>
                <a:latin typeface="Courier New" pitchFamily="34" charset="0"/>
                <a:ea typeface="Courier New" pitchFamily="34" charset="-122"/>
                <a:cs typeface="Courier New" pitchFamily="34" charset="-120"/>
              </a:rPr>
              <a:t>YOU</a:t>
            </a:r>
            <a:endParaRPr lang="en-US" sz="1200" dirty="0"/>
          </a:p>
        </p:txBody>
      </p:sp>
      <p:sp>
        <p:nvSpPr>
          <p:cNvPr id="13" name="s2-stat1-num"/>
          <p:cNvSpPr txBox="1"/>
          <p:nvPr/>
        </p:nvSpPr>
        <p:spPr>
          <a:xfrm>
            <a:off x="6126480" y="1600200"/>
            <a:ext cx="5516575" cy="1051560"/>
          </a:xfrm>
          <a:prstGeom prst="rect">
            <a:avLst/>
          </a:prstGeom>
          <a:noFill/>
          <a:ln/>
        </p:spPr>
        <p:txBody>
          <a:bodyPr wrap="square" lIns="0" tIns="0" rIns="0" bIns="0" rtlCol="0" anchor="ctr"/>
          <a:lstStyle/>
          <a:p>
            <a:pPr indent="0" marL="0">
              <a:buNone/>
            </a:pPr>
            <a:r>
              <a:rPr lang="en-US" sz="7200" spc="-200" kern="0" dirty="0">
                <a:solidFill>
                  <a:schemeClr val="accent1"/>
                </a:solidFill>
                <a:latin typeface="Arial Black" pitchFamily="34" charset="0"/>
                <a:ea typeface="Arial Black" pitchFamily="34" charset="-122"/>
                <a:cs typeface="Arial Black" pitchFamily="34" charset="-120"/>
              </a:rPr>
              <a:t>$4.88B</a:t>
            </a:r>
            <a:endParaRPr lang="en-US" sz="7200" dirty="0"/>
          </a:p>
        </p:txBody>
      </p:sp>
      <p:sp>
        <p:nvSpPr>
          <p:cNvPr id="14" name="s2-stat1-label"/>
          <p:cNvSpPr txBox="1"/>
          <p:nvPr/>
        </p:nvSpPr>
        <p:spPr>
          <a:xfrm>
            <a:off x="6126480" y="2670048"/>
            <a:ext cx="5516575" cy="685800"/>
          </a:xfrm>
          <a:prstGeom prst="rect">
            <a:avLst/>
          </a:prstGeom>
          <a:noFill/>
          <a:ln/>
        </p:spPr>
        <p:txBody>
          <a:bodyPr wrap="square" lIns="0" tIns="0" rIns="0" bIns="0" rtlCol="0" anchor="t"/>
          <a:lstStyle/>
          <a:p>
            <a:pPr indent="0" marL="0">
              <a:buNone/>
            </a:pPr>
            <a:r>
              <a:rPr lang="en-US" sz="1800" dirty="0">
                <a:solidFill>
                  <a:schemeClr val="tx1"/>
                </a:solidFill>
              </a:rPr>
              <a:t>reported lost to fraud by Americans 60 and over</a:t>
            </a:r>
            <a:endParaRPr lang="en-US" sz="1800" dirty="0"/>
          </a:p>
          <a:p>
            <a:pPr indent="0" marL="0">
              <a:buNone/>
            </a:pPr>
            <a:r>
              <a:rPr lang="en-US" sz="1800" dirty="0">
                <a:solidFill>
                  <a:schemeClr val="tx1"/>
                </a:solidFill>
              </a:rPr>
              <a:t>in 2024 (FBI IC3)</a:t>
            </a:r>
            <a:endParaRPr lang="en-US" sz="1800" dirty="0"/>
          </a:p>
        </p:txBody>
      </p:sp>
      <p:sp>
        <p:nvSpPr>
          <p:cNvPr id="15" name="s2-stat2-num"/>
          <p:cNvSpPr txBox="1"/>
          <p:nvPr/>
        </p:nvSpPr>
        <p:spPr>
          <a:xfrm>
            <a:off x="6126480" y="3566160"/>
            <a:ext cx="5516575" cy="1051560"/>
          </a:xfrm>
          <a:prstGeom prst="rect">
            <a:avLst/>
          </a:prstGeom>
          <a:noFill/>
          <a:ln/>
        </p:spPr>
        <p:txBody>
          <a:bodyPr wrap="square" lIns="0" tIns="0" rIns="0" bIns="0" rtlCol="0" anchor="ctr"/>
          <a:lstStyle/>
          <a:p>
            <a:pPr indent="0" marL="0">
              <a:buNone/>
            </a:pPr>
            <a:r>
              <a:rPr lang="en-US" sz="7200" spc="-200" kern="0" dirty="0">
                <a:solidFill>
                  <a:schemeClr val="tx1"/>
                </a:solidFill>
                <a:latin typeface="Arial Black" pitchFamily="34" charset="0"/>
                <a:ea typeface="Arial Black" pitchFamily="34" charset="-122"/>
                <a:cs typeface="Arial Black" pitchFamily="34" charset="-120"/>
              </a:rPr>
              <a:t>$12.5B</a:t>
            </a:r>
            <a:endParaRPr lang="en-US" sz="7200" dirty="0"/>
          </a:p>
        </p:txBody>
      </p:sp>
      <p:sp>
        <p:nvSpPr>
          <p:cNvPr id="16" name="s2-stat2-label"/>
          <p:cNvSpPr txBox="1"/>
          <p:nvPr/>
        </p:nvSpPr>
        <p:spPr>
          <a:xfrm>
            <a:off x="6126480" y="4636008"/>
            <a:ext cx="5516575" cy="685800"/>
          </a:xfrm>
          <a:prstGeom prst="rect">
            <a:avLst/>
          </a:prstGeom>
          <a:noFill/>
          <a:ln/>
        </p:spPr>
        <p:txBody>
          <a:bodyPr wrap="square" lIns="0" tIns="0" rIns="0" bIns="0" rtlCol="0" anchor="t"/>
          <a:lstStyle/>
          <a:p>
            <a:pPr indent="0" marL="0">
              <a:buNone/>
            </a:pPr>
            <a:r>
              <a:rPr lang="en-US" sz="1800" dirty="0">
                <a:solidFill>
                  <a:schemeClr val="tx1"/>
                </a:solidFill>
              </a:rPr>
              <a:t>reported lost to fraud by US consumers</a:t>
            </a:r>
            <a:endParaRPr lang="en-US" sz="1800" dirty="0"/>
          </a:p>
          <a:p>
            <a:pPr indent="0" marL="0">
              <a:buNone/>
            </a:pPr>
            <a:r>
              <a:rPr lang="en-US" sz="1800" dirty="0">
                <a:solidFill>
                  <a:schemeClr val="tx1"/>
                </a:solidFill>
              </a:rPr>
              <a:t>in 2024, up 25% (FTC)</a:t>
            </a:r>
            <a:endParaRPr lang="en-US" sz="1800" dirty="0"/>
          </a:p>
        </p:txBody>
      </p:sp>
      <p:sp>
        <p:nvSpPr>
          <p:cNvPr id="17" name="s2-sources"/>
          <p:cNvSpPr txBox="1"/>
          <p:nvPr/>
        </p:nvSpPr>
        <p:spPr>
          <a:xfrm>
            <a:off x="6126480" y="5623560"/>
            <a:ext cx="5516575" cy="274320"/>
          </a:xfrm>
          <a:prstGeom prst="rect">
            <a:avLst/>
          </a:prstGeom>
          <a:noFill/>
          <a:ln/>
        </p:spPr>
        <p:txBody>
          <a:bodyPr wrap="square" lIns="0" tIns="0" rIns="0" bIns="0" rtlCol="0" anchor="ctr"/>
          <a:lstStyle/>
          <a:p>
            <a:pPr indent="0" marL="0">
              <a:buNone/>
            </a:pPr>
            <a:r>
              <a:rPr lang="en-US" sz="1000" dirty="0">
                <a:solidFill>
                  <a:srgbClr val="62574A"/>
                </a:solidFill>
              </a:rPr>
              <a:t>Sources: FBI Internet Crime Complaint Center 2024 report; FTC Consumer Sentinel 2024.</a:t>
            </a:r>
            <a:endParaRPr lang="en-US" sz="1000" dirty="0"/>
          </a:p>
        </p:txBody>
      </p:sp>
      <p:sp>
        <p:nvSpPr>
          <p:cNvPr id="25" name="Slide Number Placeholder 0"/>
          <p:cNvSpPr>
            <a:spLocks noGrp="1"/>
          </p:cNvSpPr>
          <p:nvPr>
            <p:ph type="sldNum" sz="quarter" idx="4294967295"/>
          </p:nvPr>
        </p:nvSpPr>
        <p:spPr>
          <a:xfrm>
            <a:off x="10911535" y="6336792"/>
            <a:ext cx="73152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2574A"/>
                </a:solidFill>
                <a:latin typeface="Courier New"/>
                <a:ea typeface="Courier New"/>
                <a:cs typeface="Courier New"/>
              </a:defRPr>
            </a:lvl1pPr>
          </a:lstStyle>
          <a:p>
            <a:pPr algn="r"/>
            <a:fld id="{F7021451-1387-4CA6-816F-3879F97B5CBC}" type="slidenum">
              <a:rPr b="1" lang="en-US"/>
              <a:t>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anim calcmode="lin" valueType="num">
                                      <p:cBhvr>
                                        <p:cTn id="8" dur="400" decel="100000" fill="hold"/>
                                        <p:tgtEl>
                                          <p:spTgt spid="9"/>
                                        </p:tgtEl>
                                        <p:attrNameLst>
                                          <p:attrName>ppt_x</p:attrName>
                                        </p:attrNameLst>
                                      </p:cBhvr>
                                      <p:tavLst>
                                        <p:tav tm="0">
                                          <p:val>
                                            <p:strVal val="#ppt_x"/>
                                          </p:val>
                                        </p:tav>
                                        <p:tav tm="100000">
                                          <p:val>
                                            <p:strVal val="#ppt_x"/>
                                          </p:val>
                                        </p:tav>
                                      </p:tavLst>
                                    </p:anim>
                                    <p:anim calcmode="lin" valueType="num">
                                      <p:cBhvr>
                                        <p:cTn id="9" dur="400" decel="100000" fill="hold"/>
                                        <p:tgtEl>
                                          <p:spTgt spid="9"/>
                                        </p:tgtEl>
                                        <p:attrNameLst>
                                          <p:attrName>ppt_y</p:attrName>
                                        </p:attrNameLst>
                                      </p:cBhvr>
                                      <p:tavLst>
                                        <p:tav tm="0">
                                          <p:val>
                                            <p:strVal val="#ppt_y+.05"/>
                                          </p:val>
                                        </p:tav>
                                        <p:tav tm="100000">
                                          <p:val>
                                            <p:strVal val="#ppt_y"/>
                                          </p:val>
                                        </p:tav>
                                      </p:tavLst>
                                    </p:anim>
                                  </p:childTnLst>
                                </p:cTn>
                              </p:par>
                            </p:childTnLst>
                          </p:cTn>
                        </p:par>
                        <p:par>
                          <p:cTn id="10" fill="hold">
                            <p:stCondLst>
                              <p:cond delay="700"/>
                            </p:stCondLst>
                            <p:childTnLst>
                              <p:par>
                                <p:cTn id="11" presetID="10" presetClass="entr" presetSubtype="0" fill="hold" grpId="0" nodeType="afterEffect">
                                  <p:stCondLst>
                                    <p:cond delay="5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par>
                          <p:cTn id="14" fill="hold">
                            <p:stCondLst>
                              <p:cond delay="1600"/>
                            </p:stCondLst>
                            <p:childTnLst>
                              <p:par>
                                <p:cTn id="15" presetID="42" presetClass="entr" presetSubtype="0" fill="hold" grpId="0" nodeType="afterEffect">
                                  <p:stCondLst>
                                    <p:cond delay="20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anim calcmode="lin" valueType="num">
                                      <p:cBhvr>
                                        <p:cTn id="18" dur="400" decel="100000" fill="hold"/>
                                        <p:tgtEl>
                                          <p:spTgt spid="11"/>
                                        </p:tgtEl>
                                        <p:attrNameLst>
                                          <p:attrName>ppt_x</p:attrName>
                                        </p:attrNameLst>
                                      </p:cBhvr>
                                      <p:tavLst>
                                        <p:tav tm="0">
                                          <p:val>
                                            <p:strVal val="#ppt_x"/>
                                          </p:val>
                                        </p:tav>
                                        <p:tav tm="100000">
                                          <p:val>
                                            <p:strVal val="#ppt_x"/>
                                          </p:val>
                                        </p:tav>
                                      </p:tavLst>
                                    </p:anim>
                                    <p:anim calcmode="lin" valueType="num">
                                      <p:cBhvr>
                                        <p:cTn id="19" dur="400" decel="100000" fill="hold"/>
                                        <p:tgtEl>
                                          <p:spTgt spid="11"/>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2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00"/>
                                        <p:tgtEl>
                                          <p:spTgt spid="12"/>
                                        </p:tgtEl>
                                      </p:cBhvr>
                                    </p:animEffect>
                                    <p:anim calcmode="lin" valueType="num">
                                      <p:cBhvr>
                                        <p:cTn id="23" dur="400" decel="100000" fill="hold"/>
                                        <p:tgtEl>
                                          <p:spTgt spid="12"/>
                                        </p:tgtEl>
                                        <p:attrNameLst>
                                          <p:attrName>ppt_x</p:attrName>
                                        </p:attrNameLst>
                                      </p:cBhvr>
                                      <p:tavLst>
                                        <p:tav tm="0">
                                          <p:val>
                                            <p:strVal val="#ppt_x"/>
                                          </p:val>
                                        </p:tav>
                                        <p:tav tm="100000">
                                          <p:val>
                                            <p:strVal val="#ppt_x"/>
                                          </p:val>
                                        </p:tav>
                                      </p:tavLst>
                                    </p:anim>
                                    <p:anim calcmode="lin" valueType="num">
                                      <p:cBhvr>
                                        <p:cTn id="24" dur="400" decel="100000" fill="hold"/>
                                        <p:tgtEl>
                                          <p:spTgt spid="12"/>
                                        </p:tgtEl>
                                        <p:attrNameLst>
                                          <p:attrName>ppt_y</p:attrName>
                                        </p:attrNameLst>
                                      </p:cBhvr>
                                      <p:tavLst>
                                        <p:tav tm="0">
                                          <p:val>
                                            <p:strVal val="#ppt_y+.05"/>
                                          </p:val>
                                        </p:tav>
                                        <p:tav tm="100000">
                                          <p:val>
                                            <p:strVal val="#ppt_y"/>
                                          </p:val>
                                        </p:tav>
                                      </p:tavLst>
                                    </p:anim>
                                  </p:childTnLst>
                                </p:cTn>
                              </p:par>
                            </p:childTnLst>
                          </p:cTn>
                        </p:par>
                        <p:par>
                          <p:cTn id="25" fill="hold">
                            <p:stCondLst>
                              <p:cond delay="2200"/>
                            </p:stCondLst>
                            <p:childTnLst>
                              <p:par>
                                <p:cTn id="26" presetID="10" presetClass="entr" presetSubtype="0" fill="hold" grpId="0" nodeType="afterEffect">
                                  <p:stCondLst>
                                    <p:cond delay="4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4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3100"/>
                            </p:stCondLst>
                            <p:childTnLst>
                              <p:par>
                                <p:cTn id="33" presetID="10" presetClass="entr" presetSubtype="0" fill="hold" grpId="0" nodeType="afterEffect">
                                  <p:stCondLst>
                                    <p:cond delay="2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2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p:nvPr>
            <p:ph idx="100" type="title" hasCustomPrompt="1"/>
          </p:nvPr>
        </p:nvSpPr>
        <p:spPr>
          <a:xfrm>
            <a:off x="548640" y="822960"/>
            <a:ext cx="11094415" cy="777240"/>
          </a:xfrm>
          <a:prstGeom prst="rect">
            <a:avLst/>
          </a:prstGeom>
          <a:noFill/>
          <a:ln/>
        </p:spPr>
        <p:txBody>
          <a:bodyPr wrap="square" lIns="0" tIns="0" rIns="0" bIns="0" rtlCol="0" anchor="ctr"/>
          <a:lstStyle/>
          <a:p>
            <a:pPr algn="l" indent="0" marL="0">
              <a:buNone/>
            </a:pPr>
            <a:r>
              <a:rPr lang="en-US" sz="4000" spc="-100" kern="0" dirty="0">
                <a:solidFill>
                  <a:schemeClr val="bg1"/>
                </a:solidFill>
              </a:rPr>
              <a:t>Parents won't install an app.</a:t>
            </a:r>
            <a:endParaRPr lang="en-US" sz="4000" dirty="0"/>
          </a:p>
        </p:txBody>
      </p:sp>
      <p:sp>
        <p:nvSpPr>
          <p:cNvPr id="3" name="s3-line2"/>
          <p:cNvSpPr txBox="1"/>
          <p:nvPr/>
        </p:nvSpPr>
        <p:spPr>
          <a:xfrm>
            <a:off x="548640" y="1572768"/>
            <a:ext cx="11094415" cy="777240"/>
          </a:xfrm>
          <a:prstGeom prst="rect">
            <a:avLst/>
          </a:prstGeom>
          <a:noFill/>
          <a:ln/>
        </p:spPr>
        <p:txBody>
          <a:bodyPr wrap="square" lIns="0" tIns="0" rIns="0" bIns="0" rtlCol="0" anchor="ctr"/>
          <a:lstStyle/>
          <a:p>
            <a:pPr indent="0" marL="0">
              <a:buNone/>
            </a:pPr>
            <a:r>
              <a:rPr lang="en-US" sz="4000" spc="-100" kern="0" dirty="0">
                <a:solidFill>
                  <a:schemeClr val="accent1"/>
                </a:solidFill>
                <a:latin typeface="Arial Black" pitchFamily="34" charset="0"/>
                <a:ea typeface="Arial Black" pitchFamily="34" charset="-122"/>
                <a:cs typeface="Arial Black" pitchFamily="34" charset="-120"/>
              </a:rPr>
              <a:t>They already know how to forward.</a:t>
            </a:r>
            <a:endParaRPr lang="en-US" sz="4000" dirty="0"/>
          </a:p>
        </p:txBody>
      </p:sp>
      <p:sp>
        <p:nvSpPr>
          <p:cNvPr id="4" name="s3-sub"/>
          <p:cNvSpPr txBox="1"/>
          <p:nvPr/>
        </p:nvSpPr>
        <p:spPr>
          <a:xfrm>
            <a:off x="548640" y="2606040"/>
            <a:ext cx="11094415" cy="457200"/>
          </a:xfrm>
          <a:prstGeom prst="rect">
            <a:avLst/>
          </a:prstGeom>
          <a:noFill/>
          <a:ln/>
        </p:spPr>
        <p:txBody>
          <a:bodyPr wrap="square" lIns="0" tIns="0" rIns="0" bIns="0" rtlCol="0" anchor="ctr"/>
          <a:lstStyle/>
          <a:p>
            <a:pPr indent="0" marL="0">
              <a:buNone/>
            </a:pPr>
            <a:r>
              <a:rPr lang="en-US" sz="2200" dirty="0">
                <a:solidFill>
                  <a:schemeClr val="bg2"/>
                </a:solidFill>
              </a:rPr>
              <a:t>So the whole product is an address. No app, no account, no setup.</a:t>
            </a:r>
            <a:endParaRPr lang="en-US" sz="2200" dirty="0"/>
          </a:p>
        </p:txBody>
      </p:sp>
      <p:sp>
        <p:nvSpPr>
          <p:cNvPr id="5" name="s3-pill-label"/>
          <p:cNvSpPr txBox="1"/>
          <p:nvPr/>
        </p:nvSpPr>
        <p:spPr>
          <a:xfrm>
            <a:off x="548640" y="3977640"/>
            <a:ext cx="5486400" cy="292608"/>
          </a:xfrm>
          <a:prstGeom prst="rect">
            <a:avLst/>
          </a:prstGeom>
          <a:noFill/>
          <a:ln/>
        </p:spPr>
        <p:txBody>
          <a:bodyPr wrap="square" lIns="0" tIns="0" rIns="0" bIns="0" rtlCol="0" anchor="ctr"/>
          <a:lstStyle/>
          <a:p>
            <a:pPr indent="0" marL="0">
              <a:buNone/>
            </a:pPr>
            <a:r>
              <a:rPr lang="en-US" sz="1400" b="1" spc="300" kern="0" dirty="0">
                <a:solidFill>
                  <a:schemeClr val="accent2"/>
                </a:solidFill>
                <a:latin typeface="Courier New" pitchFamily="34" charset="0"/>
                <a:ea typeface="Courier New" pitchFamily="34" charset="-122"/>
                <a:cs typeface="Courier New" pitchFamily="34" charset="-120"/>
              </a:rPr>
              <a:t>THE ENTIRE ONBOARDING</a:t>
            </a:r>
            <a:endParaRPr lang="en-US" sz="1400" dirty="0"/>
          </a:p>
        </p:txBody>
      </p:sp>
      <p:sp>
        <p:nvSpPr>
          <p:cNvPr id="6" name="s3-pill"/>
          <p:cNvSpPr/>
          <p:nvPr/>
        </p:nvSpPr>
        <p:spPr>
          <a:xfrm>
            <a:off x="548640" y="4434840"/>
            <a:ext cx="11094415" cy="1371600"/>
          </a:xfrm>
          <a:prstGeom prst="roundRect">
            <a:avLst>
              <a:gd name="adj" fmla="val 50000"/>
            </a:avLst>
          </a:prstGeom>
          <a:solidFill>
            <a:schemeClr val="bg1"/>
          </a:solidFill>
          <a:ln/>
        </p:spPr>
      </p:sp>
      <p:sp>
        <p:nvSpPr>
          <p:cNvPr id="7" name="s3-pill-dot"/>
          <p:cNvSpPr/>
          <p:nvPr/>
        </p:nvSpPr>
        <p:spPr>
          <a:xfrm>
            <a:off x="822960" y="4709160"/>
            <a:ext cx="822960" cy="822960"/>
          </a:xfrm>
          <a:prstGeom prst="ellipse">
            <a:avLst/>
          </a:prstGeom>
          <a:solidFill>
            <a:schemeClr val="accent1"/>
          </a:solidFill>
          <a:ln/>
        </p:spPr>
      </p:sp>
      <p:pic>
        <p:nvPicPr>
          <p:cNvPr id="8" name="s3-pill-icon" descr="Icon">    </p:cNvPr>
          <p:cNvPicPr>
            <a:picLocks noChangeAspect="1"/>
          </p:cNvPicPr>
          <p:nvPr/>
        </p:nvPicPr>
        <p:blipFill>
          <a:blip r:embed="rId1"/>
          <a:stretch>
            <a:fillRect/>
          </a:stretch>
        </p:blipFill>
        <p:spPr>
          <a:xfrm>
            <a:off x="1033272" y="4919472"/>
            <a:ext cx="402336" cy="402336"/>
          </a:xfrm>
          <a:prstGeom prst="rect">
            <a:avLst/>
          </a:prstGeom>
        </p:spPr>
      </p:pic>
      <p:sp>
        <p:nvSpPr>
          <p:cNvPr id="9" name="s3-pill-text"/>
          <p:cNvSpPr txBox="1"/>
          <p:nvPr/>
        </p:nvSpPr>
        <p:spPr>
          <a:xfrm>
            <a:off x="1920240" y="4434840"/>
            <a:ext cx="9357055" cy="1371600"/>
          </a:xfrm>
          <a:prstGeom prst="rect">
            <a:avLst/>
          </a:prstGeom>
          <a:noFill/>
          <a:ln/>
        </p:spPr>
        <p:txBody>
          <a:bodyPr wrap="square" lIns="0" tIns="0" rIns="0" bIns="0" rtlCol="0" anchor="ctr"/>
          <a:lstStyle/>
          <a:p>
            <a:pPr indent="0" marL="0">
              <a:buNone/>
            </a:pPr>
            <a:r>
              <a:rPr lang="en-US" sz="4400" b="1" dirty="0">
                <a:solidFill>
                  <a:schemeClr val="tx1"/>
                </a:solidFill>
                <a:latin typeface="Courier New" pitchFamily="34" charset="0"/>
                <a:ea typeface="Courier New" pitchFamily="34" charset="-122"/>
                <a:cs typeface="Courier New" pitchFamily="34" charset="-120"/>
              </a:rPr>
              <a:t>momdontclick@agentmail.to</a:t>
            </a:r>
            <a:endParaRPr lang="en-US" sz="4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700"/>
                            </p:stCondLst>
                            <p:childTnLst>
                              <p:par>
                                <p:cTn id="9" presetID="22" presetClass="entr" presetSubtype="8" fill="hold" grpId="0" nodeType="afterEffect">
                                  <p:stCondLst>
                                    <p:cond delay="40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600"/>
                                        <p:tgtEl>
                                          <p:spTgt spid="3"/>
                                        </p:tgtEl>
                                      </p:cBhvr>
                                    </p:animEffect>
                                  </p:childTnLst>
                                </p:cTn>
                              </p:par>
                            </p:childTnLst>
                          </p:cTn>
                        </p:par>
                        <p:par>
                          <p:cTn id="12" fill="hold">
                            <p:stCondLst>
                              <p:cond delay="1700"/>
                            </p:stCondLst>
                            <p:childTnLst>
                              <p:par>
                                <p:cTn id="13" presetID="10" presetClass="entr" presetSubtype="0" fill="hold" grpId="0" nodeType="afterEffect">
                                  <p:stCondLst>
                                    <p:cond delay="2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00"/>
                                        <p:tgtEl>
                                          <p:spTgt spid="4"/>
                                        </p:tgtEl>
                                      </p:cBhvr>
                                    </p:animEffect>
                                  </p:childTnLst>
                                </p:cTn>
                              </p:par>
                            </p:childTnLst>
                          </p:cTn>
                        </p:par>
                        <p:par>
                          <p:cTn id="16" fill="hold">
                            <p:stCondLst>
                              <p:cond delay="2300"/>
                            </p:stCondLst>
                            <p:childTnLst>
                              <p:par>
                                <p:cTn id="17" presetID="42" presetClass="entr" presetSubtype="0" fill="hold" grpId="0" nodeType="afterEffect">
                                  <p:stCondLst>
                                    <p:cond delay="3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00"/>
                                        <p:tgtEl>
                                          <p:spTgt spid="5"/>
                                        </p:tgtEl>
                                      </p:cBhvr>
                                    </p:animEffect>
                                    <p:anim calcmode="lin" valueType="num">
                                      <p:cBhvr>
                                        <p:cTn id="20" dur="600" decel="100000" fill="hold"/>
                                        <p:tgtEl>
                                          <p:spTgt spid="5"/>
                                        </p:tgtEl>
                                        <p:attrNameLst>
                                          <p:attrName>ppt_x</p:attrName>
                                        </p:attrNameLst>
                                      </p:cBhvr>
                                      <p:tavLst>
                                        <p:tav tm="0">
                                          <p:val>
                                            <p:strVal val="#ppt_x"/>
                                          </p:val>
                                        </p:tav>
                                        <p:tav tm="100000">
                                          <p:val>
                                            <p:strVal val="#ppt_x"/>
                                          </p:val>
                                        </p:tav>
                                      </p:tavLst>
                                    </p:anim>
                                    <p:anim calcmode="lin" valueType="num">
                                      <p:cBhvr>
                                        <p:cTn id="21" dur="600" decel="100000" fill="hold"/>
                                        <p:tgtEl>
                                          <p:spTgt spid="5"/>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30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600"/>
                                        <p:tgtEl>
                                          <p:spTgt spid="6"/>
                                        </p:tgtEl>
                                      </p:cBhvr>
                                    </p:animEffect>
                                    <p:anim calcmode="lin" valueType="num">
                                      <p:cBhvr>
                                        <p:cTn id="25" dur="600" decel="100000" fill="hold"/>
                                        <p:tgtEl>
                                          <p:spTgt spid="6"/>
                                        </p:tgtEl>
                                        <p:attrNameLst>
                                          <p:attrName>ppt_x</p:attrName>
                                        </p:attrNameLst>
                                      </p:cBhvr>
                                      <p:tavLst>
                                        <p:tav tm="0">
                                          <p:val>
                                            <p:strVal val="#ppt_x"/>
                                          </p:val>
                                        </p:tav>
                                        <p:tav tm="100000">
                                          <p:val>
                                            <p:strVal val="#ppt_x"/>
                                          </p:val>
                                        </p:tav>
                                      </p:tavLst>
                                    </p:anim>
                                    <p:anim calcmode="lin" valueType="num">
                                      <p:cBhvr>
                                        <p:cTn id="26" dur="600" decel="100000" fill="hold"/>
                                        <p:tgtEl>
                                          <p:spTgt spid="6"/>
                                        </p:tgtEl>
                                        <p:attrNameLst>
                                          <p:attrName>ppt_y</p:attrName>
                                        </p:attrNameLst>
                                      </p:cBhvr>
                                      <p:tavLst>
                                        <p:tav tm="0">
                                          <p:val>
                                            <p:strVal val="#ppt_y+.05"/>
                                          </p:val>
                                        </p:tav>
                                        <p:tav tm="100000">
                                          <p:val>
                                            <p:strVal val="#ppt_y"/>
                                          </p:val>
                                        </p:tav>
                                      </p:tavLst>
                                    </p:anim>
                                  </p:childTnLst>
                                </p:cTn>
                              </p:par>
                              <p:par>
                                <p:cTn id="27" presetID="42" presetClass="entr" presetSubtype="0" fill="hold" grpId="0" nodeType="withEffect">
                                  <p:stCondLst>
                                    <p:cond delay="30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600"/>
                                        <p:tgtEl>
                                          <p:spTgt spid="7"/>
                                        </p:tgtEl>
                                      </p:cBhvr>
                                    </p:animEffect>
                                    <p:anim calcmode="lin" valueType="num">
                                      <p:cBhvr>
                                        <p:cTn id="30" dur="600" decel="100000" fill="hold"/>
                                        <p:tgtEl>
                                          <p:spTgt spid="7"/>
                                        </p:tgtEl>
                                        <p:attrNameLst>
                                          <p:attrName>ppt_x</p:attrName>
                                        </p:attrNameLst>
                                      </p:cBhvr>
                                      <p:tavLst>
                                        <p:tav tm="0">
                                          <p:val>
                                            <p:strVal val="#ppt_x"/>
                                          </p:val>
                                        </p:tav>
                                        <p:tav tm="100000">
                                          <p:val>
                                            <p:strVal val="#ppt_x"/>
                                          </p:val>
                                        </p:tav>
                                      </p:tavLst>
                                    </p:anim>
                                    <p:anim calcmode="lin" valueType="num">
                                      <p:cBhvr>
                                        <p:cTn id="31" dur="600" decel="100000" fill="hold"/>
                                        <p:tgtEl>
                                          <p:spTgt spid="7"/>
                                        </p:tgtEl>
                                        <p:attrNameLst>
                                          <p:attrName>ppt_y</p:attrName>
                                        </p:attrNameLst>
                                      </p:cBhvr>
                                      <p:tavLst>
                                        <p:tav tm="0">
                                          <p:val>
                                            <p:strVal val="#ppt_y+.05"/>
                                          </p:val>
                                        </p:tav>
                                        <p:tav tm="100000">
                                          <p:val>
                                            <p:strVal val="#ppt_y"/>
                                          </p:val>
                                        </p:tav>
                                      </p:tavLst>
                                    </p:anim>
                                  </p:childTnLst>
                                </p:cTn>
                              </p:par>
                              <p:par>
                                <p:cTn id="32" presetID="42" presetClass="entr" presetSubtype="0" fill="hold" nodeType="withEffect">
                                  <p:stCondLst>
                                    <p:cond delay="30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600"/>
                                        <p:tgtEl>
                                          <p:spTgt spid="8"/>
                                        </p:tgtEl>
                                      </p:cBhvr>
                                    </p:animEffect>
                                    <p:anim calcmode="lin" valueType="num">
                                      <p:cBhvr>
                                        <p:cTn id="35" dur="600" decel="100000" fill="hold"/>
                                        <p:tgtEl>
                                          <p:spTgt spid="8"/>
                                        </p:tgtEl>
                                        <p:attrNameLst>
                                          <p:attrName>ppt_x</p:attrName>
                                        </p:attrNameLst>
                                      </p:cBhvr>
                                      <p:tavLst>
                                        <p:tav tm="0">
                                          <p:val>
                                            <p:strVal val="#ppt_x"/>
                                          </p:val>
                                        </p:tav>
                                        <p:tav tm="100000">
                                          <p:val>
                                            <p:strVal val="#ppt_x"/>
                                          </p:val>
                                        </p:tav>
                                      </p:tavLst>
                                    </p:anim>
                                    <p:anim calcmode="lin" valueType="num">
                                      <p:cBhvr>
                                        <p:cTn id="36" dur="600" decel="100000" fill="hold"/>
                                        <p:tgtEl>
                                          <p:spTgt spid="8"/>
                                        </p:tgtEl>
                                        <p:attrNameLst>
                                          <p:attrName>ppt_y</p:attrName>
                                        </p:attrNameLst>
                                      </p:cBhvr>
                                      <p:tavLst>
                                        <p:tav tm="0">
                                          <p:val>
                                            <p:strVal val="#ppt_y+.05"/>
                                          </p:val>
                                        </p:tav>
                                        <p:tav tm="100000">
                                          <p:val>
                                            <p:strVal val="#ppt_y"/>
                                          </p:val>
                                        </p:tav>
                                      </p:tavLst>
                                    </p:anim>
                                  </p:childTnLst>
                                </p:cTn>
                              </p:par>
                              <p:par>
                                <p:cTn id="37" presetID="42" presetClass="entr" presetSubtype="0" fill="hold" grpId="0" nodeType="withEffect">
                                  <p:stCondLst>
                                    <p:cond delay="30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600"/>
                                        <p:tgtEl>
                                          <p:spTgt spid="9"/>
                                        </p:tgtEl>
                                      </p:cBhvr>
                                    </p:animEffect>
                                    <p:anim calcmode="lin" valueType="num">
                                      <p:cBhvr>
                                        <p:cTn id="40" dur="600" decel="100000" fill="hold"/>
                                        <p:tgtEl>
                                          <p:spTgt spid="9"/>
                                        </p:tgtEl>
                                        <p:attrNameLst>
                                          <p:attrName>ppt_x</p:attrName>
                                        </p:attrNameLst>
                                      </p:cBhvr>
                                      <p:tavLst>
                                        <p:tav tm="0">
                                          <p:val>
                                            <p:strVal val="#ppt_x"/>
                                          </p:val>
                                        </p:tav>
                                        <p:tav tm="100000">
                                          <p:val>
                                            <p:strVal val="#ppt_x"/>
                                          </p:val>
                                        </p:tav>
                                      </p:tavLst>
                                    </p:anim>
                                    <p:anim calcmode="lin" valueType="num">
                                      <p:cBhvr>
                                        <p:cTn id="41" dur="600" decel="100000" fill="hold"/>
                                        <p:tgtEl>
                                          <p:spTgt spid="9"/>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4-eyebrow"/>
          <p:cNvSpPr txBox="1"/>
          <p:nvPr/>
        </p:nvSpPr>
        <p:spPr>
          <a:xfrm>
            <a:off x="548640" y="384048"/>
            <a:ext cx="5486400" cy="256032"/>
          </a:xfrm>
          <a:prstGeom prst="rect">
            <a:avLst/>
          </a:prstGeom>
          <a:noFill/>
          <a:ln/>
        </p:spPr>
        <p:txBody>
          <a:bodyPr wrap="square" lIns="0" tIns="0" rIns="0" bIns="0" rtlCol="0" anchor="ctr"/>
          <a:lstStyle/>
          <a:p>
            <a:pPr indent="0" marL="0">
              <a:buNone/>
            </a:pPr>
            <a:r>
              <a:rPr lang="en-US" sz="1200" b="1" spc="300" kern="0" dirty="0">
                <a:solidFill>
                  <a:srgbClr val="62574A"/>
                </a:solidFill>
                <a:latin typeface="Courier New" pitchFamily="34" charset="0"/>
                <a:ea typeface="Courier New" pitchFamily="34" charset="-122"/>
                <a:cs typeface="Courier New" pitchFamily="34" charset="-120"/>
              </a:rPr>
              <a:t>HOW IT WORKS</a:t>
            </a:r>
            <a:endParaRPr lang="en-US" sz="1200" dirty="0"/>
          </a:p>
        </p:txBody>
      </p:sp>
      <p:sp>
        <p:nvSpPr>
          <p:cNvPr id="3" name="Title"/>
          <p:cNvSpPr/>
          <p:nvPr>
            <p:ph idx="102" type="title" hasCustomPrompt="1"/>
          </p:nvPr>
        </p:nvSpPr>
        <p:spPr>
          <a:xfrm>
            <a:off x="548640" y="640080"/>
            <a:ext cx="11094415" cy="749808"/>
          </a:xfrm>
          <a:prstGeom prst="rect">
            <a:avLst/>
          </a:prstGeom>
          <a:noFill/>
          <a:ln/>
        </p:spPr>
        <p:txBody>
          <a:bodyPr wrap="square" lIns="0" tIns="0" rIns="0" bIns="0" rtlCol="0" anchor="ctr"/>
          <a:lstStyle/>
          <a:p>
            <a:pPr algn="l" indent="0" marL="0">
              <a:buNone/>
            </a:pPr>
            <a:r>
              <a:rPr lang="en-US" sz="3400" spc="-75" kern="0" dirty="0">
                <a:solidFill>
                  <a:schemeClr val="tx1"/>
                </a:solidFill>
              </a:rPr>
              <a:t>Forward it. We click it. One sentence back</a:t>
            </a:r>
            <a:endParaRPr lang="en-US" sz="3400" dirty="0"/>
          </a:p>
        </p:txBody>
      </p:sp>
      <p:sp>
        <p:nvSpPr>
          <p:cNvPr id="4" name="s4-step1-card"/>
          <p:cNvSpPr/>
          <p:nvPr/>
        </p:nvSpPr>
        <p:spPr>
          <a:xfrm>
            <a:off x="548640" y="1645920"/>
            <a:ext cx="2615184" cy="3401568"/>
          </a:xfrm>
          <a:prstGeom prst="roundRect">
            <a:avLst>
              <a:gd name="adj" fmla="val 6294"/>
            </a:avLst>
          </a:prstGeom>
          <a:solidFill>
            <a:srgbClr val="FFFDF8"/>
          </a:solidFill>
          <a:ln w="12700">
            <a:solidFill>
              <a:schemeClr val="accent6"/>
            </a:solidFill>
            <a:prstDash val="solid"/>
          </a:ln>
        </p:spPr>
      </p:sp>
      <p:sp>
        <p:nvSpPr>
          <p:cNvPr id="5" name="s4-step1-visual"/>
          <p:cNvSpPr/>
          <p:nvPr/>
        </p:nvSpPr>
        <p:spPr>
          <a:xfrm>
            <a:off x="713232" y="1810512"/>
            <a:ext cx="2286000" cy="1285875"/>
          </a:xfrm>
          <a:prstGeom prst="roundRect">
            <a:avLst>
              <a:gd name="adj" fmla="val 8533"/>
            </a:avLst>
          </a:prstGeom>
          <a:solidFill>
            <a:srgbClr val="EDE5D4"/>
          </a:solidFill>
          <a:ln/>
        </p:spPr>
      </p:sp>
      <p:sp>
        <p:nvSpPr>
          <p:cNvPr id="6" name="s4-step1-dot"/>
          <p:cNvSpPr/>
          <p:nvPr/>
        </p:nvSpPr>
        <p:spPr>
          <a:xfrm>
            <a:off x="859536" y="1965960"/>
            <a:ext cx="402336" cy="402336"/>
          </a:xfrm>
          <a:prstGeom prst="ellipse">
            <a:avLst/>
          </a:prstGeom>
          <a:solidFill>
            <a:schemeClr val="tx1"/>
          </a:solidFill>
          <a:ln/>
        </p:spPr>
      </p:sp>
      <p:pic>
        <p:nvPicPr>
          <p:cNvPr id="7" name="s4-step1-icon" descr="Icon">    </p:cNvPr>
          <p:cNvPicPr>
            <a:picLocks noChangeAspect="1"/>
          </p:cNvPicPr>
          <p:nvPr/>
        </p:nvPicPr>
        <p:blipFill>
          <a:blip r:embed="rId1"/>
          <a:stretch>
            <a:fillRect/>
          </a:stretch>
        </p:blipFill>
        <p:spPr>
          <a:xfrm>
            <a:off x="960120" y="2066544"/>
            <a:ext cx="201168" cy="201168"/>
          </a:xfrm>
          <a:prstGeom prst="rect">
            <a:avLst/>
          </a:prstGeom>
        </p:spPr>
      </p:pic>
      <p:sp>
        <p:nvSpPr>
          <p:cNvPr id="8" name="s4-step1-subject"/>
          <p:cNvSpPr txBox="1"/>
          <p:nvPr/>
        </p:nvSpPr>
        <p:spPr>
          <a:xfrm>
            <a:off x="1371600" y="1938528"/>
            <a:ext cx="1517904" cy="457200"/>
          </a:xfrm>
          <a:prstGeom prst="rect">
            <a:avLst/>
          </a:prstGeom>
          <a:noFill/>
          <a:ln/>
        </p:spPr>
        <p:txBody>
          <a:bodyPr wrap="square" lIns="0" tIns="0" rIns="0" bIns="0" rtlCol="0" anchor="ctr"/>
          <a:lstStyle/>
          <a:p>
            <a:pPr indent="0" marL="0">
              <a:buNone/>
            </a:pPr>
            <a:r>
              <a:rPr lang="en-US" sz="1200" b="1" dirty="0">
                <a:solidFill>
                  <a:schemeClr val="tx1"/>
                </a:solidFill>
              </a:rPr>
              <a:t>Fwd: Your parcel is being held</a:t>
            </a:r>
            <a:endParaRPr lang="en-US" sz="1200" dirty="0"/>
          </a:p>
        </p:txBody>
      </p:sp>
      <p:sp>
        <p:nvSpPr>
          <p:cNvPr id="9" name="s4-step1-address"/>
          <p:cNvSpPr/>
          <p:nvPr/>
        </p:nvSpPr>
        <p:spPr>
          <a:xfrm>
            <a:off x="841248" y="2584323"/>
            <a:ext cx="2029968" cy="347472"/>
          </a:xfrm>
          <a:prstGeom prst="roundRect">
            <a:avLst>
              <a:gd name="adj" fmla="val 50000"/>
            </a:avLst>
          </a:prstGeom>
          <a:solidFill>
            <a:srgbClr val="FFFDF8"/>
          </a:solidFill>
          <a:ln w="9525">
            <a:solidFill>
              <a:schemeClr val="accent6"/>
            </a:solid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momdontclick@agentmail.to</a:t>
            </a:r>
            <a:endParaRPr lang="en-US" sz="1000" dirty="0"/>
          </a:p>
        </p:txBody>
      </p:sp>
      <p:sp>
        <p:nvSpPr>
          <p:cNvPr id="10" name="s4-step1-num"/>
          <p:cNvSpPr txBox="1"/>
          <p:nvPr/>
        </p:nvSpPr>
        <p:spPr>
          <a:xfrm>
            <a:off x="713232" y="3200400"/>
            <a:ext cx="914400" cy="475488"/>
          </a:xfrm>
          <a:prstGeom prst="rect">
            <a:avLst/>
          </a:prstGeom>
          <a:noFill/>
          <a:ln/>
        </p:spPr>
        <p:txBody>
          <a:bodyPr wrap="square" lIns="0" tIns="0" rIns="0" bIns="0" rtlCol="0" anchor="ctr"/>
          <a:lstStyle/>
          <a:p>
            <a:pPr indent="0" marL="0">
              <a:buNone/>
            </a:pPr>
            <a:r>
              <a:rPr lang="en-US" sz="2800" dirty="0">
                <a:solidFill>
                  <a:schemeClr val="accent1"/>
                </a:solidFill>
                <a:latin typeface="Arial Black" pitchFamily="34" charset="0"/>
                <a:ea typeface="Arial Black" pitchFamily="34" charset="-122"/>
                <a:cs typeface="Arial Black" pitchFamily="34" charset="-120"/>
              </a:rPr>
              <a:t>1</a:t>
            </a:r>
            <a:endParaRPr lang="en-US" sz="2800" dirty="0"/>
          </a:p>
        </p:txBody>
      </p:sp>
      <p:sp>
        <p:nvSpPr>
          <p:cNvPr id="11" name="s4-step1-title"/>
          <p:cNvSpPr txBox="1"/>
          <p:nvPr/>
        </p:nvSpPr>
        <p:spPr>
          <a:xfrm>
            <a:off x="713232" y="3694176"/>
            <a:ext cx="2286000" cy="548640"/>
          </a:xfrm>
          <a:prstGeom prst="rect">
            <a:avLst/>
          </a:prstGeom>
          <a:noFill/>
          <a:ln/>
        </p:spPr>
        <p:txBody>
          <a:bodyPr wrap="square" lIns="0" tIns="0" rIns="0" bIns="0" rtlCol="0" anchor="t"/>
          <a:lstStyle/>
          <a:p>
            <a:pPr indent="0" marL="0">
              <a:buNone/>
            </a:pPr>
            <a:r>
              <a:rPr lang="en-US" sz="1600" b="1" dirty="0">
                <a:solidFill>
                  <a:schemeClr val="tx1"/>
                </a:solidFill>
              </a:rPr>
              <a:t>Mom forwards it</a:t>
            </a:r>
            <a:endParaRPr lang="en-US" sz="1600" dirty="0"/>
          </a:p>
        </p:txBody>
      </p:sp>
      <p:sp>
        <p:nvSpPr>
          <p:cNvPr id="12" name="s4-step1-sub"/>
          <p:cNvSpPr txBox="1"/>
          <p:nvPr/>
        </p:nvSpPr>
        <p:spPr>
          <a:xfrm>
            <a:off x="713232" y="4297680"/>
            <a:ext cx="2286000" cy="603504"/>
          </a:xfrm>
          <a:prstGeom prst="rect">
            <a:avLst/>
          </a:prstGeom>
          <a:noFill/>
          <a:ln/>
        </p:spPr>
        <p:txBody>
          <a:bodyPr wrap="square" lIns="0" tIns="0" rIns="0" bIns="0" rtlCol="0" anchor="t"/>
          <a:lstStyle/>
          <a:p>
            <a:pPr indent="0" marL="0">
              <a:buNone/>
            </a:pPr>
            <a:r>
              <a:rPr lang="en-US" sz="1200" dirty="0">
                <a:solidFill>
                  <a:srgbClr val="62574A"/>
                </a:solidFill>
              </a:rPr>
              <a:t>By email, by pasting a link, or as a screenshot.</a:t>
            </a:r>
            <a:endParaRPr lang="en-US" sz="1200" dirty="0"/>
          </a:p>
        </p:txBody>
      </p:sp>
      <p:sp>
        <p:nvSpPr>
          <p:cNvPr id="13" name="s4-step2-card"/>
          <p:cNvSpPr/>
          <p:nvPr/>
        </p:nvSpPr>
        <p:spPr>
          <a:xfrm>
            <a:off x="3375050" y="1645920"/>
            <a:ext cx="2615184" cy="3401568"/>
          </a:xfrm>
          <a:prstGeom prst="roundRect">
            <a:avLst>
              <a:gd name="adj" fmla="val 6294"/>
            </a:avLst>
          </a:prstGeom>
          <a:solidFill>
            <a:srgbClr val="FFFDF8"/>
          </a:solidFill>
          <a:ln w="12700">
            <a:solidFill>
              <a:schemeClr val="accent6"/>
            </a:solidFill>
            <a:prstDash val="solid"/>
          </a:ln>
        </p:spPr>
      </p:sp>
      <p:pic>
        <p:nvPicPr>
          <p:cNvPr id="14" name="s4-step2-visual" descr="The page's card number, expiry and security code fields boxed in red">    </p:cNvPr>
          <p:cNvPicPr>
            <a:picLocks noChangeAspect="1"/>
          </p:cNvPicPr>
          <p:nvPr/>
        </p:nvPicPr>
        <p:blipFill>
          <a:blip r:embed="rId2"/>
          <a:stretch>
            <a:fillRect/>
          </a:stretch>
        </p:blipFill>
        <p:spPr>
          <a:xfrm>
            <a:off x="3539642" y="1810512"/>
            <a:ext cx="2286000" cy="1285875"/>
          </a:xfrm>
          <a:prstGeom prst="rect">
            <a:avLst/>
          </a:prstGeom>
        </p:spPr>
      </p:pic>
      <p:sp>
        <p:nvSpPr>
          <p:cNvPr id="15" name="s4-step2-visual-frame"/>
          <p:cNvSpPr/>
          <p:nvPr/>
        </p:nvSpPr>
        <p:spPr>
          <a:xfrm>
            <a:off x="3539642" y="1810512"/>
            <a:ext cx="2286000" cy="1285875"/>
          </a:xfrm>
          <a:prstGeom prst="roundRect">
            <a:avLst>
              <a:gd name="adj" fmla="val 8533"/>
            </a:avLst>
          </a:prstGeom>
          <a:noFill/>
          <a:ln w="12700">
            <a:solidFill>
              <a:schemeClr val="accent6"/>
            </a:solidFill>
            <a:prstDash val="solid"/>
          </a:ln>
        </p:spPr>
      </p:sp>
      <p:sp>
        <p:nvSpPr>
          <p:cNvPr id="16" name="s4-step2-num"/>
          <p:cNvSpPr txBox="1"/>
          <p:nvPr/>
        </p:nvSpPr>
        <p:spPr>
          <a:xfrm>
            <a:off x="3539642" y="3200400"/>
            <a:ext cx="914400" cy="475488"/>
          </a:xfrm>
          <a:prstGeom prst="rect">
            <a:avLst/>
          </a:prstGeom>
          <a:noFill/>
          <a:ln/>
        </p:spPr>
        <p:txBody>
          <a:bodyPr wrap="square" lIns="0" tIns="0" rIns="0" bIns="0" rtlCol="0" anchor="ctr"/>
          <a:lstStyle/>
          <a:p>
            <a:pPr indent="0" marL="0">
              <a:buNone/>
            </a:pPr>
            <a:r>
              <a:rPr lang="en-US" sz="2800" dirty="0">
                <a:solidFill>
                  <a:schemeClr val="accent1"/>
                </a:solidFill>
                <a:latin typeface="Arial Black" pitchFamily="34" charset="0"/>
                <a:ea typeface="Arial Black" pitchFamily="34" charset="-122"/>
                <a:cs typeface="Arial Black" pitchFamily="34" charset="-120"/>
              </a:rPr>
              <a:t>2</a:t>
            </a:r>
            <a:endParaRPr lang="en-US" sz="2800" dirty="0"/>
          </a:p>
        </p:txBody>
      </p:sp>
      <p:sp>
        <p:nvSpPr>
          <p:cNvPr id="17" name="s4-step2-title"/>
          <p:cNvSpPr txBox="1"/>
          <p:nvPr/>
        </p:nvSpPr>
        <p:spPr>
          <a:xfrm>
            <a:off x="3539642" y="3694176"/>
            <a:ext cx="2286000" cy="548640"/>
          </a:xfrm>
          <a:prstGeom prst="rect">
            <a:avLst/>
          </a:prstGeom>
          <a:noFill/>
          <a:ln/>
        </p:spPr>
        <p:txBody>
          <a:bodyPr wrap="square" lIns="0" tIns="0" rIns="0" bIns="0" rtlCol="0" anchor="t"/>
          <a:lstStyle/>
          <a:p>
            <a:pPr indent="0" marL="0">
              <a:buNone/>
            </a:pPr>
            <a:r>
              <a:rPr lang="en-US" sz="1600" b="1" dirty="0">
                <a:solidFill>
                  <a:schemeClr val="tx1"/>
                </a:solidFill>
              </a:rPr>
              <a:t>A throwaway browser opens the link</a:t>
            </a:r>
            <a:endParaRPr lang="en-US" sz="1600" dirty="0"/>
          </a:p>
        </p:txBody>
      </p:sp>
      <p:sp>
        <p:nvSpPr>
          <p:cNvPr id="18" name="s4-step2-sub"/>
          <p:cNvSpPr txBox="1"/>
          <p:nvPr/>
        </p:nvSpPr>
        <p:spPr>
          <a:xfrm>
            <a:off x="3539642" y="4297680"/>
            <a:ext cx="2286000" cy="603504"/>
          </a:xfrm>
          <a:prstGeom prst="rect">
            <a:avLst/>
          </a:prstGeom>
          <a:noFill/>
          <a:ln/>
        </p:spPr>
        <p:txBody>
          <a:bodyPr wrap="square" lIns="0" tIns="0" rIns="0" bIns="0" rtlCol="0" anchor="t"/>
          <a:lstStyle/>
          <a:p>
            <a:pPr indent="0" marL="0">
              <a:buNone/>
            </a:pPr>
            <a:r>
              <a:rPr lang="en-US" sz="1200" dirty="0">
                <a:solidFill>
                  <a:srgbClr val="62574A"/>
                </a:solidFill>
              </a:rPr>
              <a:t>Far from her computer. It watches what the page asks for.</a:t>
            </a:r>
            <a:endParaRPr lang="en-US" sz="1200" dirty="0"/>
          </a:p>
        </p:txBody>
      </p:sp>
      <p:sp>
        <p:nvSpPr>
          <p:cNvPr id="19" name="s4-step3-card"/>
          <p:cNvSpPr/>
          <p:nvPr/>
        </p:nvSpPr>
        <p:spPr>
          <a:xfrm>
            <a:off x="6201461" y="1645920"/>
            <a:ext cx="2615184" cy="3401568"/>
          </a:xfrm>
          <a:prstGeom prst="roundRect">
            <a:avLst>
              <a:gd name="adj" fmla="val 6294"/>
            </a:avLst>
          </a:prstGeom>
          <a:solidFill>
            <a:srgbClr val="FFFDF8"/>
          </a:solidFill>
          <a:ln w="12700">
            <a:solidFill>
              <a:schemeClr val="accent6"/>
            </a:solidFill>
            <a:prstDash val="solid"/>
          </a:ln>
        </p:spPr>
      </p:sp>
      <p:sp>
        <p:nvSpPr>
          <p:cNvPr id="20" name="s4-step3-visual"/>
          <p:cNvSpPr/>
          <p:nvPr/>
        </p:nvSpPr>
        <p:spPr>
          <a:xfrm>
            <a:off x="6366053" y="1810512"/>
            <a:ext cx="2286000" cy="1285875"/>
          </a:xfrm>
          <a:prstGeom prst="roundRect">
            <a:avLst>
              <a:gd name="adj" fmla="val 8533"/>
            </a:avLst>
          </a:prstGeom>
          <a:solidFill>
            <a:schemeClr val="tx2"/>
          </a:solidFill>
          <a:ln/>
        </p:spPr>
      </p:sp>
      <p:sp>
        <p:nvSpPr>
          <p:cNvPr id="21" name="s4-step3-chip1"/>
          <p:cNvSpPr/>
          <p:nvPr/>
        </p:nvSpPr>
        <p:spPr>
          <a:xfrm>
            <a:off x="6457493" y="1901952"/>
            <a:ext cx="2103120" cy="320040"/>
          </a:xfrm>
          <a:prstGeom prst="roundRect">
            <a:avLst>
              <a:gd name="adj" fmla="val 22857"/>
            </a:avLst>
          </a:prstGeom>
          <a:solidFill>
            <a:schemeClr val="accent5"/>
          </a:solidFill>
          <a:ln w="9525">
            <a:solidFill>
              <a:srgbClr val="3A3129"/>
            </a:solidFill>
            <a:prstDash val="solid"/>
          </a:ln>
        </p:spPr>
      </p:sp>
      <p:pic>
        <p:nvPicPr>
          <p:cNvPr id="22" name="s4-step3-chip1-icon" descr="Icon">    </p:cNvPr>
          <p:cNvPicPr>
            <a:picLocks noChangeAspect="1"/>
          </p:cNvPicPr>
          <p:nvPr/>
        </p:nvPicPr>
        <p:blipFill>
          <a:blip r:embed="rId3"/>
          <a:stretch>
            <a:fillRect/>
          </a:stretch>
        </p:blipFill>
        <p:spPr>
          <a:xfrm>
            <a:off x="6548933" y="1979676"/>
            <a:ext cx="164592" cy="164592"/>
          </a:xfrm>
          <a:prstGeom prst="rect">
            <a:avLst/>
          </a:prstGeom>
        </p:spPr>
      </p:pic>
      <p:sp>
        <p:nvSpPr>
          <p:cNvPr id="23" name="s4-step3-chip1-text"/>
          <p:cNvSpPr txBox="1"/>
          <p:nvPr/>
        </p:nvSpPr>
        <p:spPr>
          <a:xfrm>
            <a:off x="6786677" y="1901952"/>
            <a:ext cx="1280160" cy="320040"/>
          </a:xfrm>
          <a:prstGeom prst="rect">
            <a:avLst/>
          </a:prstGeom>
          <a:noFill/>
          <a:ln/>
        </p:spPr>
        <p:txBody>
          <a:bodyPr wrap="square" lIns="0" tIns="0" rIns="0" bIns="0" rtlCol="0" anchor="ctr"/>
          <a:lstStyle/>
          <a:p>
            <a:pPr indent="0" marL="0">
              <a:buNone/>
            </a:pPr>
            <a:r>
              <a:rPr lang="en-US" sz="1200" b="1" dirty="0">
                <a:solidFill>
                  <a:schemeClr val="bg1"/>
                </a:solidFill>
              </a:rPr>
              <a:t>Official site</a:t>
            </a:r>
            <a:endParaRPr lang="en-US" sz="1200" dirty="0"/>
          </a:p>
        </p:txBody>
      </p:sp>
      <p:sp>
        <p:nvSpPr>
          <p:cNvPr id="24" name="s4-step3-chip1-src"/>
          <p:cNvSpPr txBox="1"/>
          <p:nvPr/>
        </p:nvSpPr>
        <p:spPr>
          <a:xfrm>
            <a:off x="7993685" y="1901952"/>
            <a:ext cx="475488" cy="320040"/>
          </a:xfrm>
          <a:prstGeom prst="rect">
            <a:avLst/>
          </a:prstGeom>
          <a:noFill/>
          <a:ln/>
        </p:spPr>
        <p:txBody>
          <a:bodyPr wrap="square" lIns="0" tIns="0" rIns="0" bIns="0" rtlCol="0" anchor="ctr"/>
          <a:lstStyle/>
          <a:p>
            <a:pPr algn="r" indent="0" marL="0">
              <a:buNone/>
            </a:pPr>
            <a:r>
              <a:rPr lang="en-US" sz="1200" b="1" dirty="0">
                <a:solidFill>
                  <a:schemeClr val="accent2"/>
                </a:solidFill>
                <a:latin typeface="Courier New" pitchFamily="34" charset="0"/>
                <a:ea typeface="Courier New" pitchFamily="34" charset="-122"/>
                <a:cs typeface="Courier New" pitchFamily="34" charset="-120"/>
              </a:rPr>
              <a:t>EXA</a:t>
            </a:r>
            <a:endParaRPr lang="en-US" sz="1200" dirty="0"/>
          </a:p>
        </p:txBody>
      </p:sp>
      <p:sp>
        <p:nvSpPr>
          <p:cNvPr id="25" name="s4-step3-chip2"/>
          <p:cNvSpPr/>
          <p:nvPr/>
        </p:nvSpPr>
        <p:spPr>
          <a:xfrm>
            <a:off x="6457493" y="2293430"/>
            <a:ext cx="2103120" cy="320040"/>
          </a:xfrm>
          <a:prstGeom prst="roundRect">
            <a:avLst>
              <a:gd name="adj" fmla="val 22857"/>
            </a:avLst>
          </a:prstGeom>
          <a:solidFill>
            <a:schemeClr val="accent5"/>
          </a:solidFill>
          <a:ln w="9525">
            <a:solidFill>
              <a:srgbClr val="3A3129"/>
            </a:solidFill>
            <a:prstDash val="solid"/>
          </a:ln>
        </p:spPr>
      </p:sp>
      <p:pic>
        <p:nvPicPr>
          <p:cNvPr id="26" name="s4-step3-chip2-icon" descr="Icon">    </p:cNvPr>
          <p:cNvPicPr>
            <a:picLocks noChangeAspect="1"/>
          </p:cNvPicPr>
          <p:nvPr/>
        </p:nvPicPr>
        <p:blipFill>
          <a:blip r:embed="rId4"/>
          <a:stretch>
            <a:fillRect/>
          </a:stretch>
        </p:blipFill>
        <p:spPr>
          <a:xfrm>
            <a:off x="6548933" y="2371154"/>
            <a:ext cx="164592" cy="164592"/>
          </a:xfrm>
          <a:prstGeom prst="rect">
            <a:avLst/>
          </a:prstGeom>
        </p:spPr>
      </p:pic>
      <p:sp>
        <p:nvSpPr>
          <p:cNvPr id="27" name="s4-step3-chip2-text"/>
          <p:cNvSpPr txBox="1"/>
          <p:nvPr/>
        </p:nvSpPr>
        <p:spPr>
          <a:xfrm>
            <a:off x="6786677" y="2293430"/>
            <a:ext cx="1280160" cy="320040"/>
          </a:xfrm>
          <a:prstGeom prst="rect">
            <a:avLst/>
          </a:prstGeom>
          <a:noFill/>
          <a:ln/>
        </p:spPr>
        <p:txBody>
          <a:bodyPr wrap="square" lIns="0" tIns="0" rIns="0" bIns="0" rtlCol="0" anchor="ctr"/>
          <a:lstStyle/>
          <a:p>
            <a:pPr indent="0" marL="0">
              <a:buNone/>
            </a:pPr>
            <a:r>
              <a:rPr lang="en-US" sz="1200" b="1" dirty="0">
                <a:solidFill>
                  <a:schemeClr val="bg1"/>
                </a:solidFill>
              </a:rPr>
              <a:t>Scam reports</a:t>
            </a:r>
            <a:endParaRPr lang="en-US" sz="1200" dirty="0"/>
          </a:p>
        </p:txBody>
      </p:sp>
      <p:sp>
        <p:nvSpPr>
          <p:cNvPr id="28" name="s4-step3-chip2-src"/>
          <p:cNvSpPr txBox="1"/>
          <p:nvPr/>
        </p:nvSpPr>
        <p:spPr>
          <a:xfrm>
            <a:off x="7993685" y="2293430"/>
            <a:ext cx="475488" cy="320040"/>
          </a:xfrm>
          <a:prstGeom prst="rect">
            <a:avLst/>
          </a:prstGeom>
          <a:noFill/>
          <a:ln/>
        </p:spPr>
        <p:txBody>
          <a:bodyPr wrap="square" lIns="0" tIns="0" rIns="0" bIns="0" rtlCol="0" anchor="ctr"/>
          <a:lstStyle/>
          <a:p>
            <a:pPr algn="r" indent="0" marL="0">
              <a:buNone/>
            </a:pPr>
            <a:r>
              <a:rPr lang="en-US" sz="1200" b="1" dirty="0">
                <a:solidFill>
                  <a:schemeClr val="accent2"/>
                </a:solidFill>
                <a:latin typeface="Courier New" pitchFamily="34" charset="0"/>
                <a:ea typeface="Courier New" pitchFamily="34" charset="-122"/>
                <a:cs typeface="Courier New" pitchFamily="34" charset="-120"/>
              </a:rPr>
              <a:t>EXA</a:t>
            </a:r>
            <a:endParaRPr lang="en-US" sz="1200" dirty="0"/>
          </a:p>
        </p:txBody>
      </p:sp>
      <p:sp>
        <p:nvSpPr>
          <p:cNvPr id="29" name="s4-step3-chip3"/>
          <p:cNvSpPr/>
          <p:nvPr/>
        </p:nvSpPr>
        <p:spPr>
          <a:xfrm>
            <a:off x="6457493" y="2684907"/>
            <a:ext cx="2103120" cy="320040"/>
          </a:xfrm>
          <a:prstGeom prst="roundRect">
            <a:avLst>
              <a:gd name="adj" fmla="val 22857"/>
            </a:avLst>
          </a:prstGeom>
          <a:solidFill>
            <a:schemeClr val="accent5"/>
          </a:solidFill>
          <a:ln w="9525">
            <a:solidFill>
              <a:srgbClr val="3A3129"/>
            </a:solidFill>
            <a:prstDash val="solid"/>
          </a:ln>
        </p:spPr>
      </p:sp>
      <p:pic>
        <p:nvPicPr>
          <p:cNvPr id="30" name="s4-step3-chip3-icon" descr="Icon">    </p:cNvPr>
          <p:cNvPicPr>
            <a:picLocks noChangeAspect="1"/>
          </p:cNvPicPr>
          <p:nvPr/>
        </p:nvPicPr>
        <p:blipFill>
          <a:blip r:embed="rId5"/>
          <a:stretch>
            <a:fillRect/>
          </a:stretch>
        </p:blipFill>
        <p:spPr>
          <a:xfrm>
            <a:off x="6548933" y="2762631"/>
            <a:ext cx="164592" cy="164592"/>
          </a:xfrm>
          <a:prstGeom prst="rect">
            <a:avLst/>
          </a:prstGeom>
        </p:spPr>
      </p:pic>
      <p:sp>
        <p:nvSpPr>
          <p:cNvPr id="31" name="s4-step3-chip3-text"/>
          <p:cNvSpPr txBox="1"/>
          <p:nvPr/>
        </p:nvSpPr>
        <p:spPr>
          <a:xfrm>
            <a:off x="6786677" y="2684907"/>
            <a:ext cx="1280160" cy="320040"/>
          </a:xfrm>
          <a:prstGeom prst="rect">
            <a:avLst/>
          </a:prstGeom>
          <a:noFill/>
          <a:ln/>
        </p:spPr>
        <p:txBody>
          <a:bodyPr wrap="square" lIns="0" tIns="0" rIns="0" bIns="0" rtlCol="0" anchor="ctr"/>
          <a:lstStyle/>
          <a:p>
            <a:pPr indent="0" marL="0">
              <a:buNone/>
            </a:pPr>
            <a:r>
              <a:rPr lang="en-US" sz="1200" b="1" dirty="0">
                <a:solidFill>
                  <a:schemeClr val="bg1"/>
                </a:solidFill>
              </a:rPr>
              <a:t>Age of address</a:t>
            </a:r>
            <a:endParaRPr lang="en-US" sz="1200" dirty="0"/>
          </a:p>
        </p:txBody>
      </p:sp>
      <p:sp>
        <p:nvSpPr>
          <p:cNvPr id="32" name="s4-step3-chip3-src"/>
          <p:cNvSpPr txBox="1"/>
          <p:nvPr/>
        </p:nvSpPr>
        <p:spPr>
          <a:xfrm>
            <a:off x="7993685" y="2684907"/>
            <a:ext cx="475488" cy="320040"/>
          </a:xfrm>
          <a:prstGeom prst="rect">
            <a:avLst/>
          </a:prstGeom>
          <a:noFill/>
          <a:ln/>
        </p:spPr>
        <p:txBody>
          <a:bodyPr wrap="square" lIns="0" tIns="0" rIns="0" bIns="0" rtlCol="0" anchor="ctr"/>
          <a:lstStyle/>
          <a:p>
            <a:pPr algn="r" indent="0" marL="0">
              <a:buNone/>
            </a:pPr>
            <a:r>
              <a:rPr lang="en-US" sz="1200" b="1" dirty="0">
                <a:solidFill>
                  <a:schemeClr val="accent2"/>
                </a:solidFill>
                <a:latin typeface="Courier New" pitchFamily="34" charset="0"/>
                <a:ea typeface="Courier New" pitchFamily="34" charset="-122"/>
                <a:cs typeface="Courier New" pitchFamily="34" charset="-120"/>
              </a:rPr>
              <a:t>RDAP</a:t>
            </a:r>
            <a:endParaRPr lang="en-US" sz="1200" dirty="0"/>
          </a:p>
        </p:txBody>
      </p:sp>
      <p:sp>
        <p:nvSpPr>
          <p:cNvPr id="33" name="s4-step3-num"/>
          <p:cNvSpPr txBox="1"/>
          <p:nvPr/>
        </p:nvSpPr>
        <p:spPr>
          <a:xfrm>
            <a:off x="6366053" y="3200400"/>
            <a:ext cx="914400" cy="475488"/>
          </a:xfrm>
          <a:prstGeom prst="rect">
            <a:avLst/>
          </a:prstGeom>
          <a:noFill/>
          <a:ln/>
        </p:spPr>
        <p:txBody>
          <a:bodyPr wrap="square" lIns="0" tIns="0" rIns="0" bIns="0" rtlCol="0" anchor="ctr"/>
          <a:lstStyle/>
          <a:p>
            <a:pPr indent="0" marL="0">
              <a:buNone/>
            </a:pPr>
            <a:r>
              <a:rPr lang="en-US" sz="2800" dirty="0">
                <a:solidFill>
                  <a:schemeClr val="accent1"/>
                </a:solidFill>
                <a:latin typeface="Arial Black" pitchFamily="34" charset="0"/>
                <a:ea typeface="Arial Black" pitchFamily="34" charset="-122"/>
                <a:cs typeface="Arial Black" pitchFamily="34" charset="-120"/>
              </a:rPr>
              <a:t>3</a:t>
            </a:r>
            <a:endParaRPr lang="en-US" sz="2800" dirty="0"/>
          </a:p>
        </p:txBody>
      </p:sp>
      <p:sp>
        <p:nvSpPr>
          <p:cNvPr id="34" name="s4-step3-title"/>
          <p:cNvSpPr txBox="1"/>
          <p:nvPr/>
        </p:nvSpPr>
        <p:spPr>
          <a:xfrm>
            <a:off x="6366053" y="3694176"/>
            <a:ext cx="2286000" cy="548640"/>
          </a:xfrm>
          <a:prstGeom prst="rect">
            <a:avLst/>
          </a:prstGeom>
          <a:noFill/>
          <a:ln/>
        </p:spPr>
        <p:txBody>
          <a:bodyPr wrap="square" lIns="0" tIns="0" rIns="0" bIns="0" rtlCol="0" anchor="t"/>
          <a:lstStyle/>
          <a:p>
            <a:pPr indent="0" marL="0">
              <a:buNone/>
            </a:pPr>
            <a:r>
              <a:rPr lang="en-US" sz="1600" b="1" dirty="0">
                <a:solidFill>
                  <a:schemeClr val="tx1"/>
                </a:solidFill>
              </a:rPr>
              <a:t>The claims get checked</a:t>
            </a:r>
            <a:endParaRPr lang="en-US" sz="1600" dirty="0"/>
          </a:p>
        </p:txBody>
      </p:sp>
      <p:sp>
        <p:nvSpPr>
          <p:cNvPr id="35" name="s4-step3-sub"/>
          <p:cNvSpPr txBox="1"/>
          <p:nvPr/>
        </p:nvSpPr>
        <p:spPr>
          <a:xfrm>
            <a:off x="6366053" y="4297680"/>
            <a:ext cx="2286000" cy="603504"/>
          </a:xfrm>
          <a:prstGeom prst="rect">
            <a:avLst/>
          </a:prstGeom>
          <a:noFill/>
          <a:ln/>
        </p:spPr>
        <p:txBody>
          <a:bodyPr wrap="square" lIns="0" tIns="0" rIns="0" bIns="0" rtlCol="0" anchor="t"/>
          <a:lstStyle/>
          <a:p>
            <a:pPr indent="0" marL="0">
              <a:buNone/>
            </a:pPr>
            <a:r>
              <a:rPr lang="en-US" sz="1200" dirty="0">
                <a:solidFill>
                  <a:srgbClr val="62574A"/>
                </a:solidFill>
              </a:rPr>
              <a:t>The official site, scam reports, the age of the address.</a:t>
            </a:r>
            <a:endParaRPr lang="en-US" sz="1200" dirty="0"/>
          </a:p>
        </p:txBody>
      </p:sp>
      <p:sp>
        <p:nvSpPr>
          <p:cNvPr id="36" name="s4-step4-card"/>
          <p:cNvSpPr/>
          <p:nvPr/>
        </p:nvSpPr>
        <p:spPr>
          <a:xfrm>
            <a:off x="9027871" y="1645920"/>
            <a:ext cx="2615184" cy="3401568"/>
          </a:xfrm>
          <a:prstGeom prst="roundRect">
            <a:avLst>
              <a:gd name="adj" fmla="val 6294"/>
            </a:avLst>
          </a:prstGeom>
          <a:solidFill>
            <a:srgbClr val="FFFDF8"/>
          </a:solidFill>
          <a:ln w="12700">
            <a:solidFill>
              <a:schemeClr val="accent6"/>
            </a:solidFill>
            <a:prstDash val="solid"/>
          </a:ln>
        </p:spPr>
      </p:sp>
      <p:pic>
        <p:nvPicPr>
          <p:cNvPr id="37" name="s4-step4-visual" descr="Full-screen red verdict: SCAM. Do not click.">    </p:cNvPr>
          <p:cNvPicPr>
            <a:picLocks noChangeAspect="1"/>
          </p:cNvPicPr>
          <p:nvPr/>
        </p:nvPicPr>
        <p:blipFill>
          <a:blip r:embed="rId6"/>
          <a:stretch>
            <a:fillRect/>
          </a:stretch>
        </p:blipFill>
        <p:spPr>
          <a:xfrm>
            <a:off x="9192463" y="1810512"/>
            <a:ext cx="2286000" cy="1285875"/>
          </a:xfrm>
          <a:prstGeom prst="rect">
            <a:avLst/>
          </a:prstGeom>
        </p:spPr>
      </p:pic>
      <p:sp>
        <p:nvSpPr>
          <p:cNvPr id="38" name="s4-step4-num"/>
          <p:cNvSpPr txBox="1"/>
          <p:nvPr/>
        </p:nvSpPr>
        <p:spPr>
          <a:xfrm>
            <a:off x="9192463" y="3200400"/>
            <a:ext cx="914400" cy="475488"/>
          </a:xfrm>
          <a:prstGeom prst="rect">
            <a:avLst/>
          </a:prstGeom>
          <a:noFill/>
          <a:ln/>
        </p:spPr>
        <p:txBody>
          <a:bodyPr wrap="square" lIns="0" tIns="0" rIns="0" bIns="0" rtlCol="0" anchor="ctr"/>
          <a:lstStyle/>
          <a:p>
            <a:pPr indent="0" marL="0">
              <a:buNone/>
            </a:pPr>
            <a:r>
              <a:rPr lang="en-US" sz="2800" dirty="0">
                <a:solidFill>
                  <a:schemeClr val="accent1"/>
                </a:solidFill>
                <a:latin typeface="Arial Black" pitchFamily="34" charset="0"/>
                <a:ea typeface="Arial Black" pitchFamily="34" charset="-122"/>
                <a:cs typeface="Arial Black" pitchFamily="34" charset="-120"/>
              </a:rPr>
              <a:t>4</a:t>
            </a:r>
            <a:endParaRPr lang="en-US" sz="2800" dirty="0"/>
          </a:p>
        </p:txBody>
      </p:sp>
      <p:sp>
        <p:nvSpPr>
          <p:cNvPr id="39" name="s4-step4-title"/>
          <p:cNvSpPr txBox="1"/>
          <p:nvPr/>
        </p:nvSpPr>
        <p:spPr>
          <a:xfrm>
            <a:off x="9192463" y="3694176"/>
            <a:ext cx="2286000" cy="548640"/>
          </a:xfrm>
          <a:prstGeom prst="rect">
            <a:avLst/>
          </a:prstGeom>
          <a:noFill/>
          <a:ln/>
        </p:spPr>
        <p:txBody>
          <a:bodyPr wrap="square" lIns="0" tIns="0" rIns="0" bIns="0" rtlCol="0" anchor="t"/>
          <a:lstStyle/>
          <a:p>
            <a:pPr indent="0" marL="0">
              <a:buNone/>
            </a:pPr>
            <a:r>
              <a:rPr lang="en-US" sz="1600" b="1" dirty="0">
                <a:solidFill>
                  <a:schemeClr val="tx1"/>
                </a:solidFill>
              </a:rPr>
              <a:t>One giant sentence</a:t>
            </a:r>
            <a:endParaRPr lang="en-US" sz="1600" dirty="0"/>
          </a:p>
        </p:txBody>
      </p:sp>
      <p:sp>
        <p:nvSpPr>
          <p:cNvPr id="40" name="s4-step4-sub"/>
          <p:cNvSpPr txBox="1"/>
          <p:nvPr/>
        </p:nvSpPr>
        <p:spPr>
          <a:xfrm>
            <a:off x="9192463" y="4297680"/>
            <a:ext cx="2286000" cy="603504"/>
          </a:xfrm>
          <a:prstGeom prst="rect">
            <a:avLst/>
          </a:prstGeom>
          <a:noFill/>
          <a:ln/>
        </p:spPr>
        <p:txBody>
          <a:bodyPr wrap="square" lIns="0" tIns="0" rIns="0" bIns="0" rtlCol="0" anchor="t"/>
          <a:lstStyle/>
          <a:p>
            <a:pPr indent="0" marL="0">
              <a:buNone/>
            </a:pPr>
            <a:r>
              <a:rPr lang="en-US" sz="1200" dirty="0">
                <a:solidFill>
                  <a:srgbClr val="62574A"/>
                </a:solidFill>
              </a:rPr>
              <a:t>In words a 75-year-old</a:t>
            </a:r>
            <a:endParaRPr lang="en-US" sz="1200" dirty="0"/>
          </a:p>
          <a:p>
            <a:pPr indent="0" marL="0">
              <a:buNone/>
            </a:pPr>
            <a:r>
              <a:rPr lang="en-US" sz="1200" dirty="0">
                <a:solidFill>
                  <a:srgbClr val="62574A"/>
                </a:solidFill>
              </a:rPr>
              <a:t>can act on.</a:t>
            </a:r>
            <a:endParaRPr lang="en-US" sz="1200" dirty="0"/>
          </a:p>
        </p:txBody>
      </p:sp>
      <p:sp>
        <p:nvSpPr>
          <p:cNvPr id="41" name="s4-alert"/>
          <p:cNvSpPr/>
          <p:nvPr/>
        </p:nvSpPr>
        <p:spPr>
          <a:xfrm>
            <a:off x="548640" y="5266944"/>
            <a:ext cx="11094415" cy="676656"/>
          </a:xfrm>
          <a:prstGeom prst="roundRect">
            <a:avLst>
              <a:gd name="adj" fmla="val 24324"/>
            </a:avLst>
          </a:prstGeom>
          <a:solidFill>
            <a:schemeClr val="tx1"/>
          </a:solidFill>
          <a:ln/>
        </p:spPr>
      </p:sp>
      <p:sp>
        <p:nvSpPr>
          <p:cNvPr id="42" name="s4-alert-dot"/>
          <p:cNvSpPr/>
          <p:nvPr/>
        </p:nvSpPr>
        <p:spPr>
          <a:xfrm>
            <a:off x="731520" y="5394960"/>
            <a:ext cx="420624" cy="420624"/>
          </a:xfrm>
          <a:prstGeom prst="ellipse">
            <a:avLst/>
          </a:prstGeom>
          <a:solidFill>
            <a:schemeClr val="accent1"/>
          </a:solidFill>
          <a:ln/>
        </p:spPr>
      </p:sp>
      <p:pic>
        <p:nvPicPr>
          <p:cNvPr id="43" name="s4-alert-icon" descr="Icon">    </p:cNvPr>
          <p:cNvPicPr>
            <a:picLocks noChangeAspect="1"/>
          </p:cNvPicPr>
          <p:nvPr/>
        </p:nvPicPr>
        <p:blipFill>
          <a:blip r:embed="rId7"/>
          <a:stretch>
            <a:fillRect/>
          </a:stretch>
        </p:blipFill>
        <p:spPr>
          <a:xfrm>
            <a:off x="832104" y="5495544"/>
            <a:ext cx="219456" cy="219456"/>
          </a:xfrm>
          <a:prstGeom prst="rect">
            <a:avLst/>
          </a:prstGeom>
        </p:spPr>
      </p:pic>
      <p:sp>
        <p:nvSpPr>
          <p:cNvPr id="44" name="s4-alert-text"/>
          <p:cNvSpPr txBox="1"/>
          <p:nvPr/>
        </p:nvSpPr>
        <p:spPr>
          <a:xfrm>
            <a:off x="1335024" y="5266944"/>
            <a:ext cx="10088575" cy="676656"/>
          </a:xfrm>
          <a:prstGeom prst="rect">
            <a:avLst/>
          </a:prstGeom>
          <a:noFill/>
          <a:ln/>
        </p:spPr>
        <p:txBody>
          <a:bodyPr wrap="square" lIns="0" tIns="0" rIns="0" bIns="0" rtlCol="0" anchor="ctr"/>
          <a:lstStyle/>
          <a:p>
            <a:pPr indent="0" marL="0">
              <a:buNone/>
            </a:pPr>
            <a:r>
              <a:rPr lang="en-US" sz="1700" dirty="0">
                <a:solidFill>
                  <a:schemeClr val="bg2"/>
                </a:solidFill>
              </a:rPr>
              <a:t>And if it was a scam, you get:  </a:t>
            </a:r>
            <a:pPr indent="0" marL="0">
              <a:buNone/>
            </a:pPr>
            <a:r>
              <a:rPr lang="en-US" sz="1700" b="1" dirty="0">
                <a:solidFill>
                  <a:schemeClr val="bg1"/>
                </a:solidFill>
              </a:rPr>
              <a:t>“Mom was sent a parcel scam. She did not click. Handled.”</a:t>
            </a:r>
            <a:endParaRPr lang="en-US" sz="1700" dirty="0"/>
          </a:p>
        </p:txBody>
      </p:sp>
      <p:sp>
        <p:nvSpPr>
          <p:cNvPr id="45" name="Slide Number Placeholder 0"/>
          <p:cNvSpPr>
            <a:spLocks noGrp="1"/>
          </p:cNvSpPr>
          <p:nvPr>
            <p:ph type="sldNum" sz="quarter" idx="4294967295"/>
          </p:nvPr>
        </p:nvSpPr>
        <p:spPr>
          <a:xfrm>
            <a:off x="10911535" y="6336792"/>
            <a:ext cx="73152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2574A"/>
                </a:solidFill>
                <a:latin typeface="Courier New"/>
                <a:ea typeface="Courier New"/>
                <a:cs typeface="Courier New"/>
              </a:defRPr>
            </a:lvl1pPr>
          </a:lstStyle>
          <a:p>
            <a:pPr algn="r"/>
            <a:fld id="{F7021451-1387-4CA6-816F-3879F97B5CBC}" type="slidenum">
              <a:rPr b="1" lang="en-US"/>
              <a:t>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3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anim calcmode="lin" valueType="num">
                                      <p:cBhvr>
                                        <p:cTn id="8" dur="450" decel="100000" fill="hold"/>
                                        <p:tgtEl>
                                          <p:spTgt spid="4"/>
                                        </p:tgtEl>
                                        <p:attrNameLst>
                                          <p:attrName>ppt_x</p:attrName>
                                        </p:attrNameLst>
                                      </p:cBhvr>
                                      <p:tavLst>
                                        <p:tav tm="0">
                                          <p:val>
                                            <p:strVal val="#ppt_x"/>
                                          </p:val>
                                        </p:tav>
                                        <p:tav tm="100000">
                                          <p:val>
                                            <p:strVal val="#ppt_x"/>
                                          </p:val>
                                        </p:tav>
                                      </p:tavLst>
                                    </p:anim>
                                    <p:anim calcmode="lin" valueType="num">
                                      <p:cBhvr>
                                        <p:cTn id="9" dur="450" decel="100000" fill="hold"/>
                                        <p:tgtEl>
                                          <p:spTgt spid="4"/>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3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anim calcmode="lin" valueType="num">
                                      <p:cBhvr>
                                        <p:cTn id="13" dur="450" decel="100000" fill="hold"/>
                                        <p:tgtEl>
                                          <p:spTgt spid="5"/>
                                        </p:tgtEl>
                                        <p:attrNameLst>
                                          <p:attrName>ppt_x</p:attrName>
                                        </p:attrNameLst>
                                      </p:cBhvr>
                                      <p:tavLst>
                                        <p:tav tm="0">
                                          <p:val>
                                            <p:strVal val="#ppt_x"/>
                                          </p:val>
                                        </p:tav>
                                        <p:tav tm="100000">
                                          <p:val>
                                            <p:strVal val="#ppt_x"/>
                                          </p:val>
                                        </p:tav>
                                      </p:tavLst>
                                    </p:anim>
                                    <p:anim calcmode="lin" valueType="num">
                                      <p:cBhvr>
                                        <p:cTn id="14" dur="450" decel="100000" fill="hold"/>
                                        <p:tgtEl>
                                          <p:spTgt spid="5"/>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3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 calcmode="lin" valueType="num">
                                      <p:cBhvr>
                                        <p:cTn id="18" dur="450" decel="100000" fill="hold"/>
                                        <p:tgtEl>
                                          <p:spTgt spid="6"/>
                                        </p:tgtEl>
                                        <p:attrNameLst>
                                          <p:attrName>ppt_x</p:attrName>
                                        </p:attrNameLst>
                                      </p:cBhvr>
                                      <p:tavLst>
                                        <p:tav tm="0">
                                          <p:val>
                                            <p:strVal val="#ppt_x"/>
                                          </p:val>
                                        </p:tav>
                                        <p:tav tm="100000">
                                          <p:val>
                                            <p:strVal val="#ppt_x"/>
                                          </p:val>
                                        </p:tav>
                                      </p:tavLst>
                                    </p:anim>
                                    <p:anim calcmode="lin" valueType="num">
                                      <p:cBhvr>
                                        <p:cTn id="19" dur="450" decel="100000" fill="hold"/>
                                        <p:tgtEl>
                                          <p:spTgt spid="6"/>
                                        </p:tgtEl>
                                        <p:attrNameLst>
                                          <p:attrName>ppt_y</p:attrName>
                                        </p:attrNameLst>
                                      </p:cBhvr>
                                      <p:tavLst>
                                        <p:tav tm="0">
                                          <p:val>
                                            <p:strVal val="#ppt_y+.05"/>
                                          </p:val>
                                        </p:tav>
                                        <p:tav tm="100000">
                                          <p:val>
                                            <p:strVal val="#ppt_y"/>
                                          </p:val>
                                        </p:tav>
                                      </p:tavLst>
                                    </p:anim>
                                  </p:childTnLst>
                                </p:cTn>
                              </p:par>
                              <p:par>
                                <p:cTn id="20" presetID="42" presetClass="entr" presetSubtype="0" fill="hold" nodeType="withEffect">
                                  <p:stCondLst>
                                    <p:cond delay="3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decel="100000" fill="hold"/>
                                        <p:tgtEl>
                                          <p:spTgt spid="7"/>
                                        </p:tgtEl>
                                        <p:attrNameLst>
                                          <p:attrName>ppt_x</p:attrName>
                                        </p:attrNameLst>
                                      </p:cBhvr>
                                      <p:tavLst>
                                        <p:tav tm="0">
                                          <p:val>
                                            <p:strVal val="#ppt_x"/>
                                          </p:val>
                                        </p:tav>
                                        <p:tav tm="100000">
                                          <p:val>
                                            <p:strVal val="#ppt_x"/>
                                          </p:val>
                                        </p:tav>
                                      </p:tavLst>
                                    </p:anim>
                                    <p:anim calcmode="lin" valueType="num">
                                      <p:cBhvr>
                                        <p:cTn id="24" dur="450" decel="100000" fill="hold"/>
                                        <p:tgtEl>
                                          <p:spTgt spid="7"/>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3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50"/>
                                        <p:tgtEl>
                                          <p:spTgt spid="8"/>
                                        </p:tgtEl>
                                      </p:cBhvr>
                                    </p:animEffect>
                                    <p:anim calcmode="lin" valueType="num">
                                      <p:cBhvr>
                                        <p:cTn id="28" dur="450" decel="100000" fill="hold"/>
                                        <p:tgtEl>
                                          <p:spTgt spid="8"/>
                                        </p:tgtEl>
                                        <p:attrNameLst>
                                          <p:attrName>ppt_x</p:attrName>
                                        </p:attrNameLst>
                                      </p:cBhvr>
                                      <p:tavLst>
                                        <p:tav tm="0">
                                          <p:val>
                                            <p:strVal val="#ppt_x"/>
                                          </p:val>
                                        </p:tav>
                                        <p:tav tm="100000">
                                          <p:val>
                                            <p:strVal val="#ppt_x"/>
                                          </p:val>
                                        </p:tav>
                                      </p:tavLst>
                                    </p:anim>
                                    <p:anim calcmode="lin" valueType="num">
                                      <p:cBhvr>
                                        <p:cTn id="29" dur="450" decel="100000" fill="hold"/>
                                        <p:tgtEl>
                                          <p:spTgt spid="8"/>
                                        </p:tgtEl>
                                        <p:attrNameLst>
                                          <p:attrName>ppt_y</p:attrName>
                                        </p:attrNameLst>
                                      </p:cBhvr>
                                      <p:tavLst>
                                        <p:tav tm="0">
                                          <p:val>
                                            <p:strVal val="#ppt_y+.05"/>
                                          </p:val>
                                        </p:tav>
                                        <p:tav tm="100000">
                                          <p:val>
                                            <p:strVal val="#ppt_y"/>
                                          </p:val>
                                        </p:tav>
                                      </p:tavLst>
                                    </p:anim>
                                  </p:childTnLst>
                                </p:cTn>
                              </p:par>
                              <p:par>
                                <p:cTn id="30" presetID="42" presetClass="entr" presetSubtype="0" fill="hold" grpId="0" nodeType="withEffect">
                                  <p:stCondLst>
                                    <p:cond delay="30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anim calcmode="lin" valueType="num">
                                      <p:cBhvr>
                                        <p:cTn id="33" dur="450" decel="100000" fill="hold"/>
                                        <p:tgtEl>
                                          <p:spTgt spid="9"/>
                                        </p:tgtEl>
                                        <p:attrNameLst>
                                          <p:attrName>ppt_x</p:attrName>
                                        </p:attrNameLst>
                                      </p:cBhvr>
                                      <p:tavLst>
                                        <p:tav tm="0">
                                          <p:val>
                                            <p:strVal val="#ppt_x"/>
                                          </p:val>
                                        </p:tav>
                                        <p:tav tm="100000">
                                          <p:val>
                                            <p:strVal val="#ppt_x"/>
                                          </p:val>
                                        </p:tav>
                                      </p:tavLst>
                                    </p:anim>
                                    <p:anim calcmode="lin" valueType="num">
                                      <p:cBhvr>
                                        <p:cTn id="34" dur="450" decel="100000" fill="hold"/>
                                        <p:tgtEl>
                                          <p:spTgt spid="9"/>
                                        </p:tgtEl>
                                        <p:attrNameLst>
                                          <p:attrName>ppt_y</p:attrName>
                                        </p:attrNameLst>
                                      </p:cBhvr>
                                      <p:tavLst>
                                        <p:tav tm="0">
                                          <p:val>
                                            <p:strVal val="#ppt_y+.05"/>
                                          </p:val>
                                        </p:tav>
                                        <p:tav tm="100000">
                                          <p:val>
                                            <p:strVal val="#ppt_y"/>
                                          </p:val>
                                        </p:tav>
                                      </p:tavLst>
                                    </p:anim>
                                  </p:childTnLst>
                                </p:cTn>
                              </p:par>
                              <p:par>
                                <p:cTn id="35" presetID="42" presetClass="entr" presetSubtype="0" fill="hold" grpId="0" nodeType="withEffect">
                                  <p:stCondLst>
                                    <p:cond delay="3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50"/>
                                        <p:tgtEl>
                                          <p:spTgt spid="10"/>
                                        </p:tgtEl>
                                      </p:cBhvr>
                                    </p:animEffect>
                                    <p:anim calcmode="lin" valueType="num">
                                      <p:cBhvr>
                                        <p:cTn id="38" dur="450" decel="100000" fill="hold"/>
                                        <p:tgtEl>
                                          <p:spTgt spid="10"/>
                                        </p:tgtEl>
                                        <p:attrNameLst>
                                          <p:attrName>ppt_x</p:attrName>
                                        </p:attrNameLst>
                                      </p:cBhvr>
                                      <p:tavLst>
                                        <p:tav tm="0">
                                          <p:val>
                                            <p:strVal val="#ppt_x"/>
                                          </p:val>
                                        </p:tav>
                                        <p:tav tm="100000">
                                          <p:val>
                                            <p:strVal val="#ppt_x"/>
                                          </p:val>
                                        </p:tav>
                                      </p:tavLst>
                                    </p:anim>
                                    <p:anim calcmode="lin" valueType="num">
                                      <p:cBhvr>
                                        <p:cTn id="39" dur="450" decel="100000" fill="hold"/>
                                        <p:tgtEl>
                                          <p:spTgt spid="10"/>
                                        </p:tgtEl>
                                        <p:attrNameLst>
                                          <p:attrName>ppt_y</p:attrName>
                                        </p:attrNameLst>
                                      </p:cBhvr>
                                      <p:tavLst>
                                        <p:tav tm="0">
                                          <p:val>
                                            <p:strVal val="#ppt_y+.05"/>
                                          </p:val>
                                        </p:tav>
                                        <p:tav tm="100000">
                                          <p:val>
                                            <p:strVal val="#ppt_y"/>
                                          </p:val>
                                        </p:tav>
                                      </p:tavLst>
                                    </p:anim>
                                  </p:childTnLst>
                                </p:cTn>
                              </p:par>
                              <p:par>
                                <p:cTn id="40" presetID="42" presetClass="entr" presetSubtype="0" fill="hold" grpId="0" nodeType="withEffect">
                                  <p:stCondLst>
                                    <p:cond delay="3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450"/>
                                        <p:tgtEl>
                                          <p:spTgt spid="11"/>
                                        </p:tgtEl>
                                      </p:cBhvr>
                                    </p:animEffect>
                                    <p:anim calcmode="lin" valueType="num">
                                      <p:cBhvr>
                                        <p:cTn id="43" dur="450" decel="100000" fill="hold"/>
                                        <p:tgtEl>
                                          <p:spTgt spid="11"/>
                                        </p:tgtEl>
                                        <p:attrNameLst>
                                          <p:attrName>ppt_x</p:attrName>
                                        </p:attrNameLst>
                                      </p:cBhvr>
                                      <p:tavLst>
                                        <p:tav tm="0">
                                          <p:val>
                                            <p:strVal val="#ppt_x"/>
                                          </p:val>
                                        </p:tav>
                                        <p:tav tm="100000">
                                          <p:val>
                                            <p:strVal val="#ppt_x"/>
                                          </p:val>
                                        </p:tav>
                                      </p:tavLst>
                                    </p:anim>
                                    <p:anim calcmode="lin" valueType="num">
                                      <p:cBhvr>
                                        <p:cTn id="44" dur="450" decel="100000" fill="hold"/>
                                        <p:tgtEl>
                                          <p:spTgt spid="11"/>
                                        </p:tgtEl>
                                        <p:attrNameLst>
                                          <p:attrName>ppt_y</p:attrName>
                                        </p:attrNameLst>
                                      </p:cBhvr>
                                      <p:tavLst>
                                        <p:tav tm="0">
                                          <p:val>
                                            <p:strVal val="#ppt_y+.05"/>
                                          </p:val>
                                        </p:tav>
                                        <p:tav tm="100000">
                                          <p:val>
                                            <p:strVal val="#ppt_y"/>
                                          </p:val>
                                        </p:tav>
                                      </p:tavLst>
                                    </p:anim>
                                  </p:childTnLst>
                                </p:cTn>
                              </p:par>
                              <p:par>
                                <p:cTn id="45" presetID="42" presetClass="entr" presetSubtype="0" fill="hold" grpId="0" nodeType="withEffect">
                                  <p:stCondLst>
                                    <p:cond delay="3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450"/>
                                        <p:tgtEl>
                                          <p:spTgt spid="12"/>
                                        </p:tgtEl>
                                      </p:cBhvr>
                                    </p:animEffect>
                                    <p:anim calcmode="lin" valueType="num">
                                      <p:cBhvr>
                                        <p:cTn id="48" dur="450" decel="100000" fill="hold"/>
                                        <p:tgtEl>
                                          <p:spTgt spid="12"/>
                                        </p:tgtEl>
                                        <p:attrNameLst>
                                          <p:attrName>ppt_x</p:attrName>
                                        </p:attrNameLst>
                                      </p:cBhvr>
                                      <p:tavLst>
                                        <p:tav tm="0">
                                          <p:val>
                                            <p:strVal val="#ppt_x"/>
                                          </p:val>
                                        </p:tav>
                                        <p:tav tm="100000">
                                          <p:val>
                                            <p:strVal val="#ppt_x"/>
                                          </p:val>
                                        </p:tav>
                                      </p:tavLst>
                                    </p:anim>
                                    <p:anim calcmode="lin" valueType="num">
                                      <p:cBhvr>
                                        <p:cTn id="49" dur="450" decel="100000" fill="hold"/>
                                        <p:tgtEl>
                                          <p:spTgt spid="12"/>
                                        </p:tgtEl>
                                        <p:attrNameLst>
                                          <p:attrName>ppt_y</p:attrName>
                                        </p:attrNameLst>
                                      </p:cBhvr>
                                      <p:tavLst>
                                        <p:tav tm="0">
                                          <p:val>
                                            <p:strVal val="#ppt_y+.05"/>
                                          </p:val>
                                        </p:tav>
                                        <p:tav tm="100000">
                                          <p:val>
                                            <p:strVal val="#ppt_y"/>
                                          </p:val>
                                        </p:tav>
                                      </p:tavLst>
                                    </p:anim>
                                  </p:childTnLst>
                                </p:cTn>
                              </p:par>
                            </p:childTnLst>
                          </p:cTn>
                        </p:par>
                        <p:par>
                          <p:cTn id="50" fill="hold">
                            <p:stCondLst>
                              <p:cond delay="750"/>
                            </p:stCondLst>
                            <p:childTnLst>
                              <p:par>
                                <p:cTn id="51" presetID="42" presetClass="entr" presetSubtype="0" fill="hold" grpId="0" nodeType="afterEffect">
                                  <p:stCondLst>
                                    <p:cond delay="45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450"/>
                                        <p:tgtEl>
                                          <p:spTgt spid="13"/>
                                        </p:tgtEl>
                                      </p:cBhvr>
                                    </p:animEffect>
                                    <p:anim calcmode="lin" valueType="num">
                                      <p:cBhvr>
                                        <p:cTn id="54" dur="450" decel="100000" fill="hold"/>
                                        <p:tgtEl>
                                          <p:spTgt spid="13"/>
                                        </p:tgtEl>
                                        <p:attrNameLst>
                                          <p:attrName>ppt_x</p:attrName>
                                        </p:attrNameLst>
                                      </p:cBhvr>
                                      <p:tavLst>
                                        <p:tav tm="0">
                                          <p:val>
                                            <p:strVal val="#ppt_x"/>
                                          </p:val>
                                        </p:tav>
                                        <p:tav tm="100000">
                                          <p:val>
                                            <p:strVal val="#ppt_x"/>
                                          </p:val>
                                        </p:tav>
                                      </p:tavLst>
                                    </p:anim>
                                    <p:anim calcmode="lin" valueType="num">
                                      <p:cBhvr>
                                        <p:cTn id="55" dur="450" decel="100000" fill="hold"/>
                                        <p:tgtEl>
                                          <p:spTgt spid="13"/>
                                        </p:tgtEl>
                                        <p:attrNameLst>
                                          <p:attrName>ppt_y</p:attrName>
                                        </p:attrNameLst>
                                      </p:cBhvr>
                                      <p:tavLst>
                                        <p:tav tm="0">
                                          <p:val>
                                            <p:strVal val="#ppt_y+.05"/>
                                          </p:val>
                                        </p:tav>
                                        <p:tav tm="100000">
                                          <p:val>
                                            <p:strVal val="#ppt_y"/>
                                          </p:val>
                                        </p:tav>
                                      </p:tavLst>
                                    </p:anim>
                                  </p:childTnLst>
                                </p:cTn>
                              </p:par>
                              <p:par>
                                <p:cTn id="56" presetID="42" presetClass="entr" presetSubtype="0" fill="hold" nodeType="withEffect">
                                  <p:stCondLst>
                                    <p:cond delay="45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450"/>
                                        <p:tgtEl>
                                          <p:spTgt spid="14"/>
                                        </p:tgtEl>
                                      </p:cBhvr>
                                    </p:animEffect>
                                    <p:anim calcmode="lin" valueType="num">
                                      <p:cBhvr>
                                        <p:cTn id="59" dur="450" decel="100000" fill="hold"/>
                                        <p:tgtEl>
                                          <p:spTgt spid="14"/>
                                        </p:tgtEl>
                                        <p:attrNameLst>
                                          <p:attrName>ppt_x</p:attrName>
                                        </p:attrNameLst>
                                      </p:cBhvr>
                                      <p:tavLst>
                                        <p:tav tm="0">
                                          <p:val>
                                            <p:strVal val="#ppt_x"/>
                                          </p:val>
                                        </p:tav>
                                        <p:tav tm="100000">
                                          <p:val>
                                            <p:strVal val="#ppt_x"/>
                                          </p:val>
                                        </p:tav>
                                      </p:tavLst>
                                    </p:anim>
                                    <p:anim calcmode="lin" valueType="num">
                                      <p:cBhvr>
                                        <p:cTn id="60" dur="450" decel="100000" fill="hold"/>
                                        <p:tgtEl>
                                          <p:spTgt spid="14"/>
                                        </p:tgtEl>
                                        <p:attrNameLst>
                                          <p:attrName>ppt_y</p:attrName>
                                        </p:attrNameLst>
                                      </p:cBhvr>
                                      <p:tavLst>
                                        <p:tav tm="0">
                                          <p:val>
                                            <p:strVal val="#ppt_y+.05"/>
                                          </p:val>
                                        </p:tav>
                                        <p:tav tm="100000">
                                          <p:val>
                                            <p:strVal val="#ppt_y"/>
                                          </p:val>
                                        </p:tav>
                                      </p:tavLst>
                                    </p:anim>
                                  </p:childTnLst>
                                </p:cTn>
                              </p:par>
                              <p:par>
                                <p:cTn id="61" presetID="42" presetClass="entr" presetSubtype="0" fill="hold" grpId="0" nodeType="withEffect">
                                  <p:stCondLst>
                                    <p:cond delay="45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450"/>
                                        <p:tgtEl>
                                          <p:spTgt spid="15"/>
                                        </p:tgtEl>
                                      </p:cBhvr>
                                    </p:animEffect>
                                    <p:anim calcmode="lin" valueType="num">
                                      <p:cBhvr>
                                        <p:cTn id="64" dur="450" decel="100000" fill="hold"/>
                                        <p:tgtEl>
                                          <p:spTgt spid="15"/>
                                        </p:tgtEl>
                                        <p:attrNameLst>
                                          <p:attrName>ppt_x</p:attrName>
                                        </p:attrNameLst>
                                      </p:cBhvr>
                                      <p:tavLst>
                                        <p:tav tm="0">
                                          <p:val>
                                            <p:strVal val="#ppt_x"/>
                                          </p:val>
                                        </p:tav>
                                        <p:tav tm="100000">
                                          <p:val>
                                            <p:strVal val="#ppt_x"/>
                                          </p:val>
                                        </p:tav>
                                      </p:tavLst>
                                    </p:anim>
                                    <p:anim calcmode="lin" valueType="num">
                                      <p:cBhvr>
                                        <p:cTn id="65" dur="450" decel="100000" fill="hold"/>
                                        <p:tgtEl>
                                          <p:spTgt spid="15"/>
                                        </p:tgtEl>
                                        <p:attrNameLst>
                                          <p:attrName>ppt_y</p:attrName>
                                        </p:attrNameLst>
                                      </p:cBhvr>
                                      <p:tavLst>
                                        <p:tav tm="0">
                                          <p:val>
                                            <p:strVal val="#ppt_y+.05"/>
                                          </p:val>
                                        </p:tav>
                                        <p:tav tm="100000">
                                          <p:val>
                                            <p:strVal val="#ppt_y"/>
                                          </p:val>
                                        </p:tav>
                                      </p:tavLst>
                                    </p:anim>
                                  </p:childTnLst>
                                </p:cTn>
                              </p:par>
                              <p:par>
                                <p:cTn id="66" presetID="42" presetClass="entr" presetSubtype="0" fill="hold" grpId="0" nodeType="withEffect">
                                  <p:stCondLst>
                                    <p:cond delay="45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450"/>
                                        <p:tgtEl>
                                          <p:spTgt spid="16"/>
                                        </p:tgtEl>
                                      </p:cBhvr>
                                    </p:animEffect>
                                    <p:anim calcmode="lin" valueType="num">
                                      <p:cBhvr>
                                        <p:cTn id="69" dur="450" decel="100000" fill="hold"/>
                                        <p:tgtEl>
                                          <p:spTgt spid="16"/>
                                        </p:tgtEl>
                                        <p:attrNameLst>
                                          <p:attrName>ppt_x</p:attrName>
                                        </p:attrNameLst>
                                      </p:cBhvr>
                                      <p:tavLst>
                                        <p:tav tm="0">
                                          <p:val>
                                            <p:strVal val="#ppt_x"/>
                                          </p:val>
                                        </p:tav>
                                        <p:tav tm="100000">
                                          <p:val>
                                            <p:strVal val="#ppt_x"/>
                                          </p:val>
                                        </p:tav>
                                      </p:tavLst>
                                    </p:anim>
                                    <p:anim calcmode="lin" valueType="num">
                                      <p:cBhvr>
                                        <p:cTn id="70" dur="450" decel="100000" fill="hold"/>
                                        <p:tgtEl>
                                          <p:spTgt spid="16"/>
                                        </p:tgtEl>
                                        <p:attrNameLst>
                                          <p:attrName>ppt_y</p:attrName>
                                        </p:attrNameLst>
                                      </p:cBhvr>
                                      <p:tavLst>
                                        <p:tav tm="0">
                                          <p:val>
                                            <p:strVal val="#ppt_y+.05"/>
                                          </p:val>
                                        </p:tav>
                                        <p:tav tm="100000">
                                          <p:val>
                                            <p:strVal val="#ppt_y"/>
                                          </p:val>
                                        </p:tav>
                                      </p:tavLst>
                                    </p:anim>
                                  </p:childTnLst>
                                </p:cTn>
                              </p:par>
                              <p:par>
                                <p:cTn id="71" presetID="42" presetClass="entr" presetSubtype="0" fill="hold" grpId="0" nodeType="withEffect">
                                  <p:stCondLst>
                                    <p:cond delay="45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450"/>
                                        <p:tgtEl>
                                          <p:spTgt spid="17"/>
                                        </p:tgtEl>
                                      </p:cBhvr>
                                    </p:animEffect>
                                    <p:anim calcmode="lin" valueType="num">
                                      <p:cBhvr>
                                        <p:cTn id="74" dur="450" decel="100000" fill="hold"/>
                                        <p:tgtEl>
                                          <p:spTgt spid="17"/>
                                        </p:tgtEl>
                                        <p:attrNameLst>
                                          <p:attrName>ppt_x</p:attrName>
                                        </p:attrNameLst>
                                      </p:cBhvr>
                                      <p:tavLst>
                                        <p:tav tm="0">
                                          <p:val>
                                            <p:strVal val="#ppt_x"/>
                                          </p:val>
                                        </p:tav>
                                        <p:tav tm="100000">
                                          <p:val>
                                            <p:strVal val="#ppt_x"/>
                                          </p:val>
                                        </p:tav>
                                      </p:tavLst>
                                    </p:anim>
                                    <p:anim calcmode="lin" valueType="num">
                                      <p:cBhvr>
                                        <p:cTn id="75" dur="450" decel="100000" fill="hold"/>
                                        <p:tgtEl>
                                          <p:spTgt spid="17"/>
                                        </p:tgtEl>
                                        <p:attrNameLst>
                                          <p:attrName>ppt_y</p:attrName>
                                        </p:attrNameLst>
                                      </p:cBhvr>
                                      <p:tavLst>
                                        <p:tav tm="0">
                                          <p:val>
                                            <p:strVal val="#ppt_y+.05"/>
                                          </p:val>
                                        </p:tav>
                                        <p:tav tm="100000">
                                          <p:val>
                                            <p:strVal val="#ppt_y"/>
                                          </p:val>
                                        </p:tav>
                                      </p:tavLst>
                                    </p:anim>
                                  </p:childTnLst>
                                </p:cTn>
                              </p:par>
                              <p:par>
                                <p:cTn id="76" presetID="42" presetClass="entr" presetSubtype="0" fill="hold" grpId="0" nodeType="withEffect">
                                  <p:stCondLst>
                                    <p:cond delay="45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50"/>
                                        <p:tgtEl>
                                          <p:spTgt spid="18"/>
                                        </p:tgtEl>
                                      </p:cBhvr>
                                    </p:animEffect>
                                    <p:anim calcmode="lin" valueType="num">
                                      <p:cBhvr>
                                        <p:cTn id="79" dur="450" decel="100000" fill="hold"/>
                                        <p:tgtEl>
                                          <p:spTgt spid="18"/>
                                        </p:tgtEl>
                                        <p:attrNameLst>
                                          <p:attrName>ppt_x</p:attrName>
                                        </p:attrNameLst>
                                      </p:cBhvr>
                                      <p:tavLst>
                                        <p:tav tm="0">
                                          <p:val>
                                            <p:strVal val="#ppt_x"/>
                                          </p:val>
                                        </p:tav>
                                        <p:tav tm="100000">
                                          <p:val>
                                            <p:strVal val="#ppt_x"/>
                                          </p:val>
                                        </p:tav>
                                      </p:tavLst>
                                    </p:anim>
                                    <p:anim calcmode="lin" valueType="num">
                                      <p:cBhvr>
                                        <p:cTn id="80" dur="450" decel="100000" fill="hold"/>
                                        <p:tgtEl>
                                          <p:spTgt spid="18"/>
                                        </p:tgtEl>
                                        <p:attrNameLst>
                                          <p:attrName>ppt_y</p:attrName>
                                        </p:attrNameLst>
                                      </p:cBhvr>
                                      <p:tavLst>
                                        <p:tav tm="0">
                                          <p:val>
                                            <p:strVal val="#ppt_y+.05"/>
                                          </p:val>
                                        </p:tav>
                                        <p:tav tm="100000">
                                          <p:val>
                                            <p:strVal val="#ppt_y"/>
                                          </p:val>
                                        </p:tav>
                                      </p:tavLst>
                                    </p:anim>
                                  </p:childTnLst>
                                </p:cTn>
                              </p:par>
                            </p:childTnLst>
                          </p:cTn>
                        </p:par>
                        <p:par>
                          <p:cTn id="81" fill="hold">
                            <p:stCondLst>
                              <p:cond delay="1650"/>
                            </p:stCondLst>
                            <p:childTnLst>
                              <p:par>
                                <p:cTn id="82" presetID="42" presetClass="entr" presetSubtype="0" fill="hold" grpId="0" nodeType="afterEffect">
                                  <p:stCondLst>
                                    <p:cond delay="45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450"/>
                                        <p:tgtEl>
                                          <p:spTgt spid="19"/>
                                        </p:tgtEl>
                                      </p:cBhvr>
                                    </p:animEffect>
                                    <p:anim calcmode="lin" valueType="num">
                                      <p:cBhvr>
                                        <p:cTn id="85" dur="450" decel="100000" fill="hold"/>
                                        <p:tgtEl>
                                          <p:spTgt spid="19"/>
                                        </p:tgtEl>
                                        <p:attrNameLst>
                                          <p:attrName>ppt_x</p:attrName>
                                        </p:attrNameLst>
                                      </p:cBhvr>
                                      <p:tavLst>
                                        <p:tav tm="0">
                                          <p:val>
                                            <p:strVal val="#ppt_x"/>
                                          </p:val>
                                        </p:tav>
                                        <p:tav tm="100000">
                                          <p:val>
                                            <p:strVal val="#ppt_x"/>
                                          </p:val>
                                        </p:tav>
                                      </p:tavLst>
                                    </p:anim>
                                    <p:anim calcmode="lin" valueType="num">
                                      <p:cBhvr>
                                        <p:cTn id="86" dur="450" decel="100000" fill="hold"/>
                                        <p:tgtEl>
                                          <p:spTgt spid="19"/>
                                        </p:tgtEl>
                                        <p:attrNameLst>
                                          <p:attrName>ppt_y</p:attrName>
                                        </p:attrNameLst>
                                      </p:cBhvr>
                                      <p:tavLst>
                                        <p:tav tm="0">
                                          <p:val>
                                            <p:strVal val="#ppt_y+.05"/>
                                          </p:val>
                                        </p:tav>
                                        <p:tav tm="100000">
                                          <p:val>
                                            <p:strVal val="#ppt_y"/>
                                          </p:val>
                                        </p:tav>
                                      </p:tavLst>
                                    </p:anim>
                                  </p:childTnLst>
                                </p:cTn>
                              </p:par>
                              <p:par>
                                <p:cTn id="87" presetID="42" presetClass="entr" presetSubtype="0" fill="hold" grpId="0" nodeType="withEffect">
                                  <p:stCondLst>
                                    <p:cond delay="45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450"/>
                                        <p:tgtEl>
                                          <p:spTgt spid="20"/>
                                        </p:tgtEl>
                                      </p:cBhvr>
                                    </p:animEffect>
                                    <p:anim calcmode="lin" valueType="num">
                                      <p:cBhvr>
                                        <p:cTn id="90" dur="450" decel="100000" fill="hold"/>
                                        <p:tgtEl>
                                          <p:spTgt spid="20"/>
                                        </p:tgtEl>
                                        <p:attrNameLst>
                                          <p:attrName>ppt_x</p:attrName>
                                        </p:attrNameLst>
                                      </p:cBhvr>
                                      <p:tavLst>
                                        <p:tav tm="0">
                                          <p:val>
                                            <p:strVal val="#ppt_x"/>
                                          </p:val>
                                        </p:tav>
                                        <p:tav tm="100000">
                                          <p:val>
                                            <p:strVal val="#ppt_x"/>
                                          </p:val>
                                        </p:tav>
                                      </p:tavLst>
                                    </p:anim>
                                    <p:anim calcmode="lin" valueType="num">
                                      <p:cBhvr>
                                        <p:cTn id="91" dur="450" decel="100000" fill="hold"/>
                                        <p:tgtEl>
                                          <p:spTgt spid="20"/>
                                        </p:tgtEl>
                                        <p:attrNameLst>
                                          <p:attrName>ppt_y</p:attrName>
                                        </p:attrNameLst>
                                      </p:cBhvr>
                                      <p:tavLst>
                                        <p:tav tm="0">
                                          <p:val>
                                            <p:strVal val="#ppt_y+.05"/>
                                          </p:val>
                                        </p:tav>
                                        <p:tav tm="100000">
                                          <p:val>
                                            <p:strVal val="#ppt_y"/>
                                          </p:val>
                                        </p:tav>
                                      </p:tavLst>
                                    </p:anim>
                                  </p:childTnLst>
                                </p:cTn>
                              </p:par>
                              <p:par>
                                <p:cTn id="92" presetID="42" presetClass="entr" presetSubtype="0" fill="hold" grpId="0" nodeType="withEffect">
                                  <p:stCondLst>
                                    <p:cond delay="45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450"/>
                                        <p:tgtEl>
                                          <p:spTgt spid="21"/>
                                        </p:tgtEl>
                                      </p:cBhvr>
                                    </p:animEffect>
                                    <p:anim calcmode="lin" valueType="num">
                                      <p:cBhvr>
                                        <p:cTn id="95" dur="450" decel="100000" fill="hold"/>
                                        <p:tgtEl>
                                          <p:spTgt spid="21"/>
                                        </p:tgtEl>
                                        <p:attrNameLst>
                                          <p:attrName>ppt_x</p:attrName>
                                        </p:attrNameLst>
                                      </p:cBhvr>
                                      <p:tavLst>
                                        <p:tav tm="0">
                                          <p:val>
                                            <p:strVal val="#ppt_x"/>
                                          </p:val>
                                        </p:tav>
                                        <p:tav tm="100000">
                                          <p:val>
                                            <p:strVal val="#ppt_x"/>
                                          </p:val>
                                        </p:tav>
                                      </p:tavLst>
                                    </p:anim>
                                    <p:anim calcmode="lin" valueType="num">
                                      <p:cBhvr>
                                        <p:cTn id="96" dur="450" decel="100000" fill="hold"/>
                                        <p:tgtEl>
                                          <p:spTgt spid="21"/>
                                        </p:tgtEl>
                                        <p:attrNameLst>
                                          <p:attrName>ppt_y</p:attrName>
                                        </p:attrNameLst>
                                      </p:cBhvr>
                                      <p:tavLst>
                                        <p:tav tm="0">
                                          <p:val>
                                            <p:strVal val="#ppt_y+.05"/>
                                          </p:val>
                                        </p:tav>
                                        <p:tav tm="100000">
                                          <p:val>
                                            <p:strVal val="#ppt_y"/>
                                          </p:val>
                                        </p:tav>
                                      </p:tavLst>
                                    </p:anim>
                                  </p:childTnLst>
                                </p:cTn>
                              </p:par>
                              <p:par>
                                <p:cTn id="97" presetID="42" presetClass="entr" presetSubtype="0" fill="hold" nodeType="withEffect">
                                  <p:stCondLst>
                                    <p:cond delay="45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450"/>
                                        <p:tgtEl>
                                          <p:spTgt spid="22"/>
                                        </p:tgtEl>
                                      </p:cBhvr>
                                    </p:animEffect>
                                    <p:anim calcmode="lin" valueType="num">
                                      <p:cBhvr>
                                        <p:cTn id="100" dur="450" decel="100000" fill="hold"/>
                                        <p:tgtEl>
                                          <p:spTgt spid="22"/>
                                        </p:tgtEl>
                                        <p:attrNameLst>
                                          <p:attrName>ppt_x</p:attrName>
                                        </p:attrNameLst>
                                      </p:cBhvr>
                                      <p:tavLst>
                                        <p:tav tm="0">
                                          <p:val>
                                            <p:strVal val="#ppt_x"/>
                                          </p:val>
                                        </p:tav>
                                        <p:tav tm="100000">
                                          <p:val>
                                            <p:strVal val="#ppt_x"/>
                                          </p:val>
                                        </p:tav>
                                      </p:tavLst>
                                    </p:anim>
                                    <p:anim calcmode="lin" valueType="num">
                                      <p:cBhvr>
                                        <p:cTn id="101" dur="450" decel="100000" fill="hold"/>
                                        <p:tgtEl>
                                          <p:spTgt spid="22"/>
                                        </p:tgtEl>
                                        <p:attrNameLst>
                                          <p:attrName>ppt_y</p:attrName>
                                        </p:attrNameLst>
                                      </p:cBhvr>
                                      <p:tavLst>
                                        <p:tav tm="0">
                                          <p:val>
                                            <p:strVal val="#ppt_y+.05"/>
                                          </p:val>
                                        </p:tav>
                                        <p:tav tm="100000">
                                          <p:val>
                                            <p:strVal val="#ppt_y"/>
                                          </p:val>
                                        </p:tav>
                                      </p:tavLst>
                                    </p:anim>
                                  </p:childTnLst>
                                </p:cTn>
                              </p:par>
                              <p:par>
                                <p:cTn id="102" presetID="42" presetClass="entr" presetSubtype="0" fill="hold" grpId="0" nodeType="withEffect">
                                  <p:stCondLst>
                                    <p:cond delay="45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450"/>
                                        <p:tgtEl>
                                          <p:spTgt spid="23"/>
                                        </p:tgtEl>
                                      </p:cBhvr>
                                    </p:animEffect>
                                    <p:anim calcmode="lin" valueType="num">
                                      <p:cBhvr>
                                        <p:cTn id="105" dur="450" decel="100000" fill="hold"/>
                                        <p:tgtEl>
                                          <p:spTgt spid="23"/>
                                        </p:tgtEl>
                                        <p:attrNameLst>
                                          <p:attrName>ppt_x</p:attrName>
                                        </p:attrNameLst>
                                      </p:cBhvr>
                                      <p:tavLst>
                                        <p:tav tm="0">
                                          <p:val>
                                            <p:strVal val="#ppt_x"/>
                                          </p:val>
                                        </p:tav>
                                        <p:tav tm="100000">
                                          <p:val>
                                            <p:strVal val="#ppt_x"/>
                                          </p:val>
                                        </p:tav>
                                      </p:tavLst>
                                    </p:anim>
                                    <p:anim calcmode="lin" valueType="num">
                                      <p:cBhvr>
                                        <p:cTn id="106" dur="450" decel="100000" fill="hold"/>
                                        <p:tgtEl>
                                          <p:spTgt spid="23"/>
                                        </p:tgtEl>
                                        <p:attrNameLst>
                                          <p:attrName>ppt_y</p:attrName>
                                        </p:attrNameLst>
                                      </p:cBhvr>
                                      <p:tavLst>
                                        <p:tav tm="0">
                                          <p:val>
                                            <p:strVal val="#ppt_y+.05"/>
                                          </p:val>
                                        </p:tav>
                                        <p:tav tm="100000">
                                          <p:val>
                                            <p:strVal val="#ppt_y"/>
                                          </p:val>
                                        </p:tav>
                                      </p:tavLst>
                                    </p:anim>
                                  </p:childTnLst>
                                </p:cTn>
                              </p:par>
                              <p:par>
                                <p:cTn id="107" presetID="42" presetClass="entr" presetSubtype="0" fill="hold" grpId="0" nodeType="withEffect">
                                  <p:stCondLst>
                                    <p:cond delay="45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450"/>
                                        <p:tgtEl>
                                          <p:spTgt spid="24"/>
                                        </p:tgtEl>
                                      </p:cBhvr>
                                    </p:animEffect>
                                    <p:anim calcmode="lin" valueType="num">
                                      <p:cBhvr>
                                        <p:cTn id="110" dur="450" decel="100000" fill="hold"/>
                                        <p:tgtEl>
                                          <p:spTgt spid="24"/>
                                        </p:tgtEl>
                                        <p:attrNameLst>
                                          <p:attrName>ppt_x</p:attrName>
                                        </p:attrNameLst>
                                      </p:cBhvr>
                                      <p:tavLst>
                                        <p:tav tm="0">
                                          <p:val>
                                            <p:strVal val="#ppt_x"/>
                                          </p:val>
                                        </p:tav>
                                        <p:tav tm="100000">
                                          <p:val>
                                            <p:strVal val="#ppt_x"/>
                                          </p:val>
                                        </p:tav>
                                      </p:tavLst>
                                    </p:anim>
                                    <p:anim calcmode="lin" valueType="num">
                                      <p:cBhvr>
                                        <p:cTn id="111" dur="450" decel="100000" fill="hold"/>
                                        <p:tgtEl>
                                          <p:spTgt spid="24"/>
                                        </p:tgtEl>
                                        <p:attrNameLst>
                                          <p:attrName>ppt_y</p:attrName>
                                        </p:attrNameLst>
                                      </p:cBhvr>
                                      <p:tavLst>
                                        <p:tav tm="0">
                                          <p:val>
                                            <p:strVal val="#ppt_y+.05"/>
                                          </p:val>
                                        </p:tav>
                                        <p:tav tm="100000">
                                          <p:val>
                                            <p:strVal val="#ppt_y"/>
                                          </p:val>
                                        </p:tav>
                                      </p:tavLst>
                                    </p:anim>
                                  </p:childTnLst>
                                </p:cTn>
                              </p:par>
                              <p:par>
                                <p:cTn id="112" presetID="42" presetClass="entr" presetSubtype="0" fill="hold" grpId="0" nodeType="withEffect">
                                  <p:stCondLst>
                                    <p:cond delay="45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450"/>
                                        <p:tgtEl>
                                          <p:spTgt spid="25"/>
                                        </p:tgtEl>
                                      </p:cBhvr>
                                    </p:animEffect>
                                    <p:anim calcmode="lin" valueType="num">
                                      <p:cBhvr>
                                        <p:cTn id="115" dur="450" decel="100000" fill="hold"/>
                                        <p:tgtEl>
                                          <p:spTgt spid="25"/>
                                        </p:tgtEl>
                                        <p:attrNameLst>
                                          <p:attrName>ppt_x</p:attrName>
                                        </p:attrNameLst>
                                      </p:cBhvr>
                                      <p:tavLst>
                                        <p:tav tm="0">
                                          <p:val>
                                            <p:strVal val="#ppt_x"/>
                                          </p:val>
                                        </p:tav>
                                        <p:tav tm="100000">
                                          <p:val>
                                            <p:strVal val="#ppt_x"/>
                                          </p:val>
                                        </p:tav>
                                      </p:tavLst>
                                    </p:anim>
                                    <p:anim calcmode="lin" valueType="num">
                                      <p:cBhvr>
                                        <p:cTn id="116" dur="450" decel="100000" fill="hold"/>
                                        <p:tgtEl>
                                          <p:spTgt spid="25"/>
                                        </p:tgtEl>
                                        <p:attrNameLst>
                                          <p:attrName>ppt_y</p:attrName>
                                        </p:attrNameLst>
                                      </p:cBhvr>
                                      <p:tavLst>
                                        <p:tav tm="0">
                                          <p:val>
                                            <p:strVal val="#ppt_y+.05"/>
                                          </p:val>
                                        </p:tav>
                                        <p:tav tm="100000">
                                          <p:val>
                                            <p:strVal val="#ppt_y"/>
                                          </p:val>
                                        </p:tav>
                                      </p:tavLst>
                                    </p:anim>
                                  </p:childTnLst>
                                </p:cTn>
                              </p:par>
                              <p:par>
                                <p:cTn id="117" presetID="42" presetClass="entr" presetSubtype="0" fill="hold" nodeType="withEffect">
                                  <p:stCondLst>
                                    <p:cond delay="45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450"/>
                                        <p:tgtEl>
                                          <p:spTgt spid="26"/>
                                        </p:tgtEl>
                                      </p:cBhvr>
                                    </p:animEffect>
                                    <p:anim calcmode="lin" valueType="num">
                                      <p:cBhvr>
                                        <p:cTn id="120" dur="450" decel="100000" fill="hold"/>
                                        <p:tgtEl>
                                          <p:spTgt spid="26"/>
                                        </p:tgtEl>
                                        <p:attrNameLst>
                                          <p:attrName>ppt_x</p:attrName>
                                        </p:attrNameLst>
                                      </p:cBhvr>
                                      <p:tavLst>
                                        <p:tav tm="0">
                                          <p:val>
                                            <p:strVal val="#ppt_x"/>
                                          </p:val>
                                        </p:tav>
                                        <p:tav tm="100000">
                                          <p:val>
                                            <p:strVal val="#ppt_x"/>
                                          </p:val>
                                        </p:tav>
                                      </p:tavLst>
                                    </p:anim>
                                    <p:anim calcmode="lin" valueType="num">
                                      <p:cBhvr>
                                        <p:cTn id="121" dur="450" decel="100000" fill="hold"/>
                                        <p:tgtEl>
                                          <p:spTgt spid="26"/>
                                        </p:tgtEl>
                                        <p:attrNameLst>
                                          <p:attrName>ppt_y</p:attrName>
                                        </p:attrNameLst>
                                      </p:cBhvr>
                                      <p:tavLst>
                                        <p:tav tm="0">
                                          <p:val>
                                            <p:strVal val="#ppt_y+.05"/>
                                          </p:val>
                                        </p:tav>
                                        <p:tav tm="100000">
                                          <p:val>
                                            <p:strVal val="#ppt_y"/>
                                          </p:val>
                                        </p:tav>
                                      </p:tavLst>
                                    </p:anim>
                                  </p:childTnLst>
                                </p:cTn>
                              </p:par>
                              <p:par>
                                <p:cTn id="122" presetID="42" presetClass="entr" presetSubtype="0" fill="hold" grpId="0" nodeType="withEffect">
                                  <p:stCondLst>
                                    <p:cond delay="45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450"/>
                                        <p:tgtEl>
                                          <p:spTgt spid="27"/>
                                        </p:tgtEl>
                                      </p:cBhvr>
                                    </p:animEffect>
                                    <p:anim calcmode="lin" valueType="num">
                                      <p:cBhvr>
                                        <p:cTn id="125" dur="450" decel="100000" fill="hold"/>
                                        <p:tgtEl>
                                          <p:spTgt spid="27"/>
                                        </p:tgtEl>
                                        <p:attrNameLst>
                                          <p:attrName>ppt_x</p:attrName>
                                        </p:attrNameLst>
                                      </p:cBhvr>
                                      <p:tavLst>
                                        <p:tav tm="0">
                                          <p:val>
                                            <p:strVal val="#ppt_x"/>
                                          </p:val>
                                        </p:tav>
                                        <p:tav tm="100000">
                                          <p:val>
                                            <p:strVal val="#ppt_x"/>
                                          </p:val>
                                        </p:tav>
                                      </p:tavLst>
                                    </p:anim>
                                    <p:anim calcmode="lin" valueType="num">
                                      <p:cBhvr>
                                        <p:cTn id="126" dur="450" decel="100000" fill="hold"/>
                                        <p:tgtEl>
                                          <p:spTgt spid="27"/>
                                        </p:tgtEl>
                                        <p:attrNameLst>
                                          <p:attrName>ppt_y</p:attrName>
                                        </p:attrNameLst>
                                      </p:cBhvr>
                                      <p:tavLst>
                                        <p:tav tm="0">
                                          <p:val>
                                            <p:strVal val="#ppt_y+.05"/>
                                          </p:val>
                                        </p:tav>
                                        <p:tav tm="100000">
                                          <p:val>
                                            <p:strVal val="#ppt_y"/>
                                          </p:val>
                                        </p:tav>
                                      </p:tavLst>
                                    </p:anim>
                                  </p:childTnLst>
                                </p:cTn>
                              </p:par>
                              <p:par>
                                <p:cTn id="127" presetID="42" presetClass="entr" presetSubtype="0" fill="hold" grpId="0" nodeType="withEffect">
                                  <p:stCondLst>
                                    <p:cond delay="45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450"/>
                                        <p:tgtEl>
                                          <p:spTgt spid="28"/>
                                        </p:tgtEl>
                                      </p:cBhvr>
                                    </p:animEffect>
                                    <p:anim calcmode="lin" valueType="num">
                                      <p:cBhvr>
                                        <p:cTn id="130" dur="450" decel="100000" fill="hold"/>
                                        <p:tgtEl>
                                          <p:spTgt spid="28"/>
                                        </p:tgtEl>
                                        <p:attrNameLst>
                                          <p:attrName>ppt_x</p:attrName>
                                        </p:attrNameLst>
                                      </p:cBhvr>
                                      <p:tavLst>
                                        <p:tav tm="0">
                                          <p:val>
                                            <p:strVal val="#ppt_x"/>
                                          </p:val>
                                        </p:tav>
                                        <p:tav tm="100000">
                                          <p:val>
                                            <p:strVal val="#ppt_x"/>
                                          </p:val>
                                        </p:tav>
                                      </p:tavLst>
                                    </p:anim>
                                    <p:anim calcmode="lin" valueType="num">
                                      <p:cBhvr>
                                        <p:cTn id="131" dur="450" decel="100000" fill="hold"/>
                                        <p:tgtEl>
                                          <p:spTgt spid="28"/>
                                        </p:tgtEl>
                                        <p:attrNameLst>
                                          <p:attrName>ppt_y</p:attrName>
                                        </p:attrNameLst>
                                      </p:cBhvr>
                                      <p:tavLst>
                                        <p:tav tm="0">
                                          <p:val>
                                            <p:strVal val="#ppt_y+.05"/>
                                          </p:val>
                                        </p:tav>
                                        <p:tav tm="100000">
                                          <p:val>
                                            <p:strVal val="#ppt_y"/>
                                          </p:val>
                                        </p:tav>
                                      </p:tavLst>
                                    </p:anim>
                                  </p:childTnLst>
                                </p:cTn>
                              </p:par>
                              <p:par>
                                <p:cTn id="132" presetID="42" presetClass="entr" presetSubtype="0" fill="hold" grpId="0" nodeType="withEffect">
                                  <p:stCondLst>
                                    <p:cond delay="450"/>
                                  </p:stCondLst>
                                  <p:childTnLst>
                                    <p:set>
                                      <p:cBhvr>
                                        <p:cTn id="133" dur="1" fill="hold">
                                          <p:stCondLst>
                                            <p:cond delay="0"/>
                                          </p:stCondLst>
                                        </p:cTn>
                                        <p:tgtEl>
                                          <p:spTgt spid="29"/>
                                        </p:tgtEl>
                                        <p:attrNameLst>
                                          <p:attrName>style.visibility</p:attrName>
                                        </p:attrNameLst>
                                      </p:cBhvr>
                                      <p:to>
                                        <p:strVal val="visible"/>
                                      </p:to>
                                    </p:set>
                                    <p:animEffect transition="in" filter="fade">
                                      <p:cBhvr>
                                        <p:cTn id="134" dur="450"/>
                                        <p:tgtEl>
                                          <p:spTgt spid="29"/>
                                        </p:tgtEl>
                                      </p:cBhvr>
                                    </p:animEffect>
                                    <p:anim calcmode="lin" valueType="num">
                                      <p:cBhvr>
                                        <p:cTn id="135" dur="450" decel="100000" fill="hold"/>
                                        <p:tgtEl>
                                          <p:spTgt spid="29"/>
                                        </p:tgtEl>
                                        <p:attrNameLst>
                                          <p:attrName>ppt_x</p:attrName>
                                        </p:attrNameLst>
                                      </p:cBhvr>
                                      <p:tavLst>
                                        <p:tav tm="0">
                                          <p:val>
                                            <p:strVal val="#ppt_x"/>
                                          </p:val>
                                        </p:tav>
                                        <p:tav tm="100000">
                                          <p:val>
                                            <p:strVal val="#ppt_x"/>
                                          </p:val>
                                        </p:tav>
                                      </p:tavLst>
                                    </p:anim>
                                    <p:anim calcmode="lin" valueType="num">
                                      <p:cBhvr>
                                        <p:cTn id="136" dur="450" decel="100000" fill="hold"/>
                                        <p:tgtEl>
                                          <p:spTgt spid="29"/>
                                        </p:tgtEl>
                                        <p:attrNameLst>
                                          <p:attrName>ppt_y</p:attrName>
                                        </p:attrNameLst>
                                      </p:cBhvr>
                                      <p:tavLst>
                                        <p:tav tm="0">
                                          <p:val>
                                            <p:strVal val="#ppt_y+.05"/>
                                          </p:val>
                                        </p:tav>
                                        <p:tav tm="100000">
                                          <p:val>
                                            <p:strVal val="#ppt_y"/>
                                          </p:val>
                                        </p:tav>
                                      </p:tavLst>
                                    </p:anim>
                                  </p:childTnLst>
                                </p:cTn>
                              </p:par>
                              <p:par>
                                <p:cTn id="137" presetID="42" presetClass="entr" presetSubtype="0" fill="hold" nodeType="withEffect">
                                  <p:stCondLst>
                                    <p:cond delay="450"/>
                                  </p:stCondLst>
                                  <p:childTnLst>
                                    <p:set>
                                      <p:cBhvr>
                                        <p:cTn id="138" dur="1" fill="hold">
                                          <p:stCondLst>
                                            <p:cond delay="0"/>
                                          </p:stCondLst>
                                        </p:cTn>
                                        <p:tgtEl>
                                          <p:spTgt spid="30"/>
                                        </p:tgtEl>
                                        <p:attrNameLst>
                                          <p:attrName>style.visibility</p:attrName>
                                        </p:attrNameLst>
                                      </p:cBhvr>
                                      <p:to>
                                        <p:strVal val="visible"/>
                                      </p:to>
                                    </p:set>
                                    <p:animEffect transition="in" filter="fade">
                                      <p:cBhvr>
                                        <p:cTn id="139" dur="450"/>
                                        <p:tgtEl>
                                          <p:spTgt spid="30"/>
                                        </p:tgtEl>
                                      </p:cBhvr>
                                    </p:animEffect>
                                    <p:anim calcmode="lin" valueType="num">
                                      <p:cBhvr>
                                        <p:cTn id="140" dur="450" decel="100000" fill="hold"/>
                                        <p:tgtEl>
                                          <p:spTgt spid="30"/>
                                        </p:tgtEl>
                                        <p:attrNameLst>
                                          <p:attrName>ppt_x</p:attrName>
                                        </p:attrNameLst>
                                      </p:cBhvr>
                                      <p:tavLst>
                                        <p:tav tm="0">
                                          <p:val>
                                            <p:strVal val="#ppt_x"/>
                                          </p:val>
                                        </p:tav>
                                        <p:tav tm="100000">
                                          <p:val>
                                            <p:strVal val="#ppt_x"/>
                                          </p:val>
                                        </p:tav>
                                      </p:tavLst>
                                    </p:anim>
                                    <p:anim calcmode="lin" valueType="num">
                                      <p:cBhvr>
                                        <p:cTn id="141" dur="450" decel="100000" fill="hold"/>
                                        <p:tgtEl>
                                          <p:spTgt spid="30"/>
                                        </p:tgtEl>
                                        <p:attrNameLst>
                                          <p:attrName>ppt_y</p:attrName>
                                        </p:attrNameLst>
                                      </p:cBhvr>
                                      <p:tavLst>
                                        <p:tav tm="0">
                                          <p:val>
                                            <p:strVal val="#ppt_y+.05"/>
                                          </p:val>
                                        </p:tav>
                                        <p:tav tm="100000">
                                          <p:val>
                                            <p:strVal val="#ppt_y"/>
                                          </p:val>
                                        </p:tav>
                                      </p:tavLst>
                                    </p:anim>
                                  </p:childTnLst>
                                </p:cTn>
                              </p:par>
                              <p:par>
                                <p:cTn id="142" presetID="42" presetClass="entr" presetSubtype="0" fill="hold" grpId="0" nodeType="withEffect">
                                  <p:stCondLst>
                                    <p:cond delay="450"/>
                                  </p:stCondLst>
                                  <p:childTnLst>
                                    <p:set>
                                      <p:cBhvr>
                                        <p:cTn id="143" dur="1" fill="hold">
                                          <p:stCondLst>
                                            <p:cond delay="0"/>
                                          </p:stCondLst>
                                        </p:cTn>
                                        <p:tgtEl>
                                          <p:spTgt spid="31"/>
                                        </p:tgtEl>
                                        <p:attrNameLst>
                                          <p:attrName>style.visibility</p:attrName>
                                        </p:attrNameLst>
                                      </p:cBhvr>
                                      <p:to>
                                        <p:strVal val="visible"/>
                                      </p:to>
                                    </p:set>
                                    <p:animEffect transition="in" filter="fade">
                                      <p:cBhvr>
                                        <p:cTn id="144" dur="450"/>
                                        <p:tgtEl>
                                          <p:spTgt spid="31"/>
                                        </p:tgtEl>
                                      </p:cBhvr>
                                    </p:animEffect>
                                    <p:anim calcmode="lin" valueType="num">
                                      <p:cBhvr>
                                        <p:cTn id="145" dur="450" decel="100000" fill="hold"/>
                                        <p:tgtEl>
                                          <p:spTgt spid="31"/>
                                        </p:tgtEl>
                                        <p:attrNameLst>
                                          <p:attrName>ppt_x</p:attrName>
                                        </p:attrNameLst>
                                      </p:cBhvr>
                                      <p:tavLst>
                                        <p:tav tm="0">
                                          <p:val>
                                            <p:strVal val="#ppt_x"/>
                                          </p:val>
                                        </p:tav>
                                        <p:tav tm="100000">
                                          <p:val>
                                            <p:strVal val="#ppt_x"/>
                                          </p:val>
                                        </p:tav>
                                      </p:tavLst>
                                    </p:anim>
                                    <p:anim calcmode="lin" valueType="num">
                                      <p:cBhvr>
                                        <p:cTn id="146" dur="450" decel="100000" fill="hold"/>
                                        <p:tgtEl>
                                          <p:spTgt spid="31"/>
                                        </p:tgtEl>
                                        <p:attrNameLst>
                                          <p:attrName>ppt_y</p:attrName>
                                        </p:attrNameLst>
                                      </p:cBhvr>
                                      <p:tavLst>
                                        <p:tav tm="0">
                                          <p:val>
                                            <p:strVal val="#ppt_y+.05"/>
                                          </p:val>
                                        </p:tav>
                                        <p:tav tm="100000">
                                          <p:val>
                                            <p:strVal val="#ppt_y"/>
                                          </p:val>
                                        </p:tav>
                                      </p:tavLst>
                                    </p:anim>
                                  </p:childTnLst>
                                </p:cTn>
                              </p:par>
                              <p:par>
                                <p:cTn id="147" presetID="42" presetClass="entr" presetSubtype="0" fill="hold" grpId="0" nodeType="withEffect">
                                  <p:stCondLst>
                                    <p:cond delay="450"/>
                                  </p:stCondLst>
                                  <p:childTnLst>
                                    <p:set>
                                      <p:cBhvr>
                                        <p:cTn id="148" dur="1" fill="hold">
                                          <p:stCondLst>
                                            <p:cond delay="0"/>
                                          </p:stCondLst>
                                        </p:cTn>
                                        <p:tgtEl>
                                          <p:spTgt spid="32"/>
                                        </p:tgtEl>
                                        <p:attrNameLst>
                                          <p:attrName>style.visibility</p:attrName>
                                        </p:attrNameLst>
                                      </p:cBhvr>
                                      <p:to>
                                        <p:strVal val="visible"/>
                                      </p:to>
                                    </p:set>
                                    <p:animEffect transition="in" filter="fade">
                                      <p:cBhvr>
                                        <p:cTn id="149" dur="450"/>
                                        <p:tgtEl>
                                          <p:spTgt spid="32"/>
                                        </p:tgtEl>
                                      </p:cBhvr>
                                    </p:animEffect>
                                    <p:anim calcmode="lin" valueType="num">
                                      <p:cBhvr>
                                        <p:cTn id="150" dur="450" decel="100000" fill="hold"/>
                                        <p:tgtEl>
                                          <p:spTgt spid="32"/>
                                        </p:tgtEl>
                                        <p:attrNameLst>
                                          <p:attrName>ppt_x</p:attrName>
                                        </p:attrNameLst>
                                      </p:cBhvr>
                                      <p:tavLst>
                                        <p:tav tm="0">
                                          <p:val>
                                            <p:strVal val="#ppt_x"/>
                                          </p:val>
                                        </p:tav>
                                        <p:tav tm="100000">
                                          <p:val>
                                            <p:strVal val="#ppt_x"/>
                                          </p:val>
                                        </p:tav>
                                      </p:tavLst>
                                    </p:anim>
                                    <p:anim calcmode="lin" valueType="num">
                                      <p:cBhvr>
                                        <p:cTn id="151" dur="450" decel="100000" fill="hold"/>
                                        <p:tgtEl>
                                          <p:spTgt spid="32"/>
                                        </p:tgtEl>
                                        <p:attrNameLst>
                                          <p:attrName>ppt_y</p:attrName>
                                        </p:attrNameLst>
                                      </p:cBhvr>
                                      <p:tavLst>
                                        <p:tav tm="0">
                                          <p:val>
                                            <p:strVal val="#ppt_y+.05"/>
                                          </p:val>
                                        </p:tav>
                                        <p:tav tm="100000">
                                          <p:val>
                                            <p:strVal val="#ppt_y"/>
                                          </p:val>
                                        </p:tav>
                                      </p:tavLst>
                                    </p:anim>
                                  </p:childTnLst>
                                </p:cTn>
                              </p:par>
                              <p:par>
                                <p:cTn id="152" presetID="42" presetClass="entr" presetSubtype="0" fill="hold" grpId="0" nodeType="withEffect">
                                  <p:stCondLst>
                                    <p:cond delay="450"/>
                                  </p:stCondLst>
                                  <p:childTnLst>
                                    <p:set>
                                      <p:cBhvr>
                                        <p:cTn id="153" dur="1" fill="hold">
                                          <p:stCondLst>
                                            <p:cond delay="0"/>
                                          </p:stCondLst>
                                        </p:cTn>
                                        <p:tgtEl>
                                          <p:spTgt spid="33"/>
                                        </p:tgtEl>
                                        <p:attrNameLst>
                                          <p:attrName>style.visibility</p:attrName>
                                        </p:attrNameLst>
                                      </p:cBhvr>
                                      <p:to>
                                        <p:strVal val="visible"/>
                                      </p:to>
                                    </p:set>
                                    <p:animEffect transition="in" filter="fade">
                                      <p:cBhvr>
                                        <p:cTn id="154" dur="450"/>
                                        <p:tgtEl>
                                          <p:spTgt spid="33"/>
                                        </p:tgtEl>
                                      </p:cBhvr>
                                    </p:animEffect>
                                    <p:anim calcmode="lin" valueType="num">
                                      <p:cBhvr>
                                        <p:cTn id="155" dur="450" decel="100000" fill="hold"/>
                                        <p:tgtEl>
                                          <p:spTgt spid="33"/>
                                        </p:tgtEl>
                                        <p:attrNameLst>
                                          <p:attrName>ppt_x</p:attrName>
                                        </p:attrNameLst>
                                      </p:cBhvr>
                                      <p:tavLst>
                                        <p:tav tm="0">
                                          <p:val>
                                            <p:strVal val="#ppt_x"/>
                                          </p:val>
                                        </p:tav>
                                        <p:tav tm="100000">
                                          <p:val>
                                            <p:strVal val="#ppt_x"/>
                                          </p:val>
                                        </p:tav>
                                      </p:tavLst>
                                    </p:anim>
                                    <p:anim calcmode="lin" valueType="num">
                                      <p:cBhvr>
                                        <p:cTn id="156" dur="450" decel="100000" fill="hold"/>
                                        <p:tgtEl>
                                          <p:spTgt spid="33"/>
                                        </p:tgtEl>
                                        <p:attrNameLst>
                                          <p:attrName>ppt_y</p:attrName>
                                        </p:attrNameLst>
                                      </p:cBhvr>
                                      <p:tavLst>
                                        <p:tav tm="0">
                                          <p:val>
                                            <p:strVal val="#ppt_y+.05"/>
                                          </p:val>
                                        </p:tav>
                                        <p:tav tm="100000">
                                          <p:val>
                                            <p:strVal val="#ppt_y"/>
                                          </p:val>
                                        </p:tav>
                                      </p:tavLst>
                                    </p:anim>
                                  </p:childTnLst>
                                </p:cTn>
                              </p:par>
                              <p:par>
                                <p:cTn id="157" presetID="42" presetClass="entr" presetSubtype="0" fill="hold" grpId="0" nodeType="withEffect">
                                  <p:stCondLst>
                                    <p:cond delay="450"/>
                                  </p:stCondLst>
                                  <p:childTnLst>
                                    <p:set>
                                      <p:cBhvr>
                                        <p:cTn id="158" dur="1" fill="hold">
                                          <p:stCondLst>
                                            <p:cond delay="0"/>
                                          </p:stCondLst>
                                        </p:cTn>
                                        <p:tgtEl>
                                          <p:spTgt spid="34"/>
                                        </p:tgtEl>
                                        <p:attrNameLst>
                                          <p:attrName>style.visibility</p:attrName>
                                        </p:attrNameLst>
                                      </p:cBhvr>
                                      <p:to>
                                        <p:strVal val="visible"/>
                                      </p:to>
                                    </p:set>
                                    <p:animEffect transition="in" filter="fade">
                                      <p:cBhvr>
                                        <p:cTn id="159" dur="450"/>
                                        <p:tgtEl>
                                          <p:spTgt spid="34"/>
                                        </p:tgtEl>
                                      </p:cBhvr>
                                    </p:animEffect>
                                    <p:anim calcmode="lin" valueType="num">
                                      <p:cBhvr>
                                        <p:cTn id="160" dur="450" decel="100000" fill="hold"/>
                                        <p:tgtEl>
                                          <p:spTgt spid="34"/>
                                        </p:tgtEl>
                                        <p:attrNameLst>
                                          <p:attrName>ppt_x</p:attrName>
                                        </p:attrNameLst>
                                      </p:cBhvr>
                                      <p:tavLst>
                                        <p:tav tm="0">
                                          <p:val>
                                            <p:strVal val="#ppt_x"/>
                                          </p:val>
                                        </p:tav>
                                        <p:tav tm="100000">
                                          <p:val>
                                            <p:strVal val="#ppt_x"/>
                                          </p:val>
                                        </p:tav>
                                      </p:tavLst>
                                    </p:anim>
                                    <p:anim calcmode="lin" valueType="num">
                                      <p:cBhvr>
                                        <p:cTn id="161" dur="450" decel="100000" fill="hold"/>
                                        <p:tgtEl>
                                          <p:spTgt spid="34"/>
                                        </p:tgtEl>
                                        <p:attrNameLst>
                                          <p:attrName>ppt_y</p:attrName>
                                        </p:attrNameLst>
                                      </p:cBhvr>
                                      <p:tavLst>
                                        <p:tav tm="0">
                                          <p:val>
                                            <p:strVal val="#ppt_y+.05"/>
                                          </p:val>
                                        </p:tav>
                                        <p:tav tm="100000">
                                          <p:val>
                                            <p:strVal val="#ppt_y"/>
                                          </p:val>
                                        </p:tav>
                                      </p:tavLst>
                                    </p:anim>
                                  </p:childTnLst>
                                </p:cTn>
                              </p:par>
                              <p:par>
                                <p:cTn id="162" presetID="42" presetClass="entr" presetSubtype="0" fill="hold" grpId="0" nodeType="withEffect">
                                  <p:stCondLst>
                                    <p:cond delay="450"/>
                                  </p:stCondLst>
                                  <p:childTnLst>
                                    <p:set>
                                      <p:cBhvr>
                                        <p:cTn id="163" dur="1" fill="hold">
                                          <p:stCondLst>
                                            <p:cond delay="0"/>
                                          </p:stCondLst>
                                        </p:cTn>
                                        <p:tgtEl>
                                          <p:spTgt spid="35"/>
                                        </p:tgtEl>
                                        <p:attrNameLst>
                                          <p:attrName>style.visibility</p:attrName>
                                        </p:attrNameLst>
                                      </p:cBhvr>
                                      <p:to>
                                        <p:strVal val="visible"/>
                                      </p:to>
                                    </p:set>
                                    <p:animEffect transition="in" filter="fade">
                                      <p:cBhvr>
                                        <p:cTn id="164" dur="450"/>
                                        <p:tgtEl>
                                          <p:spTgt spid="35"/>
                                        </p:tgtEl>
                                      </p:cBhvr>
                                    </p:animEffect>
                                    <p:anim calcmode="lin" valueType="num">
                                      <p:cBhvr>
                                        <p:cTn id="165" dur="450" decel="100000" fill="hold"/>
                                        <p:tgtEl>
                                          <p:spTgt spid="35"/>
                                        </p:tgtEl>
                                        <p:attrNameLst>
                                          <p:attrName>ppt_x</p:attrName>
                                        </p:attrNameLst>
                                      </p:cBhvr>
                                      <p:tavLst>
                                        <p:tav tm="0">
                                          <p:val>
                                            <p:strVal val="#ppt_x"/>
                                          </p:val>
                                        </p:tav>
                                        <p:tav tm="100000">
                                          <p:val>
                                            <p:strVal val="#ppt_x"/>
                                          </p:val>
                                        </p:tav>
                                      </p:tavLst>
                                    </p:anim>
                                    <p:anim calcmode="lin" valueType="num">
                                      <p:cBhvr>
                                        <p:cTn id="166" dur="450" decel="100000" fill="hold"/>
                                        <p:tgtEl>
                                          <p:spTgt spid="35"/>
                                        </p:tgtEl>
                                        <p:attrNameLst>
                                          <p:attrName>ppt_y</p:attrName>
                                        </p:attrNameLst>
                                      </p:cBhvr>
                                      <p:tavLst>
                                        <p:tav tm="0">
                                          <p:val>
                                            <p:strVal val="#ppt_y+.05"/>
                                          </p:val>
                                        </p:tav>
                                        <p:tav tm="100000">
                                          <p:val>
                                            <p:strVal val="#ppt_y"/>
                                          </p:val>
                                        </p:tav>
                                      </p:tavLst>
                                    </p:anim>
                                  </p:childTnLst>
                                </p:cTn>
                              </p:par>
                            </p:childTnLst>
                          </p:cTn>
                        </p:par>
                        <p:par>
                          <p:cTn id="167" fill="hold">
                            <p:stCondLst>
                              <p:cond delay="2550"/>
                            </p:stCondLst>
                            <p:childTnLst>
                              <p:par>
                                <p:cTn id="168" presetID="42" presetClass="entr" presetSubtype="0" fill="hold" grpId="0" nodeType="afterEffect">
                                  <p:stCondLst>
                                    <p:cond delay="450"/>
                                  </p:stCondLst>
                                  <p:childTnLst>
                                    <p:set>
                                      <p:cBhvr>
                                        <p:cTn id="169" dur="1" fill="hold">
                                          <p:stCondLst>
                                            <p:cond delay="0"/>
                                          </p:stCondLst>
                                        </p:cTn>
                                        <p:tgtEl>
                                          <p:spTgt spid="36"/>
                                        </p:tgtEl>
                                        <p:attrNameLst>
                                          <p:attrName>style.visibility</p:attrName>
                                        </p:attrNameLst>
                                      </p:cBhvr>
                                      <p:to>
                                        <p:strVal val="visible"/>
                                      </p:to>
                                    </p:set>
                                    <p:animEffect transition="in" filter="fade">
                                      <p:cBhvr>
                                        <p:cTn id="170" dur="450"/>
                                        <p:tgtEl>
                                          <p:spTgt spid="36"/>
                                        </p:tgtEl>
                                      </p:cBhvr>
                                    </p:animEffect>
                                    <p:anim calcmode="lin" valueType="num">
                                      <p:cBhvr>
                                        <p:cTn id="171" dur="450" decel="100000" fill="hold"/>
                                        <p:tgtEl>
                                          <p:spTgt spid="36"/>
                                        </p:tgtEl>
                                        <p:attrNameLst>
                                          <p:attrName>ppt_x</p:attrName>
                                        </p:attrNameLst>
                                      </p:cBhvr>
                                      <p:tavLst>
                                        <p:tav tm="0">
                                          <p:val>
                                            <p:strVal val="#ppt_x"/>
                                          </p:val>
                                        </p:tav>
                                        <p:tav tm="100000">
                                          <p:val>
                                            <p:strVal val="#ppt_x"/>
                                          </p:val>
                                        </p:tav>
                                      </p:tavLst>
                                    </p:anim>
                                    <p:anim calcmode="lin" valueType="num">
                                      <p:cBhvr>
                                        <p:cTn id="172" dur="450" decel="100000" fill="hold"/>
                                        <p:tgtEl>
                                          <p:spTgt spid="36"/>
                                        </p:tgtEl>
                                        <p:attrNameLst>
                                          <p:attrName>ppt_y</p:attrName>
                                        </p:attrNameLst>
                                      </p:cBhvr>
                                      <p:tavLst>
                                        <p:tav tm="0">
                                          <p:val>
                                            <p:strVal val="#ppt_y+.05"/>
                                          </p:val>
                                        </p:tav>
                                        <p:tav tm="100000">
                                          <p:val>
                                            <p:strVal val="#ppt_y"/>
                                          </p:val>
                                        </p:tav>
                                      </p:tavLst>
                                    </p:anim>
                                  </p:childTnLst>
                                </p:cTn>
                              </p:par>
                              <p:par>
                                <p:cTn id="173" presetID="42" presetClass="entr" presetSubtype="0" fill="hold" nodeType="withEffect">
                                  <p:stCondLst>
                                    <p:cond delay="450"/>
                                  </p:stCondLst>
                                  <p:childTnLst>
                                    <p:set>
                                      <p:cBhvr>
                                        <p:cTn id="174" dur="1" fill="hold">
                                          <p:stCondLst>
                                            <p:cond delay="0"/>
                                          </p:stCondLst>
                                        </p:cTn>
                                        <p:tgtEl>
                                          <p:spTgt spid="37"/>
                                        </p:tgtEl>
                                        <p:attrNameLst>
                                          <p:attrName>style.visibility</p:attrName>
                                        </p:attrNameLst>
                                      </p:cBhvr>
                                      <p:to>
                                        <p:strVal val="visible"/>
                                      </p:to>
                                    </p:set>
                                    <p:animEffect transition="in" filter="fade">
                                      <p:cBhvr>
                                        <p:cTn id="175" dur="450"/>
                                        <p:tgtEl>
                                          <p:spTgt spid="37"/>
                                        </p:tgtEl>
                                      </p:cBhvr>
                                    </p:animEffect>
                                    <p:anim calcmode="lin" valueType="num">
                                      <p:cBhvr>
                                        <p:cTn id="176" dur="450" decel="100000" fill="hold"/>
                                        <p:tgtEl>
                                          <p:spTgt spid="37"/>
                                        </p:tgtEl>
                                        <p:attrNameLst>
                                          <p:attrName>ppt_x</p:attrName>
                                        </p:attrNameLst>
                                      </p:cBhvr>
                                      <p:tavLst>
                                        <p:tav tm="0">
                                          <p:val>
                                            <p:strVal val="#ppt_x"/>
                                          </p:val>
                                        </p:tav>
                                        <p:tav tm="100000">
                                          <p:val>
                                            <p:strVal val="#ppt_x"/>
                                          </p:val>
                                        </p:tav>
                                      </p:tavLst>
                                    </p:anim>
                                    <p:anim calcmode="lin" valueType="num">
                                      <p:cBhvr>
                                        <p:cTn id="177" dur="450" decel="100000" fill="hold"/>
                                        <p:tgtEl>
                                          <p:spTgt spid="37"/>
                                        </p:tgtEl>
                                        <p:attrNameLst>
                                          <p:attrName>ppt_y</p:attrName>
                                        </p:attrNameLst>
                                      </p:cBhvr>
                                      <p:tavLst>
                                        <p:tav tm="0">
                                          <p:val>
                                            <p:strVal val="#ppt_y+.05"/>
                                          </p:val>
                                        </p:tav>
                                        <p:tav tm="100000">
                                          <p:val>
                                            <p:strVal val="#ppt_y"/>
                                          </p:val>
                                        </p:tav>
                                      </p:tavLst>
                                    </p:anim>
                                  </p:childTnLst>
                                </p:cTn>
                              </p:par>
                              <p:par>
                                <p:cTn id="178" presetID="42" presetClass="entr" presetSubtype="0" fill="hold" grpId="0" nodeType="withEffect">
                                  <p:stCondLst>
                                    <p:cond delay="450"/>
                                  </p:stCondLst>
                                  <p:childTnLst>
                                    <p:set>
                                      <p:cBhvr>
                                        <p:cTn id="179" dur="1" fill="hold">
                                          <p:stCondLst>
                                            <p:cond delay="0"/>
                                          </p:stCondLst>
                                        </p:cTn>
                                        <p:tgtEl>
                                          <p:spTgt spid="38"/>
                                        </p:tgtEl>
                                        <p:attrNameLst>
                                          <p:attrName>style.visibility</p:attrName>
                                        </p:attrNameLst>
                                      </p:cBhvr>
                                      <p:to>
                                        <p:strVal val="visible"/>
                                      </p:to>
                                    </p:set>
                                    <p:animEffect transition="in" filter="fade">
                                      <p:cBhvr>
                                        <p:cTn id="180" dur="450"/>
                                        <p:tgtEl>
                                          <p:spTgt spid="38"/>
                                        </p:tgtEl>
                                      </p:cBhvr>
                                    </p:animEffect>
                                    <p:anim calcmode="lin" valueType="num">
                                      <p:cBhvr>
                                        <p:cTn id="181" dur="450" decel="100000" fill="hold"/>
                                        <p:tgtEl>
                                          <p:spTgt spid="38"/>
                                        </p:tgtEl>
                                        <p:attrNameLst>
                                          <p:attrName>ppt_x</p:attrName>
                                        </p:attrNameLst>
                                      </p:cBhvr>
                                      <p:tavLst>
                                        <p:tav tm="0">
                                          <p:val>
                                            <p:strVal val="#ppt_x"/>
                                          </p:val>
                                        </p:tav>
                                        <p:tav tm="100000">
                                          <p:val>
                                            <p:strVal val="#ppt_x"/>
                                          </p:val>
                                        </p:tav>
                                      </p:tavLst>
                                    </p:anim>
                                    <p:anim calcmode="lin" valueType="num">
                                      <p:cBhvr>
                                        <p:cTn id="182" dur="450" decel="100000" fill="hold"/>
                                        <p:tgtEl>
                                          <p:spTgt spid="38"/>
                                        </p:tgtEl>
                                        <p:attrNameLst>
                                          <p:attrName>ppt_y</p:attrName>
                                        </p:attrNameLst>
                                      </p:cBhvr>
                                      <p:tavLst>
                                        <p:tav tm="0">
                                          <p:val>
                                            <p:strVal val="#ppt_y+.05"/>
                                          </p:val>
                                        </p:tav>
                                        <p:tav tm="100000">
                                          <p:val>
                                            <p:strVal val="#ppt_y"/>
                                          </p:val>
                                        </p:tav>
                                      </p:tavLst>
                                    </p:anim>
                                  </p:childTnLst>
                                </p:cTn>
                              </p:par>
                              <p:par>
                                <p:cTn id="183" presetID="42" presetClass="entr" presetSubtype="0" fill="hold" grpId="0" nodeType="withEffect">
                                  <p:stCondLst>
                                    <p:cond delay="450"/>
                                  </p:stCondLst>
                                  <p:childTnLst>
                                    <p:set>
                                      <p:cBhvr>
                                        <p:cTn id="184" dur="1" fill="hold">
                                          <p:stCondLst>
                                            <p:cond delay="0"/>
                                          </p:stCondLst>
                                        </p:cTn>
                                        <p:tgtEl>
                                          <p:spTgt spid="39"/>
                                        </p:tgtEl>
                                        <p:attrNameLst>
                                          <p:attrName>style.visibility</p:attrName>
                                        </p:attrNameLst>
                                      </p:cBhvr>
                                      <p:to>
                                        <p:strVal val="visible"/>
                                      </p:to>
                                    </p:set>
                                    <p:animEffect transition="in" filter="fade">
                                      <p:cBhvr>
                                        <p:cTn id="185" dur="450"/>
                                        <p:tgtEl>
                                          <p:spTgt spid="39"/>
                                        </p:tgtEl>
                                      </p:cBhvr>
                                    </p:animEffect>
                                    <p:anim calcmode="lin" valueType="num">
                                      <p:cBhvr>
                                        <p:cTn id="186" dur="450" decel="100000" fill="hold"/>
                                        <p:tgtEl>
                                          <p:spTgt spid="39"/>
                                        </p:tgtEl>
                                        <p:attrNameLst>
                                          <p:attrName>ppt_x</p:attrName>
                                        </p:attrNameLst>
                                      </p:cBhvr>
                                      <p:tavLst>
                                        <p:tav tm="0">
                                          <p:val>
                                            <p:strVal val="#ppt_x"/>
                                          </p:val>
                                        </p:tav>
                                        <p:tav tm="100000">
                                          <p:val>
                                            <p:strVal val="#ppt_x"/>
                                          </p:val>
                                        </p:tav>
                                      </p:tavLst>
                                    </p:anim>
                                    <p:anim calcmode="lin" valueType="num">
                                      <p:cBhvr>
                                        <p:cTn id="187" dur="450" decel="100000" fill="hold"/>
                                        <p:tgtEl>
                                          <p:spTgt spid="39"/>
                                        </p:tgtEl>
                                        <p:attrNameLst>
                                          <p:attrName>ppt_y</p:attrName>
                                        </p:attrNameLst>
                                      </p:cBhvr>
                                      <p:tavLst>
                                        <p:tav tm="0">
                                          <p:val>
                                            <p:strVal val="#ppt_y+.05"/>
                                          </p:val>
                                        </p:tav>
                                        <p:tav tm="100000">
                                          <p:val>
                                            <p:strVal val="#ppt_y"/>
                                          </p:val>
                                        </p:tav>
                                      </p:tavLst>
                                    </p:anim>
                                  </p:childTnLst>
                                </p:cTn>
                              </p:par>
                              <p:par>
                                <p:cTn id="188" presetID="42" presetClass="entr" presetSubtype="0" fill="hold" grpId="0" nodeType="withEffect">
                                  <p:stCondLst>
                                    <p:cond delay="450"/>
                                  </p:stCondLst>
                                  <p:childTnLst>
                                    <p:set>
                                      <p:cBhvr>
                                        <p:cTn id="189" dur="1" fill="hold">
                                          <p:stCondLst>
                                            <p:cond delay="0"/>
                                          </p:stCondLst>
                                        </p:cTn>
                                        <p:tgtEl>
                                          <p:spTgt spid="40"/>
                                        </p:tgtEl>
                                        <p:attrNameLst>
                                          <p:attrName>style.visibility</p:attrName>
                                        </p:attrNameLst>
                                      </p:cBhvr>
                                      <p:to>
                                        <p:strVal val="visible"/>
                                      </p:to>
                                    </p:set>
                                    <p:animEffect transition="in" filter="fade">
                                      <p:cBhvr>
                                        <p:cTn id="190" dur="450"/>
                                        <p:tgtEl>
                                          <p:spTgt spid="40"/>
                                        </p:tgtEl>
                                      </p:cBhvr>
                                    </p:animEffect>
                                    <p:anim calcmode="lin" valueType="num">
                                      <p:cBhvr>
                                        <p:cTn id="191" dur="450" decel="100000" fill="hold"/>
                                        <p:tgtEl>
                                          <p:spTgt spid="40"/>
                                        </p:tgtEl>
                                        <p:attrNameLst>
                                          <p:attrName>ppt_x</p:attrName>
                                        </p:attrNameLst>
                                      </p:cBhvr>
                                      <p:tavLst>
                                        <p:tav tm="0">
                                          <p:val>
                                            <p:strVal val="#ppt_x"/>
                                          </p:val>
                                        </p:tav>
                                        <p:tav tm="100000">
                                          <p:val>
                                            <p:strVal val="#ppt_x"/>
                                          </p:val>
                                        </p:tav>
                                      </p:tavLst>
                                    </p:anim>
                                    <p:anim calcmode="lin" valueType="num">
                                      <p:cBhvr>
                                        <p:cTn id="192" dur="450" decel="100000" fill="hold"/>
                                        <p:tgtEl>
                                          <p:spTgt spid="40"/>
                                        </p:tgtEl>
                                        <p:attrNameLst>
                                          <p:attrName>ppt_y</p:attrName>
                                        </p:attrNameLst>
                                      </p:cBhvr>
                                      <p:tavLst>
                                        <p:tav tm="0">
                                          <p:val>
                                            <p:strVal val="#ppt_y+.05"/>
                                          </p:val>
                                        </p:tav>
                                        <p:tav tm="100000">
                                          <p:val>
                                            <p:strVal val="#ppt_y"/>
                                          </p:val>
                                        </p:tav>
                                      </p:tavLst>
                                    </p:anim>
                                  </p:childTnLst>
                                </p:cTn>
                              </p:par>
                            </p:childTnLst>
                          </p:cTn>
                        </p:par>
                        <p:par>
                          <p:cTn id="193" fill="hold">
                            <p:stCondLst>
                              <p:cond delay="3450"/>
                            </p:stCondLst>
                            <p:childTnLst>
                              <p:par>
                                <p:cTn id="194" presetID="10" presetClass="entr" presetSubtype="0" fill="hold" grpId="0" nodeType="afterEffect">
                                  <p:stCondLst>
                                    <p:cond delay="600"/>
                                  </p:stCondLst>
                                  <p:childTnLst>
                                    <p:set>
                                      <p:cBhvr>
                                        <p:cTn id="195" dur="1" fill="hold">
                                          <p:stCondLst>
                                            <p:cond delay="0"/>
                                          </p:stCondLst>
                                        </p:cTn>
                                        <p:tgtEl>
                                          <p:spTgt spid="41"/>
                                        </p:tgtEl>
                                        <p:attrNameLst>
                                          <p:attrName>style.visibility</p:attrName>
                                        </p:attrNameLst>
                                      </p:cBhvr>
                                      <p:to>
                                        <p:strVal val="visible"/>
                                      </p:to>
                                    </p:set>
                                    <p:animEffect transition="in" filter="fade">
                                      <p:cBhvr>
                                        <p:cTn id="196" dur="500"/>
                                        <p:tgtEl>
                                          <p:spTgt spid="41"/>
                                        </p:tgtEl>
                                      </p:cBhvr>
                                    </p:animEffect>
                                  </p:childTnLst>
                                </p:cTn>
                              </p:par>
                              <p:par>
                                <p:cTn id="197" presetID="10" presetClass="entr" presetSubtype="0" fill="hold" grpId="0" nodeType="withEffect">
                                  <p:stCondLst>
                                    <p:cond delay="600"/>
                                  </p:stCondLst>
                                  <p:childTnLst>
                                    <p:set>
                                      <p:cBhvr>
                                        <p:cTn id="198" dur="1" fill="hold">
                                          <p:stCondLst>
                                            <p:cond delay="0"/>
                                          </p:stCondLst>
                                        </p:cTn>
                                        <p:tgtEl>
                                          <p:spTgt spid="42"/>
                                        </p:tgtEl>
                                        <p:attrNameLst>
                                          <p:attrName>style.visibility</p:attrName>
                                        </p:attrNameLst>
                                      </p:cBhvr>
                                      <p:to>
                                        <p:strVal val="visible"/>
                                      </p:to>
                                    </p:set>
                                    <p:animEffect transition="in" filter="fade">
                                      <p:cBhvr>
                                        <p:cTn id="199" dur="500"/>
                                        <p:tgtEl>
                                          <p:spTgt spid="42"/>
                                        </p:tgtEl>
                                      </p:cBhvr>
                                    </p:animEffect>
                                  </p:childTnLst>
                                </p:cTn>
                              </p:par>
                              <p:par>
                                <p:cTn id="200" presetID="10" presetClass="entr" presetSubtype="0" fill="hold" nodeType="withEffect">
                                  <p:stCondLst>
                                    <p:cond delay="60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00"/>
                                        <p:tgtEl>
                                          <p:spTgt spid="43"/>
                                        </p:tgtEl>
                                      </p:cBhvr>
                                    </p:animEffect>
                                  </p:childTnLst>
                                </p:cTn>
                              </p:par>
                              <p:par>
                                <p:cTn id="203" presetID="10" presetClass="entr" presetSubtype="0" fill="hold" grpId="0" nodeType="withEffect">
                                  <p:stCondLst>
                                    <p:cond delay="600"/>
                                  </p:stCondLst>
                                  <p:childTnLst>
                                    <p:set>
                                      <p:cBhvr>
                                        <p:cTn id="204" dur="1" fill="hold">
                                          <p:stCondLst>
                                            <p:cond delay="0"/>
                                          </p:stCondLst>
                                        </p:cTn>
                                        <p:tgtEl>
                                          <p:spTgt spid="44"/>
                                        </p:tgtEl>
                                        <p:attrNameLst>
                                          <p:attrName>style.visibility</p:attrName>
                                        </p:attrNameLst>
                                      </p:cBhvr>
                                      <p:to>
                                        <p:strVal val="visible"/>
                                      </p:to>
                                    </p:set>
                                    <p:animEffect transition="in" filter="fade">
                                      <p:cBhvr>
                                        <p:cTn id="20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5-video-frame"/>
          <p:cNvSpPr/>
          <p:nvPr/>
        </p:nvSpPr>
        <p:spPr>
          <a:xfrm>
            <a:off x="1126084" y="608076"/>
            <a:ext cx="9939528" cy="5602986"/>
          </a:xfrm>
          <a:prstGeom prst="rect">
            <a:avLst/>
          </a:prstGeom>
          <a:solidFill>
            <a:schemeClr val="tx1"/>
          </a:solidFill>
          <a:ln w="12700">
            <a:solidFill>
              <a:srgbClr val="3A3129"/>
            </a:solidFill>
            <a:prstDash val="solid"/>
          </a:ln>
        </p:spPr>
      </p:sp>
      <p:pic>
        <p:nvPicPr>
          <p:cNvPr id="3" name="s5-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139800" y="621792"/>
            <a:ext cx="9912096" cy="5575554"/>
          </a:xfrm>
          <a:prstGeom prst="rect">
            <a:avLst/>
          </a:prstGeom>
        </p:spPr>
      </p:pic>
      <p:sp>
        <p:nvSpPr>
          <p:cNvPr id="4" name="s5-live-dot"/>
          <p:cNvSpPr/>
          <p:nvPr/>
        </p:nvSpPr>
        <p:spPr>
          <a:xfrm>
            <a:off x="1158088" y="320040"/>
            <a:ext cx="109728" cy="109728"/>
          </a:xfrm>
          <a:prstGeom prst="ellipse">
            <a:avLst/>
          </a:prstGeom>
          <a:solidFill>
            <a:schemeClr val="accent1"/>
          </a:solidFill>
          <a:ln/>
        </p:spPr>
      </p:sp>
      <p:sp>
        <p:nvSpPr>
          <p:cNvPr id="5" name="Title"/>
          <p:cNvSpPr/>
          <p:nvPr>
            <p:ph idx="100" type="title" hasCustomPrompt="1"/>
          </p:nvPr>
        </p:nvSpPr>
        <p:spPr>
          <a:xfrm>
            <a:off x="1344168" y="237744"/>
            <a:ext cx="5486400" cy="274320"/>
          </a:xfrm>
          <a:prstGeom prst="rect">
            <a:avLst/>
          </a:prstGeom>
          <a:noFill/>
          <a:ln/>
        </p:spPr>
        <p:txBody>
          <a:bodyPr wrap="square" lIns="0" tIns="0" rIns="0" bIns="0" rtlCol="0" anchor="ctr"/>
          <a:lstStyle/>
          <a:p>
            <a:pPr algn="l" indent="0" marL="0">
              <a:buNone/>
            </a:pPr>
            <a:r>
              <a:rPr lang="en-US" sz="1200" b="1" spc="300" kern="0" dirty="0">
                <a:solidFill>
                  <a:schemeClr val="bg1"/>
                </a:solidFill>
                <a:latin typeface="Courier New" pitchFamily="34" charset="0"/>
                <a:ea typeface="Courier New" pitchFamily="34" charset="-122"/>
                <a:cs typeface="Courier New" pitchFamily="34" charset="-120"/>
              </a:rPr>
              <a:t>LIVE: THE WALL</a:t>
            </a:r>
            <a:endParaRPr lang="en-US" sz="1200" dirty="0"/>
          </a:p>
        </p:txBody>
      </p:sp>
      <p:sp>
        <p:nvSpPr>
          <p:cNvPr id="6" name="s5-caption"/>
          <p:cNvSpPr txBox="1"/>
          <p:nvPr/>
        </p:nvSpPr>
        <p:spPr>
          <a:xfrm>
            <a:off x="1139800" y="6288786"/>
            <a:ext cx="9912096" cy="384048"/>
          </a:xfrm>
          <a:prstGeom prst="rect">
            <a:avLst/>
          </a:prstGeom>
          <a:noFill/>
          <a:ln/>
        </p:spPr>
        <p:txBody>
          <a:bodyPr wrap="square" lIns="0" tIns="0" rIns="0" bIns="0" rtlCol="0" anchor="ctr"/>
          <a:lstStyle/>
          <a:p>
            <a:pPr indent="0" marL="0">
              <a:buNone/>
            </a:pPr>
            <a:r>
              <a:rPr lang="en-US" sz="1600" dirty="0">
                <a:solidFill>
                  <a:schemeClr val="bg1"/>
                </a:solidFill>
              </a:rPr>
              <a:t>A real browser walks into the page so nobody else has to.</a:t>
            </a:r>
            <a:endParaRPr lang="en-US" sz="1600" dirty="0"/>
          </a:p>
        </p:txBody>
      </p:sp>
    </p:spTree>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6-mail-icon" descr="Icon">    </p:cNvPr>
          <p:cNvPicPr>
            <a:picLocks noChangeAspect="1"/>
          </p:cNvPicPr>
          <p:nvPr/>
        </p:nvPicPr>
        <p:blipFill>
          <a:blip r:embed="rId1"/>
          <a:stretch>
            <a:fillRect/>
          </a:stretch>
        </p:blipFill>
        <p:spPr>
          <a:xfrm>
            <a:off x="548640" y="420624"/>
            <a:ext cx="237744" cy="237744"/>
          </a:xfrm>
          <a:prstGeom prst="rect">
            <a:avLst/>
          </a:prstGeom>
        </p:spPr>
      </p:pic>
      <p:sp>
        <p:nvSpPr>
          <p:cNvPr id="3" name="s6-forwarded"/>
          <p:cNvSpPr txBox="1"/>
          <p:nvPr/>
        </p:nvSpPr>
        <p:spPr>
          <a:xfrm>
            <a:off x="914400" y="384048"/>
            <a:ext cx="9144000" cy="310896"/>
          </a:xfrm>
          <a:prstGeom prst="rect">
            <a:avLst/>
          </a:prstGeom>
          <a:noFill/>
          <a:ln/>
        </p:spPr>
        <p:txBody>
          <a:bodyPr wrap="square" lIns="0" tIns="0" rIns="0" bIns="0" rtlCol="0" anchor="ctr"/>
          <a:lstStyle/>
          <a:p>
            <a:pPr indent="0" marL="0">
              <a:buNone/>
            </a:pPr>
            <a:r>
              <a:rPr lang="en-US" sz="1200" b="1" spc="300" kern="0" dirty="0">
                <a:solidFill>
                  <a:schemeClr val="bg1"/>
                </a:solidFill>
                <a:latin typeface="Courier New" pitchFamily="34" charset="0"/>
                <a:ea typeface="Courier New" pitchFamily="34" charset="-122"/>
                <a:cs typeface="Courier New" pitchFamily="34" charset="-120"/>
              </a:rPr>
              <a:t>MOM FORWARDED:  </a:t>
            </a:r>
            <a:pPr indent="0" marL="0">
              <a:buNone/>
            </a:pPr>
            <a:r>
              <a:rPr lang="en-US" sz="1600" b="1" dirty="0">
                <a:solidFill>
                  <a:schemeClr val="bg1"/>
                </a:solidFill>
              </a:rPr>
              <a:t>Your parcel is being held - action required</a:t>
            </a:r>
            <a:endParaRPr lang="en-US" sz="1200" dirty="0"/>
          </a:p>
        </p:txBody>
      </p:sp>
      <p:sp>
        <p:nvSpPr>
          <p:cNvPr id="4" name="Title"/>
          <p:cNvSpPr/>
          <p:nvPr>
            <p:ph idx="100" type="title" hasCustomPrompt="1"/>
          </p:nvPr>
        </p:nvSpPr>
        <p:spPr>
          <a:xfrm>
            <a:off x="402336" y="0"/>
            <a:ext cx="11338560" cy="4114800"/>
          </a:xfrm>
          <a:prstGeom prst="rect">
            <a:avLst/>
          </a:prstGeom>
          <a:noFill/>
          <a:ln/>
        </p:spPr>
        <p:txBody>
          <a:bodyPr wrap="square" lIns="0" tIns="0" rIns="0" bIns="0" rtlCol="0" anchor="ctr"/>
          <a:lstStyle/>
          <a:p>
            <a:pPr algn="l" indent="0" marL="0">
              <a:buNone/>
            </a:pPr>
            <a:r>
              <a:rPr lang="en-US" sz="22000" spc="-800" kern="0" dirty="0">
                <a:solidFill>
                  <a:schemeClr val="bg1"/>
                </a:solidFill>
              </a:rPr>
              <a:t>SCAM</a:t>
            </a:r>
            <a:endParaRPr lang="en-US" sz="22000" dirty="0"/>
          </a:p>
        </p:txBody>
      </p:sp>
      <p:sp>
        <p:nvSpPr>
          <p:cNvPr id="5" name="s6-sentence"/>
          <p:cNvSpPr txBox="1"/>
          <p:nvPr/>
        </p:nvSpPr>
        <p:spPr>
          <a:xfrm>
            <a:off x="548640" y="3401568"/>
            <a:ext cx="11094415" cy="548640"/>
          </a:xfrm>
          <a:prstGeom prst="rect">
            <a:avLst/>
          </a:prstGeom>
          <a:noFill/>
          <a:ln/>
        </p:spPr>
        <p:txBody>
          <a:bodyPr wrap="square" lIns="0" tIns="0" rIns="0" bIns="0" rtlCol="0" anchor="ctr"/>
          <a:lstStyle/>
          <a:p>
            <a:pPr indent="0" marL="0">
              <a:buNone/>
            </a:pPr>
            <a:r>
              <a:rPr lang="en-US" sz="2400" dirty="0">
                <a:solidFill>
                  <a:schemeClr val="bg1"/>
                </a:solidFill>
                <a:latin typeface="Arial Black" pitchFamily="34" charset="0"/>
                <a:ea typeface="Arial Black" pitchFamily="34" charset="-122"/>
                <a:cs typeface="Arial Black" pitchFamily="34" charset="-120"/>
              </a:rPr>
              <a:t>Do not click. Carriers never ask for a card number by email.</a:t>
            </a:r>
            <a:endParaRPr lang="en-US" sz="2400" dirty="0"/>
          </a:p>
        </p:txBody>
      </p:sp>
      <p:sp>
        <p:nvSpPr>
          <p:cNvPr id="6" name="s6-reason1-num"/>
          <p:cNvSpPr txBox="1"/>
          <p:nvPr/>
        </p:nvSpPr>
        <p:spPr>
          <a:xfrm>
            <a:off x="548640" y="4425696"/>
            <a:ext cx="365760" cy="274320"/>
          </a:xfrm>
          <a:prstGeom prst="rect">
            <a:avLst/>
          </a:prstGeom>
          <a:noFill/>
          <a:ln/>
        </p:spPr>
        <p:txBody>
          <a:bodyPr wrap="square" lIns="0" tIns="0" rIns="0" bIns="0" rtlCol="0" anchor="ctr"/>
          <a:lstStyle/>
          <a:p>
            <a:pPr indent="0" marL="0">
              <a:buNone/>
            </a:pPr>
            <a:r>
              <a:rPr lang="en-US" sz="1200" b="1" spc="100" kern="0" dirty="0">
                <a:solidFill>
                  <a:schemeClr val="bg1"/>
                </a:solidFill>
                <a:latin typeface="Courier New" pitchFamily="34" charset="0"/>
                <a:ea typeface="Courier New" pitchFamily="34" charset="-122"/>
                <a:cs typeface="Courier New" pitchFamily="34" charset="-120"/>
              </a:rPr>
              <a:t>01</a:t>
            </a:r>
            <a:endParaRPr lang="en-US" sz="1200" dirty="0"/>
          </a:p>
        </p:txBody>
      </p:sp>
      <p:sp>
        <p:nvSpPr>
          <p:cNvPr id="7" name="s6-reason1-text"/>
          <p:cNvSpPr txBox="1"/>
          <p:nvPr/>
        </p:nvSpPr>
        <p:spPr>
          <a:xfrm>
            <a:off x="960120" y="4389120"/>
            <a:ext cx="3017520" cy="731520"/>
          </a:xfrm>
          <a:prstGeom prst="rect">
            <a:avLst/>
          </a:prstGeom>
          <a:noFill/>
          <a:ln/>
        </p:spPr>
        <p:txBody>
          <a:bodyPr wrap="square" lIns="0" tIns="0" rIns="0" bIns="0" rtlCol="0" anchor="t"/>
          <a:lstStyle/>
          <a:p>
            <a:pPr indent="0" marL="0">
              <a:buNone/>
            </a:pPr>
            <a:r>
              <a:rPr lang="en-US" sz="2000" b="1" dirty="0">
                <a:solidFill>
                  <a:schemeClr val="bg1"/>
                </a:solidFill>
              </a:rPr>
              <a:t>The page asks for your password</a:t>
            </a:r>
            <a:endParaRPr lang="en-US" sz="2000" dirty="0"/>
          </a:p>
        </p:txBody>
      </p:sp>
      <p:sp>
        <p:nvSpPr>
          <p:cNvPr id="8" name="s6-reason2-num"/>
          <p:cNvSpPr txBox="1"/>
          <p:nvPr/>
        </p:nvSpPr>
        <p:spPr>
          <a:xfrm>
            <a:off x="4381348" y="4425696"/>
            <a:ext cx="365760" cy="274320"/>
          </a:xfrm>
          <a:prstGeom prst="rect">
            <a:avLst/>
          </a:prstGeom>
          <a:noFill/>
          <a:ln/>
        </p:spPr>
        <p:txBody>
          <a:bodyPr wrap="square" lIns="0" tIns="0" rIns="0" bIns="0" rtlCol="0" anchor="ctr"/>
          <a:lstStyle/>
          <a:p>
            <a:pPr indent="0" marL="0">
              <a:buNone/>
            </a:pPr>
            <a:r>
              <a:rPr lang="en-US" sz="1200" b="1" spc="100" kern="0" dirty="0">
                <a:solidFill>
                  <a:schemeClr val="bg1"/>
                </a:solidFill>
                <a:latin typeface="Courier New" pitchFamily="34" charset="0"/>
                <a:ea typeface="Courier New" pitchFamily="34" charset="-122"/>
                <a:cs typeface="Courier New" pitchFamily="34" charset="-120"/>
              </a:rPr>
              <a:t>02</a:t>
            </a:r>
            <a:endParaRPr lang="en-US" sz="1200" dirty="0"/>
          </a:p>
        </p:txBody>
      </p:sp>
      <p:sp>
        <p:nvSpPr>
          <p:cNvPr id="9" name="s6-reason2-text"/>
          <p:cNvSpPr txBox="1"/>
          <p:nvPr/>
        </p:nvSpPr>
        <p:spPr>
          <a:xfrm>
            <a:off x="4792828" y="4389120"/>
            <a:ext cx="3017520" cy="731520"/>
          </a:xfrm>
          <a:prstGeom prst="rect">
            <a:avLst/>
          </a:prstGeom>
          <a:noFill/>
          <a:ln/>
        </p:spPr>
        <p:txBody>
          <a:bodyPr wrap="square" lIns="0" tIns="0" rIns="0" bIns="0" rtlCol="0" anchor="t"/>
          <a:lstStyle/>
          <a:p>
            <a:pPr indent="0" marL="0">
              <a:buNone/>
            </a:pPr>
            <a:r>
              <a:rPr lang="en-US" sz="2000" b="1" dirty="0">
                <a:solidFill>
                  <a:schemeClr val="bg1"/>
                </a:solidFill>
              </a:rPr>
              <a:t>Step 2 asks for your card number</a:t>
            </a:r>
            <a:endParaRPr lang="en-US" sz="2000" dirty="0"/>
          </a:p>
        </p:txBody>
      </p:sp>
      <p:sp>
        <p:nvSpPr>
          <p:cNvPr id="10" name="s6-reason3-num"/>
          <p:cNvSpPr txBox="1"/>
          <p:nvPr/>
        </p:nvSpPr>
        <p:spPr>
          <a:xfrm>
            <a:off x="8214055" y="4425696"/>
            <a:ext cx="365760" cy="274320"/>
          </a:xfrm>
          <a:prstGeom prst="rect">
            <a:avLst/>
          </a:prstGeom>
          <a:noFill/>
          <a:ln/>
        </p:spPr>
        <p:txBody>
          <a:bodyPr wrap="square" lIns="0" tIns="0" rIns="0" bIns="0" rtlCol="0" anchor="ctr"/>
          <a:lstStyle/>
          <a:p>
            <a:pPr indent="0" marL="0">
              <a:buNone/>
            </a:pPr>
            <a:r>
              <a:rPr lang="en-US" sz="1200" b="1" spc="100" kern="0" dirty="0">
                <a:solidFill>
                  <a:schemeClr val="bg1"/>
                </a:solidFill>
                <a:latin typeface="Courier New" pitchFamily="34" charset="0"/>
                <a:ea typeface="Courier New" pitchFamily="34" charset="-122"/>
                <a:cs typeface="Courier New" pitchFamily="34" charset="-120"/>
              </a:rPr>
              <a:t>03</a:t>
            </a:r>
            <a:endParaRPr lang="en-US" sz="1200" dirty="0"/>
          </a:p>
        </p:txBody>
      </p:sp>
      <p:sp>
        <p:nvSpPr>
          <p:cNvPr id="11" name="s6-reason3-text"/>
          <p:cNvSpPr txBox="1"/>
          <p:nvPr/>
        </p:nvSpPr>
        <p:spPr>
          <a:xfrm>
            <a:off x="8625535" y="4389120"/>
            <a:ext cx="3017520" cy="731520"/>
          </a:xfrm>
          <a:prstGeom prst="rect">
            <a:avLst/>
          </a:prstGeom>
          <a:noFill/>
          <a:ln/>
        </p:spPr>
        <p:txBody>
          <a:bodyPr wrap="square" lIns="0" tIns="0" rIns="0" bIns="0" rtlCol="0" anchor="t"/>
          <a:lstStyle/>
          <a:p>
            <a:pPr indent="0" marL="0">
              <a:buNone/>
            </a:pPr>
            <a:r>
              <a:rPr lang="en-US" sz="2000" b="1" dirty="0">
                <a:solidFill>
                  <a:schemeClr val="bg1"/>
                </a:solidFill>
              </a:rPr>
              <a:t>No real company called ParcelFast exists</a:t>
            </a:r>
            <a:endParaRPr lang="en-US" sz="2000" dirty="0"/>
          </a:p>
        </p:txBody>
      </p:sp>
      <p:sp>
        <p:nvSpPr>
          <p:cNvPr id="12" name="s6-vocab-label"/>
          <p:cNvSpPr txBox="1"/>
          <p:nvPr/>
        </p:nvSpPr>
        <p:spPr>
          <a:xfrm>
            <a:off x="548640" y="5870448"/>
            <a:ext cx="4937760" cy="402336"/>
          </a:xfrm>
          <a:prstGeom prst="rect">
            <a:avLst/>
          </a:prstGeom>
          <a:noFill/>
          <a:ln/>
        </p:spPr>
        <p:txBody>
          <a:bodyPr wrap="square" lIns="0" tIns="0" rIns="0" bIns="0" rtlCol="0" anchor="ctr"/>
          <a:lstStyle/>
          <a:p>
            <a:pPr indent="0" marL="0">
              <a:buNone/>
            </a:pPr>
            <a:r>
              <a:rPr lang="en-US" sz="1200" b="1" spc="200" kern="0" dirty="0">
                <a:solidFill>
                  <a:schemeClr val="bg1"/>
                </a:solidFill>
                <a:latin typeface="Courier New" pitchFamily="34" charset="0"/>
                <a:ea typeface="Courier New" pitchFamily="34" charset="-122"/>
                <a:cs typeface="Courier New" pitchFamily="34" charset="-120"/>
              </a:rPr>
              <a:t>THREE ANSWERS. NEVER THE WORD SAFE.</a:t>
            </a:r>
            <a:endParaRPr lang="en-US" sz="1200" dirty="0"/>
          </a:p>
        </p:txBody>
      </p:sp>
      <p:sp>
        <p:nvSpPr>
          <p:cNvPr id="13" name="s6-pill1"/>
          <p:cNvSpPr/>
          <p:nvPr/>
        </p:nvSpPr>
        <p:spPr>
          <a:xfrm>
            <a:off x="5745175" y="5870448"/>
            <a:ext cx="1051560" cy="402336"/>
          </a:xfrm>
          <a:prstGeom prst="roundRect">
            <a:avLst>
              <a:gd name="adj" fmla="val 50000"/>
            </a:avLst>
          </a:prstGeom>
          <a:solidFill>
            <a:schemeClr val="tx1"/>
          </a:solidFill>
          <a:ln/>
        </p:spPr>
        <p:txBody>
          <a:bodyPr wrap="square" lIns="0" tIns="0" rIns="0" bIns="0" rtlCol="0" anchor="ctr"/>
          <a:lstStyle/>
          <a:p>
            <a:pPr algn="ctr" indent="0" marL="0">
              <a:buNone/>
            </a:pPr>
            <a:r>
              <a:rPr lang="en-US" sz="1200" b="1" spc="200" kern="0" dirty="0">
                <a:solidFill>
                  <a:schemeClr val="bg1"/>
                </a:solidFill>
                <a:latin typeface="Courier New" pitchFamily="34" charset="0"/>
                <a:ea typeface="Courier New" pitchFamily="34" charset="-122"/>
                <a:cs typeface="Courier New" pitchFamily="34" charset="-120"/>
              </a:rPr>
              <a:t>SCAM</a:t>
            </a:r>
            <a:endParaRPr lang="en-US" sz="1200" dirty="0"/>
          </a:p>
        </p:txBody>
      </p:sp>
      <p:sp>
        <p:nvSpPr>
          <p:cNvPr id="14" name="s6-pill2"/>
          <p:cNvSpPr/>
          <p:nvPr/>
        </p:nvSpPr>
        <p:spPr>
          <a:xfrm>
            <a:off x="6933895" y="5870448"/>
            <a:ext cx="2103120" cy="40233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spc="200" kern="0" dirty="0">
                <a:solidFill>
                  <a:schemeClr val="tx1"/>
                </a:solidFill>
                <a:latin typeface="Courier New" pitchFamily="34" charset="0"/>
                <a:ea typeface="Courier New" pitchFamily="34" charset="-122"/>
                <a:cs typeface="Courier New" pitchFamily="34" charset="-120"/>
              </a:rPr>
              <a:t>TREAT AS A SCAM</a:t>
            </a:r>
            <a:endParaRPr lang="en-US" sz="1200" dirty="0"/>
          </a:p>
        </p:txBody>
      </p:sp>
      <p:sp>
        <p:nvSpPr>
          <p:cNvPr id="15" name="s6-pill3"/>
          <p:cNvSpPr/>
          <p:nvPr/>
        </p:nvSpPr>
        <p:spPr>
          <a:xfrm>
            <a:off x="9174175" y="5870448"/>
            <a:ext cx="2468880" cy="402336"/>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spc="200" kern="0" dirty="0">
                <a:solidFill>
                  <a:schemeClr val="bg1"/>
                </a:solidFill>
                <a:latin typeface="Courier New" pitchFamily="34" charset="0"/>
                <a:ea typeface="Courier New" pitchFamily="34" charset="-122"/>
                <a:cs typeface="Courier New" pitchFamily="34" charset="-120"/>
              </a:rPr>
              <a:t>NO RED FLAGS FOUND</a:t>
            </a:r>
            <a:endParaRPr lang="en-US" sz="1200" dirty="0"/>
          </a:p>
        </p:txBody>
      </p:sp>
    </p:spTree>
  </p:cSld>
  <p:clrMapOvr>
    <a:masterClrMapping/>
  </p:clrMapOvr>
  <p:transition spd="fast">
    <p:cover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450" fill="hold"/>
                                        <p:tgtEl>
                                          <p:spTgt spid="4"/>
                                        </p:tgtEl>
                                        <p:attrNameLst>
                                          <p:attrName>ppt_w</p:attrName>
                                        </p:attrNameLst>
                                      </p:cBhvr>
                                      <p:tavLst>
                                        <p:tav tm="0">
                                          <p:val>
                                            <p:fltVal val="0"/>
                                          </p:val>
                                        </p:tav>
                                        <p:tav tm="100000">
                                          <p:val>
                                            <p:strVal val="#ppt_w"/>
                                          </p:val>
                                        </p:tav>
                                      </p:tavLst>
                                    </p:anim>
                                    <p:anim calcmode="lin" valueType="num">
                                      <p:cBhvr>
                                        <p:cTn id="8" dur="450" fill="hold"/>
                                        <p:tgtEl>
                                          <p:spTgt spid="4"/>
                                        </p:tgtEl>
                                        <p:attrNameLst>
                                          <p:attrName>ppt_h</p:attrName>
                                        </p:attrNameLst>
                                      </p:cBhvr>
                                      <p:tavLst>
                                        <p:tav tm="0">
                                          <p:val>
                                            <p:fltVal val="0"/>
                                          </p:val>
                                        </p:tav>
                                        <p:tav tm="100000">
                                          <p:val>
                                            <p:strVal val="#ppt_h"/>
                                          </p:val>
                                        </p:tav>
                                      </p:tavLst>
                                    </p:anim>
                                    <p:animEffect transition="in" filter="fade">
                                      <p:cBhvr>
                                        <p:cTn id="9" dur="450"/>
                                        <p:tgtEl>
                                          <p:spTgt spid="4"/>
                                        </p:tgtEl>
                                      </p:cBhvr>
                                    </p:animEffect>
                                  </p:childTnLst>
                                </p:cTn>
                              </p:par>
                            </p:childTnLst>
                          </p:cTn>
                        </p:par>
                        <p:par>
                          <p:cTn id="10" fill="hold">
                            <p:stCondLst>
                              <p:cond delay="700"/>
                            </p:stCondLst>
                            <p:childTnLst>
                              <p:par>
                                <p:cTn id="11" presetID="10" presetClass="entr" presetSubtype="0" fill="hold" grpId="0" nodeType="afterEffect">
                                  <p:stCondLst>
                                    <p:cond delay="25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par>
                          <p:cTn id="14" fill="hold">
                            <p:stCondLst>
                              <p:cond delay="1350"/>
                            </p:stCondLst>
                            <p:childTnLst>
                              <p:par>
                                <p:cTn id="15" presetID="10" presetClass="entr" presetSubtype="0" fill="hold" grpId="0" nodeType="after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50"/>
                                        <p:tgtEl>
                                          <p:spTgt spid="6"/>
                                        </p:tgtEl>
                                      </p:cBhvr>
                                    </p:animEffect>
                                  </p:childTnLst>
                                </p:cTn>
                              </p:par>
                              <p:par>
                                <p:cTn id="18" presetID="10" presetClass="entr" presetSubtype="0" fill="hold" grpId="0" nodeType="withEffect">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350"/>
                                        <p:tgtEl>
                                          <p:spTgt spid="7"/>
                                        </p:tgtEl>
                                      </p:cBhvr>
                                    </p:animEffect>
                                  </p:childTnLst>
                                </p:cTn>
                              </p:par>
                            </p:childTnLst>
                          </p:cTn>
                        </p:par>
                        <p:par>
                          <p:cTn id="21" fill="hold">
                            <p:stCondLst>
                              <p:cond delay="1950"/>
                            </p:stCondLst>
                            <p:childTnLst>
                              <p:par>
                                <p:cTn id="22" presetID="10" presetClass="entr" presetSubtype="0" fill="hold" grpId="0" nodeType="after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50"/>
                                        <p:tgtEl>
                                          <p:spTgt spid="8"/>
                                        </p:tgtEl>
                                      </p:cBhvr>
                                    </p:animEffect>
                                  </p:childTnLst>
                                </p:cTn>
                              </p:par>
                              <p:par>
                                <p:cTn id="25" presetID="10" presetClass="entr" presetSubtype="0" fill="hold" grpId="0"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50"/>
                                        <p:tgtEl>
                                          <p:spTgt spid="9"/>
                                        </p:tgtEl>
                                      </p:cBhvr>
                                    </p:animEffect>
                                  </p:childTnLst>
                                </p:cTn>
                              </p:par>
                            </p:childTnLst>
                          </p:cTn>
                        </p:par>
                        <p:par>
                          <p:cTn id="28" fill="hold">
                            <p:stCondLst>
                              <p:cond delay="2500"/>
                            </p:stCondLst>
                            <p:childTnLst>
                              <p:par>
                                <p:cTn id="29" presetID="10" presetClass="entr" presetSubtype="0" fill="hold" grpId="0" nodeType="afterEffect">
                                  <p:stCondLst>
                                    <p:cond delay="2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50"/>
                                        <p:tgtEl>
                                          <p:spTgt spid="10"/>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childTnLst>
                                </p:cTn>
                              </p:par>
                            </p:childTnLst>
                          </p:cTn>
                        </p:par>
                        <p:par>
                          <p:cTn id="35" fill="hold">
                            <p:stCondLst>
                              <p:cond delay="3050"/>
                            </p:stCondLst>
                            <p:childTnLst>
                              <p:par>
                                <p:cTn id="36" presetID="10" presetClass="entr" presetSubtype="0" fill="hold" grpId="0" nodeType="afterEffect">
                                  <p:stCondLst>
                                    <p:cond delay="5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00"/>
                                        <p:tgtEl>
                                          <p:spTgt spid="12"/>
                                        </p:tgtEl>
                                      </p:cBhvr>
                                    </p:animEffect>
                                  </p:childTnLst>
                                </p:cTn>
                              </p:par>
                              <p:par>
                                <p:cTn id="39" presetID="10" presetClass="entr" presetSubtype="0" fill="hold" grpId="0" nodeType="withEffect">
                                  <p:stCondLst>
                                    <p:cond delay="50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00"/>
                                        <p:tgtEl>
                                          <p:spTgt spid="13"/>
                                        </p:tgtEl>
                                      </p:cBhvr>
                                    </p:animEffect>
                                  </p:childTnLst>
                                </p:cTn>
                              </p:par>
                              <p:par>
                                <p:cTn id="42" presetID="10" presetClass="entr" presetSubtype="0" fill="hold" grpId="0" nodeType="withEffect">
                                  <p:stCondLst>
                                    <p:cond delay="50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00"/>
                                        <p:tgtEl>
                                          <p:spTgt spid="14"/>
                                        </p:tgtEl>
                                      </p:cBhvr>
                                    </p:animEffect>
                                  </p:childTnLst>
                                </p:cTn>
                              </p:par>
                              <p:par>
                                <p:cTn id="45" presetID="10" presetClass="entr" presetSubtype="0" fill="hold" grpId="0" nodeType="withEffect">
                                  <p:stCondLst>
                                    <p:cond delay="50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7-eyebrow"/>
          <p:cNvSpPr txBox="1"/>
          <p:nvPr/>
        </p:nvSpPr>
        <p:spPr>
          <a:xfrm>
            <a:off x="548640" y="384048"/>
            <a:ext cx="5486400" cy="256032"/>
          </a:xfrm>
          <a:prstGeom prst="rect">
            <a:avLst/>
          </a:prstGeom>
          <a:noFill/>
          <a:ln/>
        </p:spPr>
        <p:txBody>
          <a:bodyPr wrap="square" lIns="0" tIns="0" rIns="0" bIns="0" rtlCol="0" anchor="ctr"/>
          <a:lstStyle/>
          <a:p>
            <a:pPr indent="0" marL="0">
              <a:buNone/>
            </a:pPr>
            <a:r>
              <a:rPr lang="en-US" sz="1200" b="1" spc="300" kern="0" dirty="0">
                <a:solidFill>
                  <a:schemeClr val="accent4"/>
                </a:solidFill>
                <a:latin typeface="Courier New" pitchFamily="34" charset="0"/>
                <a:ea typeface="Courier New" pitchFamily="34" charset="-122"/>
                <a:cs typeface="Courier New" pitchFamily="34" charset="-120"/>
              </a:rPr>
              <a:t>UNDER THE HOOD</a:t>
            </a:r>
            <a:endParaRPr lang="en-US" sz="1200" dirty="0"/>
          </a:p>
        </p:txBody>
      </p:sp>
      <p:sp>
        <p:nvSpPr>
          <p:cNvPr id="3" name="Title"/>
          <p:cNvSpPr/>
          <p:nvPr>
            <p:ph idx="102" type="title" hasCustomPrompt="1"/>
          </p:nvPr>
        </p:nvSpPr>
        <p:spPr>
          <a:xfrm>
            <a:off x="548640" y="640080"/>
            <a:ext cx="11094415" cy="749808"/>
          </a:xfrm>
          <a:prstGeom prst="rect">
            <a:avLst/>
          </a:prstGeom>
          <a:noFill/>
          <a:ln/>
        </p:spPr>
        <p:txBody>
          <a:bodyPr wrap="square" lIns="0" tIns="0" rIns="0" bIns="0" rtlCol="0" anchor="ctr"/>
          <a:lstStyle/>
          <a:p>
            <a:pPr algn="l" indent="0" marL="0">
              <a:buNone/>
            </a:pPr>
            <a:r>
              <a:rPr lang="en-US" sz="3400" spc="-75" kern="0" dirty="0">
                <a:solidFill>
                  <a:schemeClr val="bg1"/>
                </a:solidFill>
              </a:rPr>
              <a:t>One workflow, three branches in parallel</a:t>
            </a:r>
            <a:endParaRPr lang="en-US" sz="3400" dirty="0"/>
          </a:p>
        </p:txBody>
      </p:sp>
      <p:sp>
        <p:nvSpPr>
          <p:cNvPr id="4" name="s7-read-box"/>
          <p:cNvSpPr/>
          <p:nvPr/>
        </p:nvSpPr>
        <p:spPr>
          <a:xfrm>
            <a:off x="609448" y="3282696"/>
            <a:ext cx="1737360" cy="1005840"/>
          </a:xfrm>
          <a:prstGeom prst="roundRect">
            <a:avLst>
              <a:gd name="adj" fmla="val 12727"/>
            </a:avLst>
          </a:prstGeom>
          <a:solidFill>
            <a:schemeClr val="accent5"/>
          </a:solidFill>
          <a:ln w="12700">
            <a:solidFill>
              <a:srgbClr val="3A3129"/>
            </a:solidFill>
            <a:prstDash val="solid"/>
          </a:ln>
        </p:spPr>
      </p:sp>
      <p:sp>
        <p:nvSpPr>
          <p:cNvPr id="5" name="s7-read-text"/>
          <p:cNvSpPr txBox="1"/>
          <p:nvPr/>
        </p:nvSpPr>
        <p:spPr>
          <a:xfrm>
            <a:off x="746608" y="3282696"/>
            <a:ext cx="1508760" cy="1005840"/>
          </a:xfrm>
          <a:prstGeom prst="rect">
            <a:avLst/>
          </a:prstGeom>
          <a:noFill/>
          <a:ln/>
        </p:spPr>
        <p:txBody>
          <a:bodyPr wrap="square" lIns="0" tIns="0" rIns="0" bIns="0" rtlCol="0" anchor="ctr"/>
          <a:lstStyle/>
          <a:p>
            <a:pPr indent="0" marL="0">
              <a:buNone/>
            </a:pPr>
            <a:r>
              <a:rPr lang="en-US" sz="1500" b="1" dirty="0">
                <a:solidFill>
                  <a:schemeClr val="bg1"/>
                </a:solidFill>
              </a:rPr>
              <a:t>read-message</a:t>
            </a:r>
            <a:endParaRPr lang="en-US" sz="1500" dirty="0"/>
          </a:p>
          <a:p>
            <a:pPr indent="0" marL="0">
              <a:buNone/>
            </a:pPr>
            <a:r>
              <a:rPr lang="en-US" sz="1200" dirty="0">
                <a:solidFill>
                  <a:schemeClr val="bg2"/>
                </a:solidFill>
              </a:rPr>
              <a:t>link, brand, pressure</a:t>
            </a:r>
            <a:endParaRPr lang="en-US" sz="1500" dirty="0"/>
          </a:p>
        </p:txBody>
      </p:sp>
      <p:sp>
        <p:nvSpPr>
          <p:cNvPr id="6" name="s7-read-tool"/>
          <p:cNvSpPr txBox="1"/>
          <p:nvPr/>
        </p:nvSpPr>
        <p:spPr>
          <a:xfrm>
            <a:off x="426568" y="4379976"/>
            <a:ext cx="2103120" cy="256032"/>
          </a:xfrm>
          <a:prstGeom prst="rect">
            <a:avLst/>
          </a:prstGeom>
          <a:noFill/>
          <a:ln/>
        </p:spPr>
        <p:txBody>
          <a:bodyPr wrap="square" lIns="0" tIns="0" rIns="0" bIns="0" rtlCol="0" anchor="ctr"/>
          <a:lstStyle/>
          <a:p>
            <a:pPr algn="ctr" indent="0" marL="0">
              <a:buNone/>
            </a:pPr>
            <a:r>
              <a:rPr lang="en-US" sz="1200" b="1" spc="100" kern="0" dirty="0">
                <a:solidFill>
                  <a:schemeClr val="bg2"/>
                </a:solidFill>
                <a:latin typeface="Courier New" pitchFamily="34" charset="0"/>
                <a:ea typeface="Courier New" pitchFamily="34" charset="-122"/>
                <a:cs typeface="Courier New" pitchFamily="34" charset="-120"/>
              </a:rPr>
              <a:t>NEON AI GATEWAY</a:t>
            </a:r>
            <a:endParaRPr lang="en-US" sz="1200" dirty="0"/>
          </a:p>
        </p:txBody>
      </p:sp>
      <p:sp>
        <p:nvSpPr>
          <p:cNvPr id="7" name="s7-arrow1"/>
          <p:cNvSpPr/>
          <p:nvPr/>
        </p:nvSpPr>
        <p:spPr>
          <a:xfrm>
            <a:off x="2401672" y="3785616"/>
            <a:ext cx="301752" cy="0"/>
          </a:xfrm>
          <a:prstGeom prst="line">
            <a:avLst/>
          </a:prstGeom>
          <a:noFill/>
          <a:ln w="19050">
            <a:solidFill>
              <a:schemeClr val="bg1"/>
            </a:solidFill>
            <a:prstDash val="solid"/>
            <a:tailEnd type="triangle"/>
          </a:ln>
        </p:spPr>
      </p:sp>
      <p:sp>
        <p:nvSpPr>
          <p:cNvPr id="8" name="s7-recall-box"/>
          <p:cNvSpPr/>
          <p:nvPr/>
        </p:nvSpPr>
        <p:spPr>
          <a:xfrm>
            <a:off x="2758288" y="3282696"/>
            <a:ext cx="1737360" cy="1005840"/>
          </a:xfrm>
          <a:prstGeom prst="roundRect">
            <a:avLst>
              <a:gd name="adj" fmla="val 12727"/>
            </a:avLst>
          </a:prstGeom>
          <a:solidFill>
            <a:schemeClr val="accent5"/>
          </a:solidFill>
          <a:ln w="12700">
            <a:solidFill>
              <a:srgbClr val="3A3129"/>
            </a:solidFill>
            <a:prstDash val="solid"/>
          </a:ln>
        </p:spPr>
      </p:sp>
      <p:sp>
        <p:nvSpPr>
          <p:cNvPr id="9" name="s7-recall-text"/>
          <p:cNvSpPr txBox="1"/>
          <p:nvPr/>
        </p:nvSpPr>
        <p:spPr>
          <a:xfrm>
            <a:off x="2895448" y="3282696"/>
            <a:ext cx="1508760" cy="1005840"/>
          </a:xfrm>
          <a:prstGeom prst="rect">
            <a:avLst/>
          </a:prstGeom>
          <a:noFill/>
          <a:ln/>
        </p:spPr>
        <p:txBody>
          <a:bodyPr wrap="square" lIns="0" tIns="0" rIns="0" bIns="0" rtlCol="0" anchor="ctr"/>
          <a:lstStyle/>
          <a:p>
            <a:pPr indent="0" marL="0">
              <a:buNone/>
            </a:pPr>
            <a:r>
              <a:rPr lang="en-US" sz="1500" b="1" dirty="0">
                <a:solidFill>
                  <a:schemeClr val="bg1"/>
                </a:solidFill>
              </a:rPr>
              <a:t>recall</a:t>
            </a:r>
            <a:endParaRPr lang="en-US" sz="1500" dirty="0"/>
          </a:p>
          <a:p>
            <a:pPr indent="0" marL="0">
              <a:buNone/>
            </a:pPr>
            <a:r>
              <a:rPr lang="en-US" sz="1200" dirty="0">
                <a:solidFill>
                  <a:schemeClr val="bg2"/>
                </a:solidFill>
              </a:rPr>
              <a:t>seen before?</a:t>
            </a:r>
            <a:endParaRPr lang="en-US" sz="1500" dirty="0"/>
          </a:p>
        </p:txBody>
      </p:sp>
      <p:sp>
        <p:nvSpPr>
          <p:cNvPr id="10" name="s7-recall-tool"/>
          <p:cNvSpPr txBox="1"/>
          <p:nvPr/>
        </p:nvSpPr>
        <p:spPr>
          <a:xfrm>
            <a:off x="2575408" y="4379976"/>
            <a:ext cx="2103120" cy="256032"/>
          </a:xfrm>
          <a:prstGeom prst="rect">
            <a:avLst/>
          </a:prstGeom>
          <a:noFill/>
          <a:ln/>
        </p:spPr>
        <p:txBody>
          <a:bodyPr wrap="square" lIns="0" tIns="0" rIns="0" bIns="0" rtlCol="0" anchor="ctr"/>
          <a:lstStyle/>
          <a:p>
            <a:pPr algn="ctr" indent="0" marL="0">
              <a:buNone/>
            </a:pPr>
            <a:r>
              <a:rPr lang="en-US" sz="1200" b="1" spc="100" kern="0" dirty="0">
                <a:solidFill>
                  <a:schemeClr val="bg2"/>
                </a:solidFill>
                <a:latin typeface="Courier New" pitchFamily="34" charset="0"/>
                <a:ea typeface="Courier New" pitchFamily="34" charset="-122"/>
                <a:cs typeface="Courier New" pitchFamily="34" charset="-120"/>
              </a:rPr>
              <a:t>NEON POSTGRES</a:t>
            </a:r>
            <a:endParaRPr lang="en-US" sz="1200" dirty="0"/>
          </a:p>
        </p:txBody>
      </p:sp>
      <p:sp>
        <p:nvSpPr>
          <p:cNvPr id="11" name="s7-arrow2"/>
          <p:cNvSpPr/>
          <p:nvPr/>
        </p:nvSpPr>
        <p:spPr>
          <a:xfrm>
            <a:off x="4550512" y="3785616"/>
            <a:ext cx="301752" cy="0"/>
          </a:xfrm>
          <a:prstGeom prst="line">
            <a:avLst/>
          </a:prstGeom>
          <a:noFill/>
          <a:ln w="19050">
            <a:solidFill>
              <a:schemeClr val="bg1"/>
            </a:solidFill>
            <a:prstDash val="solid"/>
            <a:tailEnd type="triangle"/>
          </a:ln>
        </p:spPr>
      </p:sp>
      <p:sp>
        <p:nvSpPr>
          <p:cNvPr id="12" name="s7-par-group"/>
          <p:cNvSpPr/>
          <p:nvPr/>
        </p:nvSpPr>
        <p:spPr>
          <a:xfrm>
            <a:off x="4907128" y="2240280"/>
            <a:ext cx="2377440" cy="2871216"/>
          </a:xfrm>
          <a:prstGeom prst="roundRect">
            <a:avLst>
              <a:gd name="adj" fmla="val 7692"/>
            </a:avLst>
          </a:prstGeom>
          <a:noFill/>
          <a:ln w="15875">
            <a:solidFill>
              <a:schemeClr val="accent2"/>
            </a:solidFill>
            <a:prstDash val="dash"/>
          </a:ln>
        </p:spPr>
      </p:sp>
      <p:sp>
        <p:nvSpPr>
          <p:cNvPr id="13" name="s7-par-label"/>
          <p:cNvSpPr txBox="1"/>
          <p:nvPr/>
        </p:nvSpPr>
        <p:spPr>
          <a:xfrm>
            <a:off x="4907128" y="2313432"/>
            <a:ext cx="2377440" cy="237744"/>
          </a:xfrm>
          <a:prstGeom prst="rect">
            <a:avLst/>
          </a:prstGeom>
          <a:noFill/>
          <a:ln/>
        </p:spPr>
        <p:txBody>
          <a:bodyPr wrap="square" lIns="0" tIns="0" rIns="0" bIns="0" rtlCol="0" anchor="ctr"/>
          <a:lstStyle/>
          <a:p>
            <a:pPr algn="ctr" indent="0" marL="0">
              <a:buNone/>
            </a:pPr>
            <a:r>
              <a:rPr lang="en-US" sz="1200" b="1" spc="300" kern="0" dirty="0">
                <a:solidFill>
                  <a:schemeClr val="accent2"/>
                </a:solidFill>
                <a:latin typeface="Courier New" pitchFamily="34" charset="0"/>
                <a:ea typeface="Courier New" pitchFamily="34" charset="-122"/>
                <a:cs typeface="Courier New" pitchFamily="34" charset="-120"/>
              </a:rPr>
              <a:t>IN PARALLEL</a:t>
            </a:r>
            <a:endParaRPr lang="en-US" sz="1200" dirty="0"/>
          </a:p>
        </p:txBody>
      </p:sp>
      <p:sp>
        <p:nvSpPr>
          <p:cNvPr id="14" name="s7-par-open-box"/>
          <p:cNvSpPr/>
          <p:nvPr/>
        </p:nvSpPr>
        <p:spPr>
          <a:xfrm>
            <a:off x="5090008" y="2569464"/>
            <a:ext cx="2011680" cy="731520"/>
          </a:xfrm>
          <a:prstGeom prst="roundRect">
            <a:avLst>
              <a:gd name="adj" fmla="val 17500"/>
            </a:avLst>
          </a:prstGeom>
          <a:solidFill>
            <a:schemeClr val="accent1"/>
          </a:solidFill>
          <a:ln w="12700">
            <a:solidFill>
              <a:schemeClr val="accent1"/>
            </a:solidFill>
            <a:prstDash val="solid"/>
          </a:ln>
        </p:spPr>
      </p:sp>
      <p:sp>
        <p:nvSpPr>
          <p:cNvPr id="15" name="s7-par-open-text"/>
          <p:cNvSpPr txBox="1"/>
          <p:nvPr/>
        </p:nvSpPr>
        <p:spPr>
          <a:xfrm>
            <a:off x="5227168" y="2569464"/>
            <a:ext cx="1783080" cy="731520"/>
          </a:xfrm>
          <a:prstGeom prst="rect">
            <a:avLst/>
          </a:prstGeom>
          <a:noFill/>
          <a:ln/>
        </p:spPr>
        <p:txBody>
          <a:bodyPr wrap="square" lIns="0" tIns="0" rIns="0" bIns="0" rtlCol="0" anchor="ctr"/>
          <a:lstStyle/>
          <a:p>
            <a:pPr indent="0" marL="0">
              <a:buNone/>
            </a:pPr>
            <a:r>
              <a:rPr lang="en-US" sz="1500" b="1" dirty="0">
                <a:solidFill>
                  <a:schemeClr val="bg1"/>
                </a:solidFill>
              </a:rPr>
              <a:t>open-link</a:t>
            </a:r>
            <a:endParaRPr lang="en-US" sz="1500" dirty="0"/>
          </a:p>
          <a:p>
            <a:pPr indent="0" marL="0">
              <a:buNone/>
            </a:pPr>
            <a:r>
              <a:rPr lang="en-US" sz="1200" dirty="0">
                <a:solidFill>
                  <a:schemeClr val="bg1"/>
                </a:solidFill>
              </a:rPr>
              <a:t>throwaway browser</a:t>
            </a:r>
            <a:endParaRPr lang="en-US" sz="1500" dirty="0"/>
          </a:p>
        </p:txBody>
      </p:sp>
      <p:sp>
        <p:nvSpPr>
          <p:cNvPr id="16" name="s7-par-claims-box"/>
          <p:cNvSpPr/>
          <p:nvPr/>
        </p:nvSpPr>
        <p:spPr>
          <a:xfrm>
            <a:off x="5090008" y="3419856"/>
            <a:ext cx="2011680" cy="731520"/>
          </a:xfrm>
          <a:prstGeom prst="roundRect">
            <a:avLst>
              <a:gd name="adj" fmla="val 17500"/>
            </a:avLst>
          </a:prstGeom>
          <a:solidFill>
            <a:schemeClr val="accent5"/>
          </a:solidFill>
          <a:ln w="12700">
            <a:solidFill>
              <a:srgbClr val="3A3129"/>
            </a:solidFill>
            <a:prstDash val="solid"/>
          </a:ln>
        </p:spPr>
      </p:sp>
      <p:sp>
        <p:nvSpPr>
          <p:cNvPr id="17" name="s7-par-claims-text"/>
          <p:cNvSpPr txBox="1"/>
          <p:nvPr/>
        </p:nvSpPr>
        <p:spPr>
          <a:xfrm>
            <a:off x="5227168" y="3419856"/>
            <a:ext cx="1783080" cy="731520"/>
          </a:xfrm>
          <a:prstGeom prst="rect">
            <a:avLst/>
          </a:prstGeom>
          <a:noFill/>
          <a:ln/>
        </p:spPr>
        <p:txBody>
          <a:bodyPr wrap="square" lIns="0" tIns="0" rIns="0" bIns="0" rtlCol="0" anchor="ctr"/>
          <a:lstStyle/>
          <a:p>
            <a:pPr indent="0" marL="0">
              <a:buNone/>
            </a:pPr>
            <a:r>
              <a:rPr lang="en-US" sz="1500" b="1" dirty="0">
                <a:solidFill>
                  <a:schemeClr val="bg1"/>
                </a:solidFill>
              </a:rPr>
              <a:t>check-claims</a:t>
            </a:r>
            <a:endParaRPr lang="en-US" sz="1500" dirty="0"/>
          </a:p>
          <a:p>
            <a:pPr indent="0" marL="0">
              <a:buNone/>
            </a:pPr>
            <a:r>
              <a:rPr lang="en-US" sz="1200" dirty="0">
                <a:solidFill>
                  <a:schemeClr val="bg2"/>
                </a:solidFill>
              </a:rPr>
              <a:t>official site, scam reports</a:t>
            </a:r>
            <a:endParaRPr lang="en-US" sz="1500" dirty="0"/>
          </a:p>
        </p:txBody>
      </p:sp>
      <p:sp>
        <p:nvSpPr>
          <p:cNvPr id="18" name="s7-par-address-box"/>
          <p:cNvSpPr/>
          <p:nvPr/>
        </p:nvSpPr>
        <p:spPr>
          <a:xfrm>
            <a:off x="5090008" y="4270248"/>
            <a:ext cx="2011680" cy="731520"/>
          </a:xfrm>
          <a:prstGeom prst="roundRect">
            <a:avLst>
              <a:gd name="adj" fmla="val 17500"/>
            </a:avLst>
          </a:prstGeom>
          <a:solidFill>
            <a:schemeClr val="accent5"/>
          </a:solidFill>
          <a:ln w="12700">
            <a:solidFill>
              <a:srgbClr val="3A3129"/>
            </a:solidFill>
            <a:prstDash val="solid"/>
          </a:ln>
        </p:spPr>
      </p:sp>
      <p:sp>
        <p:nvSpPr>
          <p:cNvPr id="19" name="s7-par-address-text"/>
          <p:cNvSpPr txBox="1"/>
          <p:nvPr/>
        </p:nvSpPr>
        <p:spPr>
          <a:xfrm>
            <a:off x="5227168" y="4270248"/>
            <a:ext cx="1783080" cy="731520"/>
          </a:xfrm>
          <a:prstGeom prst="rect">
            <a:avLst/>
          </a:prstGeom>
          <a:noFill/>
          <a:ln/>
        </p:spPr>
        <p:txBody>
          <a:bodyPr wrap="square" lIns="0" tIns="0" rIns="0" bIns="0" rtlCol="0" anchor="ctr"/>
          <a:lstStyle/>
          <a:p>
            <a:pPr indent="0" marL="0">
              <a:buNone/>
            </a:pPr>
            <a:r>
              <a:rPr lang="en-US" sz="1500" b="1" dirty="0">
                <a:solidFill>
                  <a:schemeClr val="bg1"/>
                </a:solidFill>
              </a:rPr>
              <a:t>check-address</a:t>
            </a:r>
            <a:endParaRPr lang="en-US" sz="1500" dirty="0"/>
          </a:p>
          <a:p>
            <a:pPr indent="0" marL="0">
              <a:buNone/>
            </a:pPr>
            <a:r>
              <a:rPr lang="en-US" sz="1200" dirty="0">
                <a:solidFill>
                  <a:schemeClr val="bg2"/>
                </a:solidFill>
              </a:rPr>
              <a:t>age, lookalike tricks</a:t>
            </a:r>
            <a:endParaRPr lang="en-US" sz="1500" dirty="0"/>
          </a:p>
        </p:txBody>
      </p:sp>
      <p:sp>
        <p:nvSpPr>
          <p:cNvPr id="20" name="s7-par-tool"/>
          <p:cNvSpPr txBox="1"/>
          <p:nvPr/>
        </p:nvSpPr>
        <p:spPr>
          <a:xfrm>
            <a:off x="4724248" y="5202936"/>
            <a:ext cx="2743200" cy="256032"/>
          </a:xfrm>
          <a:prstGeom prst="rect">
            <a:avLst/>
          </a:prstGeom>
          <a:noFill/>
          <a:ln/>
        </p:spPr>
        <p:txBody>
          <a:bodyPr wrap="square" lIns="0" tIns="0" rIns="0" bIns="0" rtlCol="0" anchor="ctr"/>
          <a:lstStyle/>
          <a:p>
            <a:pPr algn="ctr" indent="0" marL="0">
              <a:buNone/>
            </a:pPr>
            <a:r>
              <a:rPr lang="en-US" sz="1200" b="1" spc="100" kern="0" dirty="0">
                <a:solidFill>
                  <a:schemeClr val="bg2"/>
                </a:solidFill>
                <a:latin typeface="Courier New" pitchFamily="34" charset="0"/>
                <a:ea typeface="Courier New" pitchFamily="34" charset="-122"/>
                <a:cs typeface="Courier New" pitchFamily="34" charset="-120"/>
              </a:rPr>
              <a:t>KERNEL · EXA · RDAP</a:t>
            </a:r>
            <a:endParaRPr lang="en-US" sz="1200" dirty="0"/>
          </a:p>
        </p:txBody>
      </p:sp>
      <p:sp>
        <p:nvSpPr>
          <p:cNvPr id="21" name="s7-arrow3"/>
          <p:cNvSpPr/>
          <p:nvPr/>
        </p:nvSpPr>
        <p:spPr>
          <a:xfrm>
            <a:off x="7339432" y="3785616"/>
            <a:ext cx="301752" cy="0"/>
          </a:xfrm>
          <a:prstGeom prst="line">
            <a:avLst/>
          </a:prstGeom>
          <a:noFill/>
          <a:ln w="19050">
            <a:solidFill>
              <a:schemeClr val="bg1"/>
            </a:solidFill>
            <a:prstDash val="solid"/>
            <a:tailEnd type="triangle"/>
          </a:ln>
        </p:spPr>
      </p:sp>
      <p:sp>
        <p:nvSpPr>
          <p:cNvPr id="22" name="s7-decide-box"/>
          <p:cNvSpPr/>
          <p:nvPr/>
        </p:nvSpPr>
        <p:spPr>
          <a:xfrm>
            <a:off x="7696048" y="3282696"/>
            <a:ext cx="1737360" cy="1005840"/>
          </a:xfrm>
          <a:prstGeom prst="roundRect">
            <a:avLst>
              <a:gd name="adj" fmla="val 12727"/>
            </a:avLst>
          </a:prstGeom>
          <a:solidFill>
            <a:schemeClr val="accent5"/>
          </a:solidFill>
          <a:ln w="12700">
            <a:solidFill>
              <a:srgbClr val="3A3129"/>
            </a:solidFill>
            <a:prstDash val="solid"/>
          </a:ln>
        </p:spPr>
      </p:sp>
      <p:sp>
        <p:nvSpPr>
          <p:cNvPr id="23" name="s7-decide-text"/>
          <p:cNvSpPr txBox="1"/>
          <p:nvPr/>
        </p:nvSpPr>
        <p:spPr>
          <a:xfrm>
            <a:off x="7833208" y="3282696"/>
            <a:ext cx="1508760" cy="1005840"/>
          </a:xfrm>
          <a:prstGeom prst="rect">
            <a:avLst/>
          </a:prstGeom>
          <a:noFill/>
          <a:ln/>
        </p:spPr>
        <p:txBody>
          <a:bodyPr wrap="square" lIns="0" tIns="0" rIns="0" bIns="0" rtlCol="0" anchor="ctr"/>
          <a:lstStyle/>
          <a:p>
            <a:pPr indent="0" marL="0">
              <a:buNone/>
            </a:pPr>
            <a:r>
              <a:rPr lang="en-US" sz="1500" b="1" dirty="0">
                <a:solidFill>
                  <a:schemeClr val="bg1"/>
                </a:solidFill>
              </a:rPr>
              <a:t>decide</a:t>
            </a:r>
            <a:endParaRPr lang="en-US" sz="1500" dirty="0"/>
          </a:p>
          <a:p>
            <a:pPr indent="0" marL="0">
              <a:buNone/>
            </a:pPr>
            <a:r>
              <a:rPr lang="en-US" sz="1200" dirty="0">
                <a:solidFill>
                  <a:schemeClr val="bg2"/>
                </a:solidFill>
              </a:rPr>
              <a:t>rules set the level</a:t>
            </a:r>
            <a:endParaRPr lang="en-US" sz="1500" dirty="0"/>
          </a:p>
        </p:txBody>
      </p:sp>
      <p:sp>
        <p:nvSpPr>
          <p:cNvPr id="24" name="s7-decide-tool"/>
          <p:cNvSpPr txBox="1"/>
          <p:nvPr/>
        </p:nvSpPr>
        <p:spPr>
          <a:xfrm>
            <a:off x="7513168" y="4379976"/>
            <a:ext cx="2103120" cy="256032"/>
          </a:xfrm>
          <a:prstGeom prst="rect">
            <a:avLst/>
          </a:prstGeom>
          <a:noFill/>
          <a:ln/>
        </p:spPr>
        <p:txBody>
          <a:bodyPr wrap="square" lIns="0" tIns="0" rIns="0" bIns="0" rtlCol="0" anchor="ctr"/>
          <a:lstStyle/>
          <a:p>
            <a:pPr algn="ctr" indent="0" marL="0">
              <a:buNone/>
            </a:pPr>
            <a:r>
              <a:rPr lang="en-US" sz="1200" b="1" spc="100" kern="0" dirty="0">
                <a:solidFill>
                  <a:schemeClr val="bg2"/>
                </a:solidFill>
                <a:latin typeface="Courier New" pitchFamily="34" charset="0"/>
                <a:ea typeface="Courier New" pitchFamily="34" charset="-122"/>
                <a:cs typeface="Courier New" pitchFamily="34" charset="-120"/>
              </a:rPr>
              <a:t>RULES + MODEL</a:t>
            </a:r>
            <a:endParaRPr lang="en-US" sz="1200" dirty="0"/>
          </a:p>
        </p:txBody>
      </p:sp>
      <p:sp>
        <p:nvSpPr>
          <p:cNvPr id="25" name="s7-arrow4"/>
          <p:cNvSpPr/>
          <p:nvPr/>
        </p:nvSpPr>
        <p:spPr>
          <a:xfrm>
            <a:off x="9488272" y="3785616"/>
            <a:ext cx="301752" cy="0"/>
          </a:xfrm>
          <a:prstGeom prst="line">
            <a:avLst/>
          </a:prstGeom>
          <a:noFill/>
          <a:ln w="19050">
            <a:solidFill>
              <a:schemeClr val="bg1"/>
            </a:solidFill>
            <a:prstDash val="solid"/>
            <a:tailEnd type="triangle"/>
          </a:ln>
        </p:spPr>
      </p:sp>
      <p:sp>
        <p:nvSpPr>
          <p:cNvPr id="26" name="s7-respond-box"/>
          <p:cNvSpPr/>
          <p:nvPr/>
        </p:nvSpPr>
        <p:spPr>
          <a:xfrm>
            <a:off x="9844888" y="3282696"/>
            <a:ext cx="1737360" cy="1005840"/>
          </a:xfrm>
          <a:prstGeom prst="roundRect">
            <a:avLst>
              <a:gd name="adj" fmla="val 12727"/>
            </a:avLst>
          </a:prstGeom>
          <a:solidFill>
            <a:schemeClr val="accent5"/>
          </a:solidFill>
          <a:ln w="12700">
            <a:solidFill>
              <a:srgbClr val="3A3129"/>
            </a:solidFill>
            <a:prstDash val="solid"/>
          </a:ln>
        </p:spPr>
      </p:sp>
      <p:sp>
        <p:nvSpPr>
          <p:cNvPr id="27" name="s7-respond-text"/>
          <p:cNvSpPr txBox="1"/>
          <p:nvPr/>
        </p:nvSpPr>
        <p:spPr>
          <a:xfrm>
            <a:off x="9982048" y="3282696"/>
            <a:ext cx="1508760" cy="1005840"/>
          </a:xfrm>
          <a:prstGeom prst="rect">
            <a:avLst/>
          </a:prstGeom>
          <a:noFill/>
          <a:ln/>
        </p:spPr>
        <p:txBody>
          <a:bodyPr wrap="square" lIns="0" tIns="0" rIns="0" bIns="0" rtlCol="0" anchor="ctr"/>
          <a:lstStyle/>
          <a:p>
            <a:pPr indent="0" marL="0">
              <a:buNone/>
            </a:pPr>
            <a:r>
              <a:rPr lang="en-US" sz="1500" b="1" dirty="0">
                <a:solidFill>
                  <a:schemeClr val="bg1"/>
                </a:solidFill>
              </a:rPr>
              <a:t>respond</a:t>
            </a:r>
            <a:endParaRPr lang="en-US" sz="1500" dirty="0"/>
          </a:p>
          <a:p>
            <a:pPr indent="0" marL="0">
              <a:buNone/>
            </a:pPr>
            <a:r>
              <a:rPr lang="en-US" sz="1200" dirty="0">
                <a:solidFill>
                  <a:schemeClr val="bg2"/>
                </a:solidFill>
              </a:rPr>
              <a:t>reply, alert, store</a:t>
            </a:r>
            <a:endParaRPr lang="en-US" sz="1500" dirty="0"/>
          </a:p>
        </p:txBody>
      </p:sp>
      <p:sp>
        <p:nvSpPr>
          <p:cNvPr id="28" name="s7-respond-tool"/>
          <p:cNvSpPr txBox="1"/>
          <p:nvPr/>
        </p:nvSpPr>
        <p:spPr>
          <a:xfrm>
            <a:off x="9662008" y="4379976"/>
            <a:ext cx="2103120" cy="256032"/>
          </a:xfrm>
          <a:prstGeom prst="rect">
            <a:avLst/>
          </a:prstGeom>
          <a:noFill/>
          <a:ln/>
        </p:spPr>
        <p:txBody>
          <a:bodyPr wrap="square" lIns="0" tIns="0" rIns="0" bIns="0" rtlCol="0" anchor="ctr"/>
          <a:lstStyle/>
          <a:p>
            <a:pPr algn="ctr" indent="0" marL="0">
              <a:buNone/>
            </a:pPr>
            <a:r>
              <a:rPr lang="en-US" sz="1200" b="1" spc="100" kern="0" dirty="0">
                <a:solidFill>
                  <a:schemeClr val="bg2"/>
                </a:solidFill>
                <a:latin typeface="Courier New" pitchFamily="34" charset="0"/>
                <a:ea typeface="Courier New" pitchFamily="34" charset="-122"/>
                <a:cs typeface="Courier New" pitchFamily="34" charset="-120"/>
              </a:rPr>
              <a:t>AGENTMAIL</a:t>
            </a:r>
            <a:endParaRPr lang="en-US" sz="1200" dirty="0"/>
          </a:p>
        </p:txBody>
      </p:sp>
      <p:sp>
        <p:nvSpPr>
          <p:cNvPr id="29" name="s7-arc"/>
          <p:cNvSpPr/>
          <p:nvPr/>
        </p:nvSpPr>
        <p:spPr>
          <a:xfrm>
            <a:off x="3626968" y="1792224"/>
            <a:ext cx="7086600" cy="1417320"/>
          </a:xfrm>
          <a:custGeom>
            <a:avLst/>
            <a:gdLst/>
            <a:ahLst/>
            <a:cxnLst/>
            <a:rect l="l" t="t" r="r" b="b"/>
            <a:pathLst>
              <a:path w="7086600" h="1417320">
                <a:moveTo>
                  <a:pt x="0" y="1417320"/>
                </a:moveTo>
                <a:lnTo>
                  <a:pt x="0" y="274320"/>
                </a:lnTo>
                <a:cubicBezTo>
                  <a:pt x="0" y="122530"/>
                  <a:pt x="122530" y="0"/>
                  <a:pt x="274320" y="0"/>
                </a:cubicBezTo>
                <a:lnTo>
                  <a:pt x="6812280" y="0"/>
                </a:lnTo>
                <a:cubicBezTo>
                  <a:pt x="6964070" y="0"/>
                  <a:pt x="7086600" y="122530"/>
                  <a:pt x="7086600" y="274320"/>
                </a:cubicBezTo>
                <a:lnTo>
                  <a:pt x="7086600" y="1417320"/>
                </a:lnTo>
              </a:path>
            </a:pathLst>
          </a:custGeom>
          <a:noFill/>
          <a:ln w="19050">
            <a:solidFill>
              <a:schemeClr val="accent2"/>
            </a:solidFill>
            <a:prstDash val="dash"/>
            <a:tailEnd type="triangle"/>
          </a:ln>
        </p:spPr>
      </p:sp>
      <p:sp>
        <p:nvSpPr>
          <p:cNvPr id="30" name="s7-arc-label"/>
          <p:cNvSpPr/>
          <p:nvPr/>
        </p:nvSpPr>
        <p:spPr>
          <a:xfrm>
            <a:off x="4884268" y="1627632"/>
            <a:ext cx="4572000" cy="329184"/>
          </a:xfrm>
          <a:prstGeom prst="roundRect">
            <a:avLst>
              <a:gd name="adj" fmla="val 50000"/>
            </a:avLst>
          </a:prstGeom>
          <a:solidFill>
            <a:schemeClr val="tx2"/>
          </a:solidFill>
          <a:ln w="12700">
            <a:solidFill>
              <a:schemeClr val="accent2"/>
            </a:solidFill>
          </a:ln>
        </p:spPr>
        <p:txBody>
          <a:bodyPr wrap="square" lIns="0" tIns="0" rIns="0" bIns="0" rtlCol="0" anchor="ctr"/>
          <a:lstStyle/>
          <a:p>
            <a:pPr algn="ctr" indent="0" marL="0">
              <a:buNone/>
            </a:pPr>
            <a:r>
              <a:rPr lang="en-US" sz="1200" b="1" spc="200" kern="0" dirty="0">
                <a:solidFill>
                  <a:schemeClr val="accent2"/>
                </a:solidFill>
                <a:latin typeface="Courier New" pitchFamily="34" charset="0"/>
                <a:ea typeface="Courier New" pitchFamily="34" charset="-122"/>
                <a:cs typeface="Courier New" pitchFamily="34" charset="-120"/>
              </a:rPr>
              <a:t>SEEN BEFORE: ANSWERED FROM MEMORY</a:t>
            </a:r>
            <a:endParaRPr lang="en-US" sz="1200" dirty="0"/>
          </a:p>
        </p:txBody>
      </p:sp>
      <p:sp>
        <p:nvSpPr>
          <p:cNvPr id="31" name="s7-caption"/>
          <p:cNvSpPr txBox="1"/>
          <p:nvPr/>
        </p:nvSpPr>
        <p:spPr>
          <a:xfrm>
            <a:off x="548640" y="5596128"/>
            <a:ext cx="11094415" cy="457200"/>
          </a:xfrm>
          <a:prstGeom prst="rect">
            <a:avLst/>
          </a:prstGeom>
          <a:noFill/>
          <a:ln/>
        </p:spPr>
        <p:txBody>
          <a:bodyPr wrap="square" lIns="0" tIns="0" rIns="0" bIns="0" rtlCol="0" anchor="ctr"/>
          <a:lstStyle/>
          <a:p>
            <a:pPr indent="0" marL="0">
              <a:buNone/>
            </a:pPr>
            <a:r>
              <a:rPr lang="en-US" sz="2000" b="1" dirty="0">
                <a:solidFill>
                  <a:schemeClr val="bg1"/>
                </a:solidFill>
              </a:rPr>
              <a:t>Rules decide the level. </a:t>
            </a:r>
            <a:pPr indent="0" marL="0">
              <a:buNone/>
            </a:pPr>
            <a:r>
              <a:rPr lang="en-US" sz="2000" b="1" dirty="0">
                <a:solidFill>
                  <a:schemeClr val="bg2"/>
                </a:solidFill>
              </a:rPr>
              <a:t>The model only writes the sentence.</a:t>
            </a:r>
            <a:endParaRPr lang="en-US" sz="2000" dirty="0"/>
          </a:p>
        </p:txBody>
      </p:sp>
      <p:sp>
        <p:nvSpPr>
          <p:cNvPr id="32" name="Slide Number Placeholder 0"/>
          <p:cNvSpPr>
            <a:spLocks noGrp="1"/>
          </p:cNvSpPr>
          <p:nvPr>
            <p:ph type="sldNum" sz="quarter" idx="4294967295"/>
          </p:nvPr>
        </p:nvSpPr>
        <p:spPr>
          <a:xfrm>
            <a:off x="10911535" y="6336792"/>
            <a:ext cx="73152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latin typeface="Courier New"/>
                <a:ea typeface="Courier New"/>
                <a:cs typeface="Courier New"/>
              </a:defRPr>
            </a:lvl1pPr>
          </a:lstStyle>
          <a:p>
            <a:pPr algn="r"/>
            <a:fld id="{F7021451-1387-4CA6-816F-3879F97B5CBC}" type="slidenum">
              <a:rPr b="1"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par>
                          <p:cTn id="14" fill="hold">
                            <p:stCondLst>
                              <p:cond delay="600"/>
                            </p:stCondLst>
                            <p:childTnLst>
                              <p:par>
                                <p:cTn id="15" presetID="10" presetClass="entr" presetSubtype="0" fill="hold" grpId="0" nodeType="afterEffect">
                                  <p:stCondLst>
                                    <p:cond delay="15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300"/>
                                        <p:tgtEl>
                                          <p:spTgt spid="7"/>
                                        </p:tgtEl>
                                      </p:cBhvr>
                                    </p:animEffect>
                                  </p:childTnLst>
                                </p:cTn>
                              </p:par>
                              <p:par>
                                <p:cTn id="18" presetID="10" presetClass="entr" presetSubtype="0" fill="hold" grpId="0" nodeType="withEffect">
                                  <p:stCondLst>
                                    <p:cond delay="15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300"/>
                                        <p:tgtEl>
                                          <p:spTgt spid="8"/>
                                        </p:tgtEl>
                                      </p:cBhvr>
                                    </p:animEffect>
                                  </p:childTnLst>
                                </p:cTn>
                              </p:par>
                              <p:par>
                                <p:cTn id="21" presetID="10" presetClass="entr" presetSubtype="0" fill="hold" grpId="0" nodeType="withEffect">
                                  <p:stCondLst>
                                    <p:cond delay="1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300"/>
                                        <p:tgtEl>
                                          <p:spTgt spid="9"/>
                                        </p:tgtEl>
                                      </p:cBhvr>
                                    </p:animEffect>
                                  </p:childTnLst>
                                </p:cTn>
                              </p:par>
                              <p:par>
                                <p:cTn id="24" presetID="10" presetClass="entr" presetSubtype="0" fill="hold" grpId="0" nodeType="withEffect">
                                  <p:stCondLst>
                                    <p:cond delay="15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300"/>
                                        <p:tgtEl>
                                          <p:spTgt spid="10"/>
                                        </p:tgtEl>
                                      </p:cBhvr>
                                    </p:animEffect>
                                  </p:childTnLst>
                                </p:cTn>
                              </p:par>
                            </p:childTnLst>
                          </p:cTn>
                        </p:par>
                        <p:par>
                          <p:cTn id="27" fill="hold">
                            <p:stCondLst>
                              <p:cond delay="1050"/>
                            </p:stCondLst>
                            <p:childTnLst>
                              <p:par>
                                <p:cTn id="28" presetID="10" presetClass="entr" presetSubtype="0" fill="hold" grpId="0" nodeType="afterEffect">
                                  <p:stCondLst>
                                    <p:cond delay="15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grpId="0" nodeType="withEffect">
                                  <p:stCondLst>
                                    <p:cond delay="1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00"/>
                                        <p:tgtEl>
                                          <p:spTgt spid="12"/>
                                        </p:tgtEl>
                                      </p:cBhvr>
                                    </p:animEffect>
                                  </p:childTnLst>
                                </p:cTn>
                              </p:par>
                              <p:par>
                                <p:cTn id="34" presetID="10" presetClass="entr" presetSubtype="0" fill="hold" grpId="0" nodeType="withEffect">
                                  <p:stCondLst>
                                    <p:cond delay="15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00"/>
                                        <p:tgtEl>
                                          <p:spTgt spid="13"/>
                                        </p:tgtEl>
                                      </p:cBhvr>
                                    </p:animEffect>
                                  </p:childTnLst>
                                </p:cTn>
                              </p:par>
                              <p:par>
                                <p:cTn id="37" presetID="10" presetClass="entr" presetSubtype="0" fill="hold" grpId="0" nodeType="withEffect">
                                  <p:stCondLst>
                                    <p:cond delay="1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par>
                                <p:cTn id="40" presetID="10" presetClass="entr" presetSubtype="0" fill="hold" grpId="0" nodeType="withEffect">
                                  <p:stCondLst>
                                    <p:cond delay="1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par>
                                <p:cTn id="43" presetID="10" presetClass="entr" presetSubtype="0" fill="hold" grpId="0" nodeType="withEffect">
                                  <p:stCondLst>
                                    <p:cond delay="15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00"/>
                                        <p:tgtEl>
                                          <p:spTgt spid="16"/>
                                        </p:tgtEl>
                                      </p:cBhvr>
                                    </p:animEffect>
                                  </p:childTnLst>
                                </p:cTn>
                              </p:par>
                              <p:par>
                                <p:cTn id="46" presetID="10" presetClass="entr" presetSubtype="0" fill="hold" grpId="0" nodeType="withEffect">
                                  <p:stCondLst>
                                    <p:cond delay="15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00"/>
                                        <p:tgtEl>
                                          <p:spTgt spid="17"/>
                                        </p:tgtEl>
                                      </p:cBhvr>
                                    </p:animEffect>
                                  </p:childTnLst>
                                </p:cTn>
                              </p:par>
                              <p:par>
                                <p:cTn id="49" presetID="10" presetClass="entr" presetSubtype="0" fill="hold" grpId="0" nodeType="withEffect">
                                  <p:stCondLst>
                                    <p:cond delay="15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00"/>
                                        <p:tgtEl>
                                          <p:spTgt spid="18"/>
                                        </p:tgtEl>
                                      </p:cBhvr>
                                    </p:animEffect>
                                  </p:childTnLst>
                                </p:cTn>
                              </p:par>
                              <p:par>
                                <p:cTn id="52" presetID="10" presetClass="entr" presetSubtype="0" fill="hold" grpId="0" nodeType="withEffect">
                                  <p:stCondLst>
                                    <p:cond delay="15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00"/>
                                        <p:tgtEl>
                                          <p:spTgt spid="19"/>
                                        </p:tgtEl>
                                      </p:cBhvr>
                                    </p:animEffect>
                                  </p:childTnLst>
                                </p:cTn>
                              </p:par>
                              <p:par>
                                <p:cTn id="55" presetID="10" presetClass="entr" presetSubtype="0" fill="hold" grpId="0" nodeType="withEffect">
                                  <p:stCondLst>
                                    <p:cond delay="15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00"/>
                                        <p:tgtEl>
                                          <p:spTgt spid="20"/>
                                        </p:tgtEl>
                                      </p:cBhvr>
                                    </p:animEffect>
                                  </p:childTnLst>
                                </p:cTn>
                              </p:par>
                            </p:childTnLst>
                          </p:cTn>
                        </p:par>
                        <p:par>
                          <p:cTn id="58" fill="hold">
                            <p:stCondLst>
                              <p:cond delay="1600"/>
                            </p:stCondLst>
                            <p:childTnLst>
                              <p:par>
                                <p:cTn id="59" presetID="10" presetClass="entr" presetSubtype="0" fill="hold" grpId="0" nodeType="afterEffect">
                                  <p:stCondLst>
                                    <p:cond delay="25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300"/>
                                        <p:tgtEl>
                                          <p:spTgt spid="21"/>
                                        </p:tgtEl>
                                      </p:cBhvr>
                                    </p:animEffect>
                                  </p:childTnLst>
                                </p:cTn>
                              </p:par>
                              <p:par>
                                <p:cTn id="62" presetID="10" presetClass="entr" presetSubtype="0" fill="hold" grpId="0" nodeType="withEffect">
                                  <p:stCondLst>
                                    <p:cond delay="25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300"/>
                                        <p:tgtEl>
                                          <p:spTgt spid="22"/>
                                        </p:tgtEl>
                                      </p:cBhvr>
                                    </p:animEffect>
                                  </p:childTnLst>
                                </p:cTn>
                              </p:par>
                              <p:par>
                                <p:cTn id="65" presetID="10" presetClass="entr" presetSubtype="0" fill="hold" grpId="0" nodeType="withEffect">
                                  <p:stCondLst>
                                    <p:cond delay="25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00"/>
                                        <p:tgtEl>
                                          <p:spTgt spid="23"/>
                                        </p:tgtEl>
                                      </p:cBhvr>
                                    </p:animEffect>
                                  </p:childTnLst>
                                </p:cTn>
                              </p:par>
                              <p:par>
                                <p:cTn id="68" presetID="10" presetClass="entr" presetSubtype="0" fill="hold" grpId="0" nodeType="withEffect">
                                  <p:stCondLst>
                                    <p:cond delay="25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300"/>
                                        <p:tgtEl>
                                          <p:spTgt spid="24"/>
                                        </p:tgtEl>
                                      </p:cBhvr>
                                    </p:animEffect>
                                  </p:childTnLst>
                                </p:cTn>
                              </p:par>
                            </p:childTnLst>
                          </p:cTn>
                        </p:par>
                        <p:par>
                          <p:cTn id="71" fill="hold">
                            <p:stCondLst>
                              <p:cond delay="2150"/>
                            </p:stCondLst>
                            <p:childTnLst>
                              <p:par>
                                <p:cTn id="72" presetID="10" presetClass="entr" presetSubtype="0" fill="hold" grpId="0" nodeType="afterEffect">
                                  <p:stCondLst>
                                    <p:cond delay="15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300"/>
                                        <p:tgtEl>
                                          <p:spTgt spid="25"/>
                                        </p:tgtEl>
                                      </p:cBhvr>
                                    </p:animEffect>
                                  </p:childTnLst>
                                </p:cTn>
                              </p:par>
                              <p:par>
                                <p:cTn id="75" presetID="10" presetClass="entr" presetSubtype="0" fill="hold" grpId="0" nodeType="withEffect">
                                  <p:stCondLst>
                                    <p:cond delay="15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300"/>
                                        <p:tgtEl>
                                          <p:spTgt spid="26"/>
                                        </p:tgtEl>
                                      </p:cBhvr>
                                    </p:animEffect>
                                  </p:childTnLst>
                                </p:cTn>
                              </p:par>
                              <p:par>
                                <p:cTn id="78" presetID="10" presetClass="entr" presetSubtype="0" fill="hold" grpId="0" nodeType="withEffect">
                                  <p:stCondLst>
                                    <p:cond delay="15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300"/>
                                        <p:tgtEl>
                                          <p:spTgt spid="27"/>
                                        </p:tgtEl>
                                      </p:cBhvr>
                                    </p:animEffect>
                                  </p:childTnLst>
                                </p:cTn>
                              </p:par>
                              <p:par>
                                <p:cTn id="81" presetID="10" presetClass="entr" presetSubtype="0" fill="hold" grpId="0" nodeType="withEffect">
                                  <p:stCondLst>
                                    <p:cond delay="15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300"/>
                                        <p:tgtEl>
                                          <p:spTgt spid="28"/>
                                        </p:tgtEl>
                                      </p:cBhvr>
                                    </p:animEffect>
                                  </p:childTnLst>
                                </p:cTn>
                              </p:par>
                            </p:childTnLst>
                          </p:cTn>
                        </p:par>
                        <p:par>
                          <p:cTn id="84" fill="hold">
                            <p:stCondLst>
                              <p:cond delay="2600"/>
                            </p:stCondLst>
                            <p:childTnLst>
                              <p:par>
                                <p:cTn id="85" presetID="22" presetClass="entr" presetSubtype="8" fill="hold" grpId="0" nodeType="afterEffect">
                                  <p:stCondLst>
                                    <p:cond delay="300"/>
                                  </p:stCondLst>
                                  <p:childTnLst>
                                    <p:set>
                                      <p:cBhvr>
                                        <p:cTn id="86" dur="1" fill="hold">
                                          <p:stCondLst>
                                            <p:cond delay="0"/>
                                          </p:stCondLst>
                                        </p:cTn>
                                        <p:tgtEl>
                                          <p:spTgt spid="29"/>
                                        </p:tgtEl>
                                        <p:attrNameLst>
                                          <p:attrName>style.visibility</p:attrName>
                                        </p:attrNameLst>
                                      </p:cBhvr>
                                      <p:to>
                                        <p:strVal val="visible"/>
                                      </p:to>
                                    </p:set>
                                    <p:animEffect transition="in" filter="wipe(left)">
                                      <p:cBhvr>
                                        <p:cTn id="87" dur="700"/>
                                        <p:tgtEl>
                                          <p:spTgt spid="29"/>
                                        </p:tgtEl>
                                      </p:cBhvr>
                                    </p:animEffect>
                                  </p:childTnLst>
                                </p:cTn>
                              </p:par>
                              <p:par>
                                <p:cTn id="88" presetID="22" presetClass="entr" presetSubtype="8" fill="hold" grpId="0" nodeType="withEffect">
                                  <p:stCondLst>
                                    <p:cond delay="300"/>
                                  </p:stCondLst>
                                  <p:childTnLst>
                                    <p:set>
                                      <p:cBhvr>
                                        <p:cTn id="89" dur="1" fill="hold">
                                          <p:stCondLst>
                                            <p:cond delay="0"/>
                                          </p:stCondLst>
                                        </p:cTn>
                                        <p:tgtEl>
                                          <p:spTgt spid="30"/>
                                        </p:tgtEl>
                                        <p:attrNameLst>
                                          <p:attrName>style.visibility</p:attrName>
                                        </p:attrNameLst>
                                      </p:cBhvr>
                                      <p:to>
                                        <p:strVal val="visible"/>
                                      </p:to>
                                    </p:set>
                                    <p:animEffect transition="in" filter="wipe(left)">
                                      <p:cBhvr>
                                        <p:cTn id="90" dur="700"/>
                                        <p:tgtEl>
                                          <p:spTgt spid="30"/>
                                        </p:tgtEl>
                                      </p:cBhvr>
                                    </p:animEffect>
                                  </p:childTnLst>
                                </p:cTn>
                              </p:par>
                            </p:childTnLst>
                          </p:cTn>
                        </p:par>
                        <p:par>
                          <p:cTn id="91" fill="hold">
                            <p:stCondLst>
                              <p:cond delay="3600"/>
                            </p:stCondLst>
                            <p:childTnLst>
                              <p:par>
                                <p:cTn id="92" presetID="10" presetClass="entr" presetSubtype="0" fill="hold" grpId="0" nodeType="afterEffect">
                                  <p:stCondLst>
                                    <p:cond delay="20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8-eyebrow"/>
          <p:cNvSpPr txBox="1"/>
          <p:nvPr/>
        </p:nvSpPr>
        <p:spPr>
          <a:xfrm>
            <a:off x="548640" y="384048"/>
            <a:ext cx="5486400" cy="256032"/>
          </a:xfrm>
          <a:prstGeom prst="rect">
            <a:avLst/>
          </a:prstGeom>
          <a:noFill/>
          <a:ln/>
        </p:spPr>
        <p:txBody>
          <a:bodyPr wrap="square" lIns="0" tIns="0" rIns="0" bIns="0" rtlCol="0" anchor="ctr"/>
          <a:lstStyle/>
          <a:p>
            <a:pPr indent="0" marL="0">
              <a:buNone/>
            </a:pPr>
            <a:r>
              <a:rPr lang="en-US" sz="1200" b="1" spc="300" kern="0" dirty="0">
                <a:solidFill>
                  <a:srgbClr val="62574A"/>
                </a:solidFill>
                <a:latin typeface="Courier New" pitchFamily="34" charset="0"/>
                <a:ea typeface="Courier New" pitchFamily="34" charset="-122"/>
                <a:cs typeface="Courier New" pitchFamily="34" charset="-120"/>
              </a:rPr>
              <a:t>THE STACK</a:t>
            </a:r>
            <a:endParaRPr lang="en-US" sz="1200" dirty="0"/>
          </a:p>
        </p:txBody>
      </p:sp>
      <p:sp>
        <p:nvSpPr>
          <p:cNvPr id="3" name="Title"/>
          <p:cNvSpPr/>
          <p:nvPr>
            <p:ph idx="102" type="title" hasCustomPrompt="1"/>
          </p:nvPr>
        </p:nvSpPr>
        <p:spPr>
          <a:xfrm>
            <a:off x="548640" y="640080"/>
            <a:ext cx="11094415" cy="749808"/>
          </a:xfrm>
          <a:prstGeom prst="rect">
            <a:avLst/>
          </a:prstGeom>
          <a:noFill/>
          <a:ln/>
        </p:spPr>
        <p:txBody>
          <a:bodyPr wrap="square" lIns="0" tIns="0" rIns="0" bIns="0" rtlCol="0" anchor="ctr"/>
          <a:lstStyle/>
          <a:p>
            <a:pPr algn="l" indent="0" marL="0">
              <a:buNone/>
            </a:pPr>
            <a:r>
              <a:rPr lang="en-US" sz="3400" spc="-75" kern="0" dirty="0">
                <a:solidFill>
                  <a:schemeClr val="tx1"/>
                </a:solidFill>
              </a:rPr>
              <a:t>Remove any one tool and it stops working</a:t>
            </a:r>
            <a:endParaRPr lang="en-US" sz="3400" dirty="0"/>
          </a:p>
        </p:txBody>
      </p:sp>
      <p:sp>
        <p:nvSpPr>
          <p:cNvPr id="4" name="s8-card1-bg"/>
          <p:cNvSpPr/>
          <p:nvPr/>
        </p:nvSpPr>
        <p:spPr>
          <a:xfrm>
            <a:off x="548640" y="1645920"/>
            <a:ext cx="2615184" cy="2103120"/>
          </a:xfrm>
          <a:prstGeom prst="roundRect">
            <a:avLst>
              <a:gd name="adj" fmla="val 7826"/>
            </a:avLst>
          </a:prstGeom>
          <a:solidFill>
            <a:srgbClr val="FFFDF8"/>
          </a:solidFill>
          <a:ln w="12700">
            <a:solidFill>
              <a:schemeClr val="accent6"/>
            </a:solidFill>
            <a:prstDash val="solid"/>
          </a:ln>
        </p:spPr>
      </p:sp>
      <p:sp>
        <p:nvSpPr>
          <p:cNvPr id="5" name="s8-card1-dot"/>
          <p:cNvSpPr/>
          <p:nvPr/>
        </p:nvSpPr>
        <p:spPr>
          <a:xfrm>
            <a:off x="749808" y="1847088"/>
            <a:ext cx="457200" cy="457200"/>
          </a:xfrm>
          <a:prstGeom prst="ellipse">
            <a:avLst/>
          </a:prstGeom>
          <a:solidFill>
            <a:schemeClr val="tx1"/>
          </a:solidFill>
          <a:ln/>
        </p:spPr>
      </p:sp>
      <p:pic>
        <p:nvPicPr>
          <p:cNvPr id="6" name="s8-card1-icon" descr="Icon">    </p:cNvPr>
          <p:cNvPicPr>
            <a:picLocks noChangeAspect="1"/>
          </p:cNvPicPr>
          <p:nvPr/>
        </p:nvPicPr>
        <p:blipFill>
          <a:blip r:embed="rId1"/>
          <a:stretch>
            <a:fillRect/>
          </a:stretch>
        </p:blipFill>
        <p:spPr>
          <a:xfrm>
            <a:off x="868680" y="1965960"/>
            <a:ext cx="219456" cy="219456"/>
          </a:xfrm>
          <a:prstGeom prst="rect">
            <a:avLst/>
          </a:prstGeom>
        </p:spPr>
      </p:pic>
      <p:sp>
        <p:nvSpPr>
          <p:cNvPr id="7" name="s8-card1-name"/>
          <p:cNvSpPr txBox="1"/>
          <p:nvPr/>
        </p:nvSpPr>
        <p:spPr>
          <a:xfrm>
            <a:off x="749808" y="2432304"/>
            <a:ext cx="2212848" cy="365760"/>
          </a:xfrm>
          <a:prstGeom prst="rect">
            <a:avLst/>
          </a:prstGeom>
          <a:noFill/>
          <a:ln/>
        </p:spPr>
        <p:txBody>
          <a:bodyPr wrap="square" lIns="0" tIns="0" rIns="0" bIns="0" rtlCol="0" anchor="ctr"/>
          <a:lstStyle/>
          <a:p>
            <a:pPr indent="0" marL="0">
              <a:buNone/>
            </a:pPr>
            <a:r>
              <a:rPr lang="en-US" sz="1700" dirty="0">
                <a:solidFill>
                  <a:schemeClr val="tx1"/>
                </a:solidFill>
                <a:latin typeface="Arial Black" pitchFamily="34" charset="0"/>
                <a:ea typeface="Arial Black" pitchFamily="34" charset="-122"/>
                <a:cs typeface="Arial Black" pitchFamily="34" charset="-120"/>
              </a:rPr>
              <a:t>AgentMail</a:t>
            </a:r>
            <a:endParaRPr lang="en-US" sz="1700" dirty="0"/>
          </a:p>
        </p:txBody>
      </p:sp>
      <p:sp>
        <p:nvSpPr>
          <p:cNvPr id="8" name="s8-card1-job"/>
          <p:cNvSpPr txBox="1"/>
          <p:nvPr/>
        </p:nvSpPr>
        <p:spPr>
          <a:xfrm>
            <a:off x="749808" y="2834640"/>
            <a:ext cx="2212848" cy="777240"/>
          </a:xfrm>
          <a:prstGeom prst="rect">
            <a:avLst/>
          </a:prstGeom>
          <a:noFill/>
          <a:ln/>
        </p:spPr>
        <p:txBody>
          <a:bodyPr wrap="square" lIns="0" tIns="0" rIns="0" bIns="0" rtlCol="0" anchor="t"/>
          <a:lstStyle/>
          <a:p>
            <a:pPr indent="0" marL="0">
              <a:buNone/>
            </a:pPr>
            <a:r>
              <a:rPr lang="en-US" sz="1400" dirty="0">
                <a:solidFill>
                  <a:srgbClr val="62574A"/>
                </a:solidFill>
              </a:rPr>
              <a:t>The forwardable address. Replies, alerts, follow-ups.</a:t>
            </a:r>
            <a:endParaRPr lang="en-US" sz="1400" dirty="0"/>
          </a:p>
        </p:txBody>
      </p:sp>
      <p:sp>
        <p:nvSpPr>
          <p:cNvPr id="9" name="s8-card2-bg"/>
          <p:cNvSpPr/>
          <p:nvPr/>
        </p:nvSpPr>
        <p:spPr>
          <a:xfrm>
            <a:off x="3375050" y="1645920"/>
            <a:ext cx="2615184" cy="2103120"/>
          </a:xfrm>
          <a:prstGeom prst="roundRect">
            <a:avLst>
              <a:gd name="adj" fmla="val 7826"/>
            </a:avLst>
          </a:prstGeom>
          <a:solidFill>
            <a:srgbClr val="FFFDF8"/>
          </a:solidFill>
          <a:ln w="12700">
            <a:solidFill>
              <a:schemeClr val="accent6"/>
            </a:solidFill>
            <a:prstDash val="solid"/>
          </a:ln>
        </p:spPr>
      </p:sp>
      <p:sp>
        <p:nvSpPr>
          <p:cNvPr id="10" name="s8-card2-dot"/>
          <p:cNvSpPr/>
          <p:nvPr/>
        </p:nvSpPr>
        <p:spPr>
          <a:xfrm>
            <a:off x="3576218" y="1847088"/>
            <a:ext cx="457200" cy="457200"/>
          </a:xfrm>
          <a:prstGeom prst="ellipse">
            <a:avLst/>
          </a:prstGeom>
          <a:solidFill>
            <a:schemeClr val="tx1"/>
          </a:solidFill>
          <a:ln/>
        </p:spPr>
      </p:sp>
      <p:pic>
        <p:nvPicPr>
          <p:cNvPr id="11" name="s8-card2-icon" descr="Icon">    </p:cNvPr>
          <p:cNvPicPr>
            <a:picLocks noChangeAspect="1"/>
          </p:cNvPicPr>
          <p:nvPr/>
        </p:nvPicPr>
        <p:blipFill>
          <a:blip r:embed="rId2"/>
          <a:stretch>
            <a:fillRect/>
          </a:stretch>
        </p:blipFill>
        <p:spPr>
          <a:xfrm>
            <a:off x="3695090" y="1965960"/>
            <a:ext cx="219456" cy="219456"/>
          </a:xfrm>
          <a:prstGeom prst="rect">
            <a:avLst/>
          </a:prstGeom>
        </p:spPr>
      </p:pic>
      <p:sp>
        <p:nvSpPr>
          <p:cNvPr id="12" name="s8-card2-name"/>
          <p:cNvSpPr txBox="1"/>
          <p:nvPr/>
        </p:nvSpPr>
        <p:spPr>
          <a:xfrm>
            <a:off x="3576218" y="2432304"/>
            <a:ext cx="2212848" cy="365760"/>
          </a:xfrm>
          <a:prstGeom prst="rect">
            <a:avLst/>
          </a:prstGeom>
          <a:noFill/>
          <a:ln/>
        </p:spPr>
        <p:txBody>
          <a:bodyPr wrap="square" lIns="0" tIns="0" rIns="0" bIns="0" rtlCol="0" anchor="ctr"/>
          <a:lstStyle/>
          <a:p>
            <a:pPr indent="0" marL="0">
              <a:buNone/>
            </a:pPr>
            <a:r>
              <a:rPr lang="en-US" sz="1700" dirty="0">
                <a:solidFill>
                  <a:schemeClr val="tx1"/>
                </a:solidFill>
                <a:latin typeface="Arial Black" pitchFamily="34" charset="0"/>
                <a:ea typeface="Arial Black" pitchFamily="34" charset="-122"/>
                <a:cs typeface="Arial Black" pitchFamily="34" charset="-120"/>
              </a:rPr>
              <a:t>Kernel</a:t>
            </a:r>
            <a:endParaRPr lang="en-US" sz="1700" dirty="0"/>
          </a:p>
        </p:txBody>
      </p:sp>
      <p:sp>
        <p:nvSpPr>
          <p:cNvPr id="13" name="s8-card2-job"/>
          <p:cNvSpPr txBox="1"/>
          <p:nvPr/>
        </p:nvSpPr>
        <p:spPr>
          <a:xfrm>
            <a:off x="3576218" y="2834640"/>
            <a:ext cx="2212848" cy="777240"/>
          </a:xfrm>
          <a:prstGeom prst="rect">
            <a:avLst/>
          </a:prstGeom>
          <a:noFill/>
          <a:ln/>
        </p:spPr>
        <p:txBody>
          <a:bodyPr wrap="square" lIns="0" tIns="0" rIns="0" bIns="0" rtlCol="0" anchor="t"/>
          <a:lstStyle/>
          <a:p>
            <a:pPr indent="0" marL="0">
              <a:buNone/>
            </a:pPr>
            <a:r>
              <a:rPr lang="en-US" sz="1400" dirty="0">
                <a:solidFill>
                  <a:srgbClr val="62574A"/>
                </a:solidFill>
              </a:rPr>
              <a:t>The throwaway browser</a:t>
            </a:r>
            <a:endParaRPr lang="en-US" sz="1400" dirty="0"/>
          </a:p>
          <a:p>
            <a:pPr indent="0" marL="0">
              <a:buNone/>
            </a:pPr>
            <a:r>
              <a:rPr lang="en-US" sz="1400" dirty="0">
                <a:solidFill>
                  <a:srgbClr val="62574A"/>
                </a:solidFill>
              </a:rPr>
              <a:t>that clicks so mom</a:t>
            </a:r>
            <a:endParaRPr lang="en-US" sz="1400" dirty="0"/>
          </a:p>
          <a:p>
            <a:pPr indent="0" marL="0">
              <a:buNone/>
            </a:pPr>
            <a:r>
              <a:rPr lang="en-US" sz="1400" dirty="0">
                <a:solidFill>
                  <a:srgbClr val="62574A"/>
                </a:solidFill>
              </a:rPr>
              <a:t>never does.</a:t>
            </a:r>
            <a:endParaRPr lang="en-US" sz="1400" dirty="0"/>
          </a:p>
        </p:txBody>
      </p:sp>
      <p:sp>
        <p:nvSpPr>
          <p:cNvPr id="14" name="s8-card3-bg"/>
          <p:cNvSpPr/>
          <p:nvPr/>
        </p:nvSpPr>
        <p:spPr>
          <a:xfrm>
            <a:off x="6201461" y="1645920"/>
            <a:ext cx="2615184" cy="2103120"/>
          </a:xfrm>
          <a:prstGeom prst="roundRect">
            <a:avLst>
              <a:gd name="adj" fmla="val 7826"/>
            </a:avLst>
          </a:prstGeom>
          <a:solidFill>
            <a:srgbClr val="FFFDF8"/>
          </a:solidFill>
          <a:ln w="12700">
            <a:solidFill>
              <a:schemeClr val="accent6"/>
            </a:solidFill>
            <a:prstDash val="solid"/>
          </a:ln>
        </p:spPr>
      </p:sp>
      <p:sp>
        <p:nvSpPr>
          <p:cNvPr id="15" name="s8-card3-dot"/>
          <p:cNvSpPr/>
          <p:nvPr/>
        </p:nvSpPr>
        <p:spPr>
          <a:xfrm>
            <a:off x="6402629" y="1847088"/>
            <a:ext cx="457200" cy="457200"/>
          </a:xfrm>
          <a:prstGeom prst="ellipse">
            <a:avLst/>
          </a:prstGeom>
          <a:solidFill>
            <a:schemeClr val="tx1"/>
          </a:solidFill>
          <a:ln/>
        </p:spPr>
      </p:sp>
      <p:pic>
        <p:nvPicPr>
          <p:cNvPr id="16" name="s8-card3-icon" descr="Icon">    </p:cNvPr>
          <p:cNvPicPr>
            <a:picLocks noChangeAspect="1"/>
          </p:cNvPicPr>
          <p:nvPr/>
        </p:nvPicPr>
        <p:blipFill>
          <a:blip r:embed="rId3"/>
          <a:stretch>
            <a:fillRect/>
          </a:stretch>
        </p:blipFill>
        <p:spPr>
          <a:xfrm>
            <a:off x="6521501" y="1965960"/>
            <a:ext cx="219456" cy="219456"/>
          </a:xfrm>
          <a:prstGeom prst="rect">
            <a:avLst/>
          </a:prstGeom>
        </p:spPr>
      </p:pic>
      <p:sp>
        <p:nvSpPr>
          <p:cNvPr id="17" name="s8-card3-name"/>
          <p:cNvSpPr txBox="1"/>
          <p:nvPr/>
        </p:nvSpPr>
        <p:spPr>
          <a:xfrm>
            <a:off x="6402629" y="2432304"/>
            <a:ext cx="2212848" cy="365760"/>
          </a:xfrm>
          <a:prstGeom prst="rect">
            <a:avLst/>
          </a:prstGeom>
          <a:noFill/>
          <a:ln/>
        </p:spPr>
        <p:txBody>
          <a:bodyPr wrap="square" lIns="0" tIns="0" rIns="0" bIns="0" rtlCol="0" anchor="ctr"/>
          <a:lstStyle/>
          <a:p>
            <a:pPr indent="0" marL="0">
              <a:buNone/>
            </a:pPr>
            <a:r>
              <a:rPr lang="en-US" sz="1700" dirty="0">
                <a:solidFill>
                  <a:schemeClr val="tx1"/>
                </a:solidFill>
                <a:latin typeface="Arial Black" pitchFamily="34" charset="0"/>
                <a:ea typeface="Arial Black" pitchFamily="34" charset="-122"/>
                <a:cs typeface="Arial Black" pitchFamily="34" charset="-120"/>
              </a:rPr>
              <a:t>Exa</a:t>
            </a:r>
            <a:endParaRPr lang="en-US" sz="1700" dirty="0"/>
          </a:p>
        </p:txBody>
      </p:sp>
      <p:sp>
        <p:nvSpPr>
          <p:cNvPr id="18" name="s8-card3-job"/>
          <p:cNvSpPr txBox="1"/>
          <p:nvPr/>
        </p:nvSpPr>
        <p:spPr>
          <a:xfrm>
            <a:off x="6402629" y="2834640"/>
            <a:ext cx="2212848" cy="777240"/>
          </a:xfrm>
          <a:prstGeom prst="rect">
            <a:avLst/>
          </a:prstGeom>
          <a:noFill/>
          <a:ln/>
        </p:spPr>
        <p:txBody>
          <a:bodyPr wrap="square" lIns="0" tIns="0" rIns="0" bIns="0" rtlCol="0" anchor="t"/>
          <a:lstStyle/>
          <a:p>
            <a:pPr indent="0" marL="0">
              <a:buNone/>
            </a:pPr>
            <a:r>
              <a:rPr lang="en-US" sz="1400" dirty="0">
                <a:solidFill>
                  <a:srgbClr val="62574A"/>
                </a:solidFill>
              </a:rPr>
              <a:t>Finds the brand's real site and existing scam reports.</a:t>
            </a:r>
            <a:endParaRPr lang="en-US" sz="1400" dirty="0"/>
          </a:p>
        </p:txBody>
      </p:sp>
      <p:sp>
        <p:nvSpPr>
          <p:cNvPr id="19" name="s8-card4-bg"/>
          <p:cNvSpPr/>
          <p:nvPr/>
        </p:nvSpPr>
        <p:spPr>
          <a:xfrm>
            <a:off x="9027871" y="1645920"/>
            <a:ext cx="2615184" cy="2103120"/>
          </a:xfrm>
          <a:prstGeom prst="roundRect">
            <a:avLst>
              <a:gd name="adj" fmla="val 7826"/>
            </a:avLst>
          </a:prstGeom>
          <a:solidFill>
            <a:srgbClr val="FFFDF8"/>
          </a:solidFill>
          <a:ln w="12700">
            <a:solidFill>
              <a:schemeClr val="accent6"/>
            </a:solidFill>
            <a:prstDash val="solid"/>
          </a:ln>
        </p:spPr>
      </p:sp>
      <p:sp>
        <p:nvSpPr>
          <p:cNvPr id="20" name="s8-card4-dot"/>
          <p:cNvSpPr/>
          <p:nvPr/>
        </p:nvSpPr>
        <p:spPr>
          <a:xfrm>
            <a:off x="9229039" y="1847088"/>
            <a:ext cx="457200" cy="457200"/>
          </a:xfrm>
          <a:prstGeom prst="ellipse">
            <a:avLst/>
          </a:prstGeom>
          <a:solidFill>
            <a:schemeClr val="tx1"/>
          </a:solidFill>
          <a:ln/>
        </p:spPr>
      </p:sp>
      <p:pic>
        <p:nvPicPr>
          <p:cNvPr id="21" name="s8-card4-icon" descr="Icon">    </p:cNvPr>
          <p:cNvPicPr>
            <a:picLocks noChangeAspect="1"/>
          </p:cNvPicPr>
          <p:nvPr/>
        </p:nvPicPr>
        <p:blipFill>
          <a:blip r:embed="rId4"/>
          <a:stretch>
            <a:fillRect/>
          </a:stretch>
        </p:blipFill>
        <p:spPr>
          <a:xfrm>
            <a:off x="9347911" y="1965960"/>
            <a:ext cx="219456" cy="219456"/>
          </a:xfrm>
          <a:prstGeom prst="rect">
            <a:avLst/>
          </a:prstGeom>
        </p:spPr>
      </p:pic>
      <p:sp>
        <p:nvSpPr>
          <p:cNvPr id="22" name="s8-card4-name"/>
          <p:cNvSpPr txBox="1"/>
          <p:nvPr/>
        </p:nvSpPr>
        <p:spPr>
          <a:xfrm>
            <a:off x="9229039" y="2432304"/>
            <a:ext cx="2212848" cy="365760"/>
          </a:xfrm>
          <a:prstGeom prst="rect">
            <a:avLst/>
          </a:prstGeom>
          <a:noFill/>
          <a:ln/>
        </p:spPr>
        <p:txBody>
          <a:bodyPr wrap="square" lIns="0" tIns="0" rIns="0" bIns="0" rtlCol="0" anchor="ctr"/>
          <a:lstStyle/>
          <a:p>
            <a:pPr indent="0" marL="0">
              <a:buNone/>
            </a:pPr>
            <a:r>
              <a:rPr lang="en-US" sz="1700" dirty="0">
                <a:solidFill>
                  <a:schemeClr val="tx1"/>
                </a:solidFill>
                <a:latin typeface="Arial Black" pitchFamily="34" charset="0"/>
                <a:ea typeface="Arial Black" pitchFamily="34" charset="-122"/>
                <a:cs typeface="Arial Black" pitchFamily="34" charset="-120"/>
              </a:rPr>
              <a:t>Mastra</a:t>
            </a:r>
            <a:endParaRPr lang="en-US" sz="1700" dirty="0"/>
          </a:p>
        </p:txBody>
      </p:sp>
      <p:sp>
        <p:nvSpPr>
          <p:cNvPr id="23" name="s8-card4-job"/>
          <p:cNvSpPr txBox="1"/>
          <p:nvPr/>
        </p:nvSpPr>
        <p:spPr>
          <a:xfrm>
            <a:off x="9229039" y="2834640"/>
            <a:ext cx="2212848" cy="777240"/>
          </a:xfrm>
          <a:prstGeom prst="rect">
            <a:avLst/>
          </a:prstGeom>
          <a:noFill/>
          <a:ln/>
        </p:spPr>
        <p:txBody>
          <a:bodyPr wrap="square" lIns="0" tIns="0" rIns="0" bIns="0" rtlCol="0" anchor="t"/>
          <a:lstStyle/>
          <a:p>
            <a:pPr indent="0" marL="0">
              <a:buNone/>
            </a:pPr>
            <a:r>
              <a:rPr lang="en-US" sz="1400" dirty="0">
                <a:solidFill>
                  <a:srgbClr val="62574A"/>
                </a:solidFill>
              </a:rPr>
              <a:t>The parallel workflow, with every step traced.</a:t>
            </a:r>
            <a:endParaRPr lang="en-US" sz="1400" dirty="0"/>
          </a:p>
        </p:txBody>
      </p:sp>
      <p:sp>
        <p:nvSpPr>
          <p:cNvPr id="24" name="s8-card5-bg"/>
          <p:cNvSpPr/>
          <p:nvPr/>
        </p:nvSpPr>
        <p:spPr>
          <a:xfrm>
            <a:off x="548640" y="3960266"/>
            <a:ext cx="2615184" cy="2103120"/>
          </a:xfrm>
          <a:prstGeom prst="roundRect">
            <a:avLst>
              <a:gd name="adj" fmla="val 7826"/>
            </a:avLst>
          </a:prstGeom>
          <a:solidFill>
            <a:srgbClr val="FFFDF8"/>
          </a:solidFill>
          <a:ln w="12700">
            <a:solidFill>
              <a:schemeClr val="accent6"/>
            </a:solidFill>
            <a:prstDash val="solid"/>
          </a:ln>
        </p:spPr>
      </p:sp>
      <p:sp>
        <p:nvSpPr>
          <p:cNvPr id="25" name="s8-card5-dot"/>
          <p:cNvSpPr/>
          <p:nvPr/>
        </p:nvSpPr>
        <p:spPr>
          <a:xfrm>
            <a:off x="749808" y="4161434"/>
            <a:ext cx="457200" cy="457200"/>
          </a:xfrm>
          <a:prstGeom prst="ellipse">
            <a:avLst/>
          </a:prstGeom>
          <a:solidFill>
            <a:schemeClr val="tx1"/>
          </a:solidFill>
          <a:ln/>
        </p:spPr>
      </p:sp>
      <p:pic>
        <p:nvPicPr>
          <p:cNvPr id="26" name="s8-card5-icon" descr="Icon">    </p:cNvPr>
          <p:cNvPicPr>
            <a:picLocks noChangeAspect="1"/>
          </p:cNvPicPr>
          <p:nvPr/>
        </p:nvPicPr>
        <p:blipFill>
          <a:blip r:embed="rId5"/>
          <a:stretch>
            <a:fillRect/>
          </a:stretch>
        </p:blipFill>
        <p:spPr>
          <a:xfrm>
            <a:off x="868680" y="4280306"/>
            <a:ext cx="219456" cy="219456"/>
          </a:xfrm>
          <a:prstGeom prst="rect">
            <a:avLst/>
          </a:prstGeom>
        </p:spPr>
      </p:pic>
      <p:sp>
        <p:nvSpPr>
          <p:cNvPr id="27" name="s8-card5-name"/>
          <p:cNvSpPr txBox="1"/>
          <p:nvPr/>
        </p:nvSpPr>
        <p:spPr>
          <a:xfrm>
            <a:off x="749808" y="4746650"/>
            <a:ext cx="2212848" cy="365760"/>
          </a:xfrm>
          <a:prstGeom prst="rect">
            <a:avLst/>
          </a:prstGeom>
          <a:noFill/>
          <a:ln/>
        </p:spPr>
        <p:txBody>
          <a:bodyPr wrap="square" lIns="0" tIns="0" rIns="0" bIns="0" rtlCol="0" anchor="ctr"/>
          <a:lstStyle/>
          <a:p>
            <a:pPr indent="0" marL="0">
              <a:buNone/>
            </a:pPr>
            <a:r>
              <a:rPr lang="en-US" sz="1700" dirty="0">
                <a:solidFill>
                  <a:schemeClr val="tx1"/>
                </a:solidFill>
                <a:latin typeface="Arial Black" pitchFamily="34" charset="0"/>
                <a:ea typeface="Arial Black" pitchFamily="34" charset="-122"/>
                <a:cs typeface="Arial Black" pitchFamily="34" charset="-120"/>
              </a:rPr>
              <a:t>Neon</a:t>
            </a:r>
            <a:endParaRPr lang="en-US" sz="1700" dirty="0"/>
          </a:p>
        </p:txBody>
      </p:sp>
      <p:sp>
        <p:nvSpPr>
          <p:cNvPr id="28" name="s8-card5-job"/>
          <p:cNvSpPr txBox="1"/>
          <p:nvPr/>
        </p:nvSpPr>
        <p:spPr>
          <a:xfrm>
            <a:off x="749808" y="5148986"/>
            <a:ext cx="2212848" cy="777240"/>
          </a:xfrm>
          <a:prstGeom prst="rect">
            <a:avLst/>
          </a:prstGeom>
          <a:noFill/>
          <a:ln/>
        </p:spPr>
        <p:txBody>
          <a:bodyPr wrap="square" lIns="0" tIns="0" rIns="0" bIns="0" rtlCol="0" anchor="t"/>
          <a:lstStyle/>
          <a:p>
            <a:pPr indent="0" marL="0">
              <a:buNone/>
            </a:pPr>
            <a:r>
              <a:rPr lang="en-US" sz="1400" dirty="0">
                <a:solidFill>
                  <a:srgbClr val="62574A"/>
                </a:solidFill>
              </a:rPr>
              <a:t>Case memory in Postgres.</a:t>
            </a:r>
            <a:endParaRPr lang="en-US" sz="1400" dirty="0"/>
          </a:p>
          <a:p>
            <a:pPr indent="0" marL="0">
              <a:buNone/>
            </a:pPr>
            <a:r>
              <a:rPr lang="en-US" sz="1400" dirty="0">
                <a:solidFill>
                  <a:srgbClr val="62574A"/>
                </a:solidFill>
              </a:rPr>
              <a:t>AI Gateway for every</a:t>
            </a:r>
            <a:endParaRPr lang="en-US" sz="1400" dirty="0"/>
          </a:p>
          <a:p>
            <a:pPr indent="0" marL="0">
              <a:buNone/>
            </a:pPr>
            <a:r>
              <a:rPr lang="en-US" sz="1400" dirty="0">
                <a:solidFill>
                  <a:srgbClr val="62574A"/>
                </a:solidFill>
              </a:rPr>
              <a:t>model call.</a:t>
            </a:r>
            <a:endParaRPr lang="en-US" sz="1400" dirty="0"/>
          </a:p>
        </p:txBody>
      </p:sp>
      <p:sp>
        <p:nvSpPr>
          <p:cNvPr id="29" name="s8-card6-bg"/>
          <p:cNvSpPr/>
          <p:nvPr/>
        </p:nvSpPr>
        <p:spPr>
          <a:xfrm>
            <a:off x="3375050" y="3960266"/>
            <a:ext cx="2615184" cy="2103120"/>
          </a:xfrm>
          <a:prstGeom prst="roundRect">
            <a:avLst>
              <a:gd name="adj" fmla="val 7826"/>
            </a:avLst>
          </a:prstGeom>
          <a:solidFill>
            <a:srgbClr val="FFFDF8"/>
          </a:solidFill>
          <a:ln w="12700">
            <a:solidFill>
              <a:schemeClr val="accent6"/>
            </a:solidFill>
            <a:prstDash val="solid"/>
          </a:ln>
        </p:spPr>
      </p:sp>
      <p:sp>
        <p:nvSpPr>
          <p:cNvPr id="30" name="s8-card6-dot"/>
          <p:cNvSpPr/>
          <p:nvPr/>
        </p:nvSpPr>
        <p:spPr>
          <a:xfrm>
            <a:off x="3576218" y="4161434"/>
            <a:ext cx="457200" cy="457200"/>
          </a:xfrm>
          <a:prstGeom prst="ellipse">
            <a:avLst/>
          </a:prstGeom>
          <a:solidFill>
            <a:schemeClr val="tx1"/>
          </a:solidFill>
          <a:ln/>
        </p:spPr>
      </p:sp>
      <p:pic>
        <p:nvPicPr>
          <p:cNvPr id="31" name="s8-card6-icon" descr="Icon">    </p:cNvPr>
          <p:cNvPicPr>
            <a:picLocks noChangeAspect="1"/>
          </p:cNvPicPr>
          <p:nvPr/>
        </p:nvPicPr>
        <p:blipFill>
          <a:blip r:embed="rId6"/>
          <a:stretch>
            <a:fillRect/>
          </a:stretch>
        </p:blipFill>
        <p:spPr>
          <a:xfrm>
            <a:off x="3695090" y="4280306"/>
            <a:ext cx="219456" cy="219456"/>
          </a:xfrm>
          <a:prstGeom prst="rect">
            <a:avLst/>
          </a:prstGeom>
        </p:spPr>
      </p:pic>
      <p:sp>
        <p:nvSpPr>
          <p:cNvPr id="32" name="s8-card6-name"/>
          <p:cNvSpPr txBox="1"/>
          <p:nvPr/>
        </p:nvSpPr>
        <p:spPr>
          <a:xfrm>
            <a:off x="3576218" y="4746650"/>
            <a:ext cx="2212848" cy="365760"/>
          </a:xfrm>
          <a:prstGeom prst="rect">
            <a:avLst/>
          </a:prstGeom>
          <a:noFill/>
          <a:ln/>
        </p:spPr>
        <p:txBody>
          <a:bodyPr wrap="square" lIns="0" tIns="0" rIns="0" bIns="0" rtlCol="0" anchor="ctr"/>
          <a:lstStyle/>
          <a:p>
            <a:pPr indent="0" marL="0">
              <a:buNone/>
            </a:pPr>
            <a:r>
              <a:rPr lang="en-US" sz="1700" dirty="0">
                <a:solidFill>
                  <a:schemeClr val="tx1"/>
                </a:solidFill>
                <a:latin typeface="Arial Black" pitchFamily="34" charset="0"/>
                <a:ea typeface="Arial Black" pitchFamily="34" charset="-122"/>
                <a:cs typeface="Arial Black" pitchFamily="34" charset="-120"/>
              </a:rPr>
              <a:t>Fly.io</a:t>
            </a:r>
            <a:endParaRPr lang="en-US" sz="1700" dirty="0"/>
          </a:p>
        </p:txBody>
      </p:sp>
      <p:sp>
        <p:nvSpPr>
          <p:cNvPr id="33" name="s8-card6-job"/>
          <p:cNvSpPr txBox="1"/>
          <p:nvPr/>
        </p:nvSpPr>
        <p:spPr>
          <a:xfrm>
            <a:off x="3576218" y="5148986"/>
            <a:ext cx="2212848" cy="777240"/>
          </a:xfrm>
          <a:prstGeom prst="rect">
            <a:avLst/>
          </a:prstGeom>
          <a:noFill/>
          <a:ln/>
        </p:spPr>
        <p:txBody>
          <a:bodyPr wrap="square" lIns="0" tIns="0" rIns="0" bIns="0" rtlCol="0" anchor="t"/>
          <a:lstStyle/>
          <a:p>
            <a:pPr indent="0" marL="0">
              <a:buNone/>
            </a:pPr>
            <a:r>
              <a:rPr lang="en-US" sz="1400" dirty="0">
                <a:solidFill>
                  <a:srgbClr val="62574A"/>
                </a:solidFill>
              </a:rPr>
              <a:t>One always-on machine:</a:t>
            </a:r>
            <a:endParaRPr lang="en-US" sz="1400" dirty="0"/>
          </a:p>
          <a:p>
            <a:pPr indent="0" marL="0">
              <a:buNone/>
            </a:pPr>
            <a:r>
              <a:rPr lang="en-US" sz="1400" dirty="0">
                <a:solidFill>
                  <a:srgbClr val="62574A"/>
                </a:solidFill>
              </a:rPr>
              <a:t>app, inbox poller,</a:t>
            </a:r>
            <a:endParaRPr lang="en-US" sz="1400" dirty="0"/>
          </a:p>
          <a:p>
            <a:pPr indent="0" marL="0">
              <a:buNone/>
            </a:pPr>
            <a:r>
              <a:rPr lang="en-US" sz="1400" dirty="0">
                <a:solidFill>
                  <a:srgbClr val="62574A"/>
                </a:solidFill>
              </a:rPr>
              <a:t>live stream.</a:t>
            </a:r>
            <a:endParaRPr lang="en-US" sz="1400" dirty="0"/>
          </a:p>
        </p:txBody>
      </p:sp>
      <p:sp>
        <p:nvSpPr>
          <p:cNvPr id="34" name="s8-card7-bg"/>
          <p:cNvSpPr/>
          <p:nvPr/>
        </p:nvSpPr>
        <p:spPr>
          <a:xfrm>
            <a:off x="6201461" y="3960266"/>
            <a:ext cx="2615184" cy="2103120"/>
          </a:xfrm>
          <a:prstGeom prst="roundRect">
            <a:avLst>
              <a:gd name="adj" fmla="val 7826"/>
            </a:avLst>
          </a:prstGeom>
          <a:solidFill>
            <a:srgbClr val="FFFDF8"/>
          </a:solidFill>
          <a:ln w="12700">
            <a:solidFill>
              <a:schemeClr val="accent6"/>
            </a:solidFill>
            <a:prstDash val="solid"/>
          </a:ln>
        </p:spPr>
      </p:sp>
      <p:sp>
        <p:nvSpPr>
          <p:cNvPr id="35" name="s8-card7-dot"/>
          <p:cNvSpPr/>
          <p:nvPr/>
        </p:nvSpPr>
        <p:spPr>
          <a:xfrm>
            <a:off x="6402629" y="4161434"/>
            <a:ext cx="457200" cy="457200"/>
          </a:xfrm>
          <a:prstGeom prst="ellipse">
            <a:avLst/>
          </a:prstGeom>
          <a:solidFill>
            <a:schemeClr val="tx1"/>
          </a:solidFill>
          <a:ln/>
        </p:spPr>
      </p:sp>
      <p:pic>
        <p:nvPicPr>
          <p:cNvPr id="36" name="s8-card7-icon" descr="Icon">    </p:cNvPr>
          <p:cNvPicPr>
            <a:picLocks noChangeAspect="1"/>
          </p:cNvPicPr>
          <p:nvPr/>
        </p:nvPicPr>
        <p:blipFill>
          <a:blip r:embed="rId7"/>
          <a:stretch>
            <a:fillRect/>
          </a:stretch>
        </p:blipFill>
        <p:spPr>
          <a:xfrm>
            <a:off x="6521501" y="4280306"/>
            <a:ext cx="219456" cy="219456"/>
          </a:xfrm>
          <a:prstGeom prst="rect">
            <a:avLst/>
          </a:prstGeom>
        </p:spPr>
      </p:pic>
      <p:sp>
        <p:nvSpPr>
          <p:cNvPr id="37" name="s8-card7-name"/>
          <p:cNvSpPr txBox="1"/>
          <p:nvPr/>
        </p:nvSpPr>
        <p:spPr>
          <a:xfrm>
            <a:off x="6402629" y="4746650"/>
            <a:ext cx="2212848" cy="365760"/>
          </a:xfrm>
          <a:prstGeom prst="rect">
            <a:avLst/>
          </a:prstGeom>
          <a:noFill/>
          <a:ln/>
        </p:spPr>
        <p:txBody>
          <a:bodyPr wrap="square" lIns="0" tIns="0" rIns="0" bIns="0" rtlCol="0" anchor="ctr"/>
          <a:lstStyle/>
          <a:p>
            <a:pPr indent="0" marL="0">
              <a:buNone/>
            </a:pPr>
            <a:r>
              <a:rPr lang="en-US" sz="1700" dirty="0">
                <a:solidFill>
                  <a:schemeClr val="tx1"/>
                </a:solidFill>
                <a:latin typeface="Arial Black" pitchFamily="34" charset="0"/>
                <a:ea typeface="Arial Black" pitchFamily="34" charset="-122"/>
                <a:cs typeface="Arial Black" pitchFamily="34" charset="-120"/>
              </a:rPr>
              <a:t>assistant-ui</a:t>
            </a:r>
            <a:endParaRPr lang="en-US" sz="1700" dirty="0"/>
          </a:p>
        </p:txBody>
      </p:sp>
      <p:sp>
        <p:nvSpPr>
          <p:cNvPr id="38" name="s8-card7-job"/>
          <p:cNvSpPr txBox="1"/>
          <p:nvPr/>
        </p:nvSpPr>
        <p:spPr>
          <a:xfrm>
            <a:off x="6402629" y="5148986"/>
            <a:ext cx="2212848" cy="777240"/>
          </a:xfrm>
          <a:prstGeom prst="rect">
            <a:avLst/>
          </a:prstGeom>
          <a:noFill/>
          <a:ln/>
        </p:spPr>
        <p:txBody>
          <a:bodyPr wrap="square" lIns="0" tIns="0" rIns="0" bIns="0" rtlCol="0" anchor="t"/>
          <a:lstStyle/>
          <a:p>
            <a:pPr indent="0" marL="0">
              <a:buNone/>
            </a:pPr>
            <a:r>
              <a:rPr lang="en-US" sz="1400" dirty="0">
                <a:solidFill>
                  <a:srgbClr val="62574A"/>
                </a:solidFill>
              </a:rPr>
              <a:t>The follow-up conversation on every case.</a:t>
            </a:r>
            <a:endParaRPr lang="en-US" sz="1400" dirty="0"/>
          </a:p>
        </p:txBody>
      </p:sp>
      <p:sp>
        <p:nvSpPr>
          <p:cNvPr id="39" name="s8-card8-bg"/>
          <p:cNvSpPr/>
          <p:nvPr/>
        </p:nvSpPr>
        <p:spPr>
          <a:xfrm>
            <a:off x="9027871" y="3960266"/>
            <a:ext cx="2615184" cy="2103120"/>
          </a:xfrm>
          <a:prstGeom prst="roundRect">
            <a:avLst>
              <a:gd name="adj" fmla="val 7826"/>
            </a:avLst>
          </a:prstGeom>
          <a:solidFill>
            <a:schemeClr val="tx1"/>
          </a:solidFill>
          <a:ln/>
        </p:spPr>
      </p:sp>
      <p:sp>
        <p:nvSpPr>
          <p:cNvPr id="40" name="s8-card8-dot"/>
          <p:cNvSpPr/>
          <p:nvPr/>
        </p:nvSpPr>
        <p:spPr>
          <a:xfrm>
            <a:off x="9229039" y="4161434"/>
            <a:ext cx="457200" cy="457200"/>
          </a:xfrm>
          <a:prstGeom prst="ellipse">
            <a:avLst/>
          </a:prstGeom>
          <a:solidFill>
            <a:schemeClr val="accent1"/>
          </a:solidFill>
          <a:ln/>
        </p:spPr>
      </p:sp>
      <p:pic>
        <p:nvPicPr>
          <p:cNvPr id="41" name="s8-card8-icon" descr="Icon">    </p:cNvPr>
          <p:cNvPicPr>
            <a:picLocks noChangeAspect="1"/>
          </p:cNvPicPr>
          <p:nvPr/>
        </p:nvPicPr>
        <p:blipFill>
          <a:blip r:embed="rId8"/>
          <a:stretch>
            <a:fillRect/>
          </a:stretch>
        </p:blipFill>
        <p:spPr>
          <a:xfrm>
            <a:off x="9347911" y="4280306"/>
            <a:ext cx="219456" cy="219456"/>
          </a:xfrm>
          <a:prstGeom prst="rect">
            <a:avLst/>
          </a:prstGeom>
        </p:spPr>
      </p:pic>
      <p:sp>
        <p:nvSpPr>
          <p:cNvPr id="42" name="s8-card8-name"/>
          <p:cNvSpPr txBox="1"/>
          <p:nvPr/>
        </p:nvSpPr>
        <p:spPr>
          <a:xfrm>
            <a:off x="9229039" y="4728362"/>
            <a:ext cx="2212848" cy="640080"/>
          </a:xfrm>
          <a:prstGeom prst="rect">
            <a:avLst/>
          </a:prstGeom>
          <a:noFill/>
          <a:ln/>
        </p:spPr>
        <p:txBody>
          <a:bodyPr wrap="square" lIns="0" tIns="0" rIns="0" bIns="0" rtlCol="0" anchor="t"/>
          <a:lstStyle/>
          <a:p>
            <a:pPr indent="0" marL="0">
              <a:buNone/>
            </a:pPr>
            <a:r>
              <a:rPr lang="en-US" sz="1700" dirty="0">
                <a:solidFill>
                  <a:schemeClr val="bg1"/>
                </a:solidFill>
                <a:latin typeface="Arial Black" pitchFamily="34" charset="0"/>
                <a:ea typeface="Arial Black" pitchFamily="34" charset="-122"/>
                <a:cs typeface="Arial Black" pitchFamily="34" charset="-120"/>
              </a:rPr>
              <a:t>Runs with</a:t>
            </a:r>
            <a:endParaRPr lang="en-US" sz="1700" dirty="0"/>
          </a:p>
          <a:p>
            <a:pPr indent="0" marL="0">
              <a:buNone/>
            </a:pPr>
            <a:r>
              <a:rPr lang="en-US" sz="1700" dirty="0">
                <a:solidFill>
                  <a:schemeClr val="bg1"/>
                </a:solidFill>
                <a:latin typeface="Arial Black" pitchFamily="34" charset="0"/>
                <a:ea typeface="Arial Black" pitchFamily="34" charset="-122"/>
                <a:cs typeface="Arial Black" pitchFamily="34" charset="-120"/>
              </a:rPr>
              <a:t>zero keys</a:t>
            </a:r>
            <a:endParaRPr lang="en-US" sz="1700" dirty="0"/>
          </a:p>
        </p:txBody>
      </p:sp>
      <p:sp>
        <p:nvSpPr>
          <p:cNvPr id="43" name="s8-card8-job"/>
          <p:cNvSpPr txBox="1"/>
          <p:nvPr/>
        </p:nvSpPr>
        <p:spPr>
          <a:xfrm>
            <a:off x="9229039" y="5423306"/>
            <a:ext cx="2212848" cy="548640"/>
          </a:xfrm>
          <a:prstGeom prst="rect">
            <a:avLst/>
          </a:prstGeom>
          <a:noFill/>
          <a:ln/>
        </p:spPr>
        <p:txBody>
          <a:bodyPr wrap="square" lIns="0" tIns="0" rIns="0" bIns="0" rtlCol="0" anchor="t"/>
          <a:lstStyle/>
          <a:p>
            <a:pPr indent="0" marL="0">
              <a:buNone/>
            </a:pPr>
            <a:r>
              <a:rPr lang="en-US" sz="1400" dirty="0">
                <a:solidFill>
                  <a:schemeClr val="bg2"/>
                </a:solidFill>
              </a:rPr>
              <a:t>Every tier has a local fallback.</a:t>
            </a:r>
            <a:endParaRPr lang="en-US" sz="1400" dirty="0"/>
          </a:p>
        </p:txBody>
      </p:sp>
      <p:sp>
        <p:nvSpPr>
          <p:cNvPr id="44" name="Slide Number Placeholder 0"/>
          <p:cNvSpPr>
            <a:spLocks noGrp="1"/>
          </p:cNvSpPr>
          <p:nvPr>
            <p:ph type="sldNum" sz="quarter" idx="4294967295"/>
          </p:nvPr>
        </p:nvSpPr>
        <p:spPr>
          <a:xfrm>
            <a:off x="10911535" y="6336792"/>
            <a:ext cx="73152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2574A"/>
                </a:solidFill>
                <a:latin typeface="Courier New"/>
                <a:ea typeface="Courier New"/>
                <a:cs typeface="Courier New"/>
              </a:defRPr>
            </a:lvl1pPr>
          </a:lstStyle>
          <a:p>
            <a:pPr algn="r"/>
            <a:fld id="{F7021451-1387-4CA6-816F-3879F97B5CBC}" type="slidenum">
              <a:rPr b="1" lang="en-US"/>
              <a:t>8</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3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par>
                                <p:cTn id="8" presetID="10" presetClass="entr" presetSubtype="0" fill="hold" grpId="0"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50"/>
                                        <p:tgtEl>
                                          <p:spTgt spid="5"/>
                                        </p:tgtEl>
                                      </p:cBhvr>
                                    </p:animEffect>
                                  </p:childTnLst>
                                </p:cTn>
                              </p:par>
                              <p:par>
                                <p:cTn id="11" presetID="10" presetClass="entr" presetSubtype="0" fill="hold" nodeType="withEffect">
                                  <p:stCondLst>
                                    <p:cond delay="3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50"/>
                                        <p:tgtEl>
                                          <p:spTgt spid="6"/>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50"/>
                                        <p:tgtEl>
                                          <p:spTgt spid="7"/>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50"/>
                                        <p:tgtEl>
                                          <p:spTgt spid="8"/>
                                        </p:tgtEl>
                                      </p:cBhvr>
                                    </p:animEffect>
                                  </p:childTnLst>
                                </p:cTn>
                              </p:par>
                            </p:childTnLst>
                          </p:cTn>
                        </p:par>
                        <p:par>
                          <p:cTn id="20" fill="hold">
                            <p:stCondLst>
                              <p:cond delay="550"/>
                            </p:stCondLst>
                            <p:childTnLst>
                              <p:par>
                                <p:cTn id="21" presetID="10" presetClass="entr" presetSubtype="0" fill="hold" grpId="0" nodeType="afterEffect">
                                  <p:stCondLst>
                                    <p:cond delay="6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50"/>
                                        <p:tgtEl>
                                          <p:spTgt spid="9"/>
                                        </p:tgtEl>
                                      </p:cBhvr>
                                    </p:animEffect>
                                  </p:childTnLst>
                                </p:cTn>
                              </p:par>
                              <p:par>
                                <p:cTn id="24" presetID="10" presetClass="entr" presetSubtype="0" fill="hold" grpId="0" nodeType="withEffect">
                                  <p:stCondLst>
                                    <p:cond delay="6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250"/>
                                        <p:tgtEl>
                                          <p:spTgt spid="10"/>
                                        </p:tgtEl>
                                      </p:cBhvr>
                                    </p:animEffect>
                                  </p:childTnLst>
                                </p:cTn>
                              </p:par>
                              <p:par>
                                <p:cTn id="27" presetID="10" presetClass="entr" presetSubtype="0" fill="hold" nodeType="withEffect">
                                  <p:stCondLst>
                                    <p:cond delay="6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250"/>
                                        <p:tgtEl>
                                          <p:spTgt spid="11"/>
                                        </p:tgtEl>
                                      </p:cBhvr>
                                    </p:animEffect>
                                  </p:childTnLst>
                                </p:cTn>
                              </p:par>
                              <p:par>
                                <p:cTn id="30" presetID="10" presetClass="entr" presetSubtype="0" fill="hold" grpId="0" nodeType="withEffect">
                                  <p:stCondLst>
                                    <p:cond delay="6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250"/>
                                        <p:tgtEl>
                                          <p:spTgt spid="12"/>
                                        </p:tgtEl>
                                      </p:cBhvr>
                                    </p:animEffect>
                                  </p:childTnLst>
                                </p:cTn>
                              </p:par>
                              <p:par>
                                <p:cTn id="33" presetID="10" presetClass="entr" presetSubtype="0" fill="hold" grpId="0" nodeType="withEffect">
                                  <p:stCondLst>
                                    <p:cond delay="6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250"/>
                                        <p:tgtEl>
                                          <p:spTgt spid="13"/>
                                        </p:tgtEl>
                                      </p:cBhvr>
                                    </p:animEffect>
                                  </p:childTnLst>
                                </p:cTn>
                              </p:par>
                            </p:childTnLst>
                          </p:cTn>
                        </p:par>
                        <p:par>
                          <p:cTn id="36" fill="hold">
                            <p:stCondLst>
                              <p:cond delay="860"/>
                            </p:stCondLst>
                            <p:childTnLst>
                              <p:par>
                                <p:cTn id="37" presetID="10" presetClass="entr" presetSubtype="0" fill="hold" grpId="0" nodeType="afterEffect">
                                  <p:stCondLst>
                                    <p:cond delay="6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250"/>
                                        <p:tgtEl>
                                          <p:spTgt spid="14"/>
                                        </p:tgtEl>
                                      </p:cBhvr>
                                    </p:animEffect>
                                  </p:childTnLst>
                                </p:cTn>
                              </p:par>
                              <p:par>
                                <p:cTn id="40" presetID="10" presetClass="entr" presetSubtype="0" fill="hold" grpId="0" nodeType="withEffect">
                                  <p:stCondLst>
                                    <p:cond delay="6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250"/>
                                        <p:tgtEl>
                                          <p:spTgt spid="15"/>
                                        </p:tgtEl>
                                      </p:cBhvr>
                                    </p:animEffect>
                                  </p:childTnLst>
                                </p:cTn>
                              </p:par>
                              <p:par>
                                <p:cTn id="43" presetID="10" presetClass="entr" presetSubtype="0" fill="hold" nodeType="withEffect">
                                  <p:stCondLst>
                                    <p:cond delay="6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250"/>
                                        <p:tgtEl>
                                          <p:spTgt spid="16"/>
                                        </p:tgtEl>
                                      </p:cBhvr>
                                    </p:animEffect>
                                  </p:childTnLst>
                                </p:cTn>
                              </p:par>
                              <p:par>
                                <p:cTn id="46" presetID="10" presetClass="entr" presetSubtype="0" fill="hold" grpId="0" nodeType="withEffect">
                                  <p:stCondLst>
                                    <p:cond delay="6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250"/>
                                        <p:tgtEl>
                                          <p:spTgt spid="17"/>
                                        </p:tgtEl>
                                      </p:cBhvr>
                                    </p:animEffect>
                                  </p:childTnLst>
                                </p:cTn>
                              </p:par>
                              <p:par>
                                <p:cTn id="49" presetID="10" presetClass="entr" presetSubtype="0" fill="hold" grpId="0" nodeType="withEffect">
                                  <p:stCondLst>
                                    <p:cond delay="6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250"/>
                                        <p:tgtEl>
                                          <p:spTgt spid="18"/>
                                        </p:tgtEl>
                                      </p:cBhvr>
                                    </p:animEffect>
                                  </p:childTnLst>
                                </p:cTn>
                              </p:par>
                            </p:childTnLst>
                          </p:cTn>
                        </p:par>
                        <p:par>
                          <p:cTn id="52" fill="hold">
                            <p:stCondLst>
                              <p:cond delay="1170"/>
                            </p:stCondLst>
                            <p:childTnLst>
                              <p:par>
                                <p:cTn id="53" presetID="10" presetClass="entr" presetSubtype="0" fill="hold" grpId="0" nodeType="afterEffect">
                                  <p:stCondLst>
                                    <p:cond delay="6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250"/>
                                        <p:tgtEl>
                                          <p:spTgt spid="19"/>
                                        </p:tgtEl>
                                      </p:cBhvr>
                                    </p:animEffect>
                                  </p:childTnLst>
                                </p:cTn>
                              </p:par>
                              <p:par>
                                <p:cTn id="56" presetID="10" presetClass="entr" presetSubtype="0" fill="hold" grpId="0" nodeType="withEffect">
                                  <p:stCondLst>
                                    <p:cond delay="6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250"/>
                                        <p:tgtEl>
                                          <p:spTgt spid="20"/>
                                        </p:tgtEl>
                                      </p:cBhvr>
                                    </p:animEffect>
                                  </p:childTnLst>
                                </p:cTn>
                              </p:par>
                              <p:par>
                                <p:cTn id="59" presetID="10" presetClass="entr" presetSubtype="0" fill="hold" nodeType="withEffect">
                                  <p:stCondLst>
                                    <p:cond delay="6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250"/>
                                        <p:tgtEl>
                                          <p:spTgt spid="21"/>
                                        </p:tgtEl>
                                      </p:cBhvr>
                                    </p:animEffect>
                                  </p:childTnLst>
                                </p:cTn>
                              </p:par>
                              <p:par>
                                <p:cTn id="62" presetID="10" presetClass="entr" presetSubtype="0" fill="hold" grpId="0" nodeType="withEffect">
                                  <p:stCondLst>
                                    <p:cond delay="6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50"/>
                                        <p:tgtEl>
                                          <p:spTgt spid="22"/>
                                        </p:tgtEl>
                                      </p:cBhvr>
                                    </p:animEffect>
                                  </p:childTnLst>
                                </p:cTn>
                              </p:par>
                              <p:par>
                                <p:cTn id="65" presetID="10" presetClass="entr" presetSubtype="0" fill="hold" grpId="0" nodeType="withEffect">
                                  <p:stCondLst>
                                    <p:cond delay="6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250"/>
                                        <p:tgtEl>
                                          <p:spTgt spid="23"/>
                                        </p:tgtEl>
                                      </p:cBhvr>
                                    </p:animEffect>
                                  </p:childTnLst>
                                </p:cTn>
                              </p:par>
                            </p:childTnLst>
                          </p:cTn>
                        </p:par>
                        <p:par>
                          <p:cTn id="68" fill="hold">
                            <p:stCondLst>
                              <p:cond delay="1480"/>
                            </p:stCondLst>
                            <p:childTnLst>
                              <p:par>
                                <p:cTn id="69" presetID="10" presetClass="entr" presetSubtype="0" fill="hold" grpId="0" nodeType="afterEffect">
                                  <p:stCondLst>
                                    <p:cond delay="6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250"/>
                                        <p:tgtEl>
                                          <p:spTgt spid="24"/>
                                        </p:tgtEl>
                                      </p:cBhvr>
                                    </p:animEffect>
                                  </p:childTnLst>
                                </p:cTn>
                              </p:par>
                              <p:par>
                                <p:cTn id="72" presetID="10" presetClass="entr" presetSubtype="0" fill="hold" grpId="0" nodeType="withEffect">
                                  <p:stCondLst>
                                    <p:cond delay="6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250"/>
                                        <p:tgtEl>
                                          <p:spTgt spid="25"/>
                                        </p:tgtEl>
                                      </p:cBhvr>
                                    </p:animEffect>
                                  </p:childTnLst>
                                </p:cTn>
                              </p:par>
                              <p:par>
                                <p:cTn id="75" presetID="10" presetClass="entr" presetSubtype="0" fill="hold" nodeType="withEffect">
                                  <p:stCondLst>
                                    <p:cond delay="6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250"/>
                                        <p:tgtEl>
                                          <p:spTgt spid="26"/>
                                        </p:tgtEl>
                                      </p:cBhvr>
                                    </p:animEffect>
                                  </p:childTnLst>
                                </p:cTn>
                              </p:par>
                              <p:par>
                                <p:cTn id="78" presetID="10" presetClass="entr" presetSubtype="0" fill="hold" grpId="0" nodeType="withEffect">
                                  <p:stCondLst>
                                    <p:cond delay="6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250"/>
                                        <p:tgtEl>
                                          <p:spTgt spid="27"/>
                                        </p:tgtEl>
                                      </p:cBhvr>
                                    </p:animEffect>
                                  </p:childTnLst>
                                </p:cTn>
                              </p:par>
                              <p:par>
                                <p:cTn id="81" presetID="10" presetClass="entr" presetSubtype="0" fill="hold" grpId="0" nodeType="withEffect">
                                  <p:stCondLst>
                                    <p:cond delay="6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250"/>
                                        <p:tgtEl>
                                          <p:spTgt spid="28"/>
                                        </p:tgtEl>
                                      </p:cBhvr>
                                    </p:animEffect>
                                  </p:childTnLst>
                                </p:cTn>
                              </p:par>
                            </p:childTnLst>
                          </p:cTn>
                        </p:par>
                        <p:par>
                          <p:cTn id="84" fill="hold">
                            <p:stCondLst>
                              <p:cond delay="1790"/>
                            </p:stCondLst>
                            <p:childTnLst>
                              <p:par>
                                <p:cTn id="85" presetID="10" presetClass="entr" presetSubtype="0" fill="hold" grpId="0" nodeType="afterEffect">
                                  <p:stCondLst>
                                    <p:cond delay="6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250"/>
                                        <p:tgtEl>
                                          <p:spTgt spid="29"/>
                                        </p:tgtEl>
                                      </p:cBhvr>
                                    </p:animEffect>
                                  </p:childTnLst>
                                </p:cTn>
                              </p:par>
                              <p:par>
                                <p:cTn id="88" presetID="10" presetClass="entr" presetSubtype="0" fill="hold" grpId="0" nodeType="withEffect">
                                  <p:stCondLst>
                                    <p:cond delay="6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250"/>
                                        <p:tgtEl>
                                          <p:spTgt spid="30"/>
                                        </p:tgtEl>
                                      </p:cBhvr>
                                    </p:animEffect>
                                  </p:childTnLst>
                                </p:cTn>
                              </p:par>
                              <p:par>
                                <p:cTn id="91" presetID="10" presetClass="entr" presetSubtype="0" fill="hold" nodeType="withEffect">
                                  <p:stCondLst>
                                    <p:cond delay="6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250"/>
                                        <p:tgtEl>
                                          <p:spTgt spid="31"/>
                                        </p:tgtEl>
                                      </p:cBhvr>
                                    </p:animEffect>
                                  </p:childTnLst>
                                </p:cTn>
                              </p:par>
                              <p:par>
                                <p:cTn id="94" presetID="10" presetClass="entr" presetSubtype="0" fill="hold" grpId="0" nodeType="withEffect">
                                  <p:stCondLst>
                                    <p:cond delay="6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250"/>
                                        <p:tgtEl>
                                          <p:spTgt spid="32"/>
                                        </p:tgtEl>
                                      </p:cBhvr>
                                    </p:animEffect>
                                  </p:childTnLst>
                                </p:cTn>
                              </p:par>
                              <p:par>
                                <p:cTn id="97" presetID="10" presetClass="entr" presetSubtype="0" fill="hold" grpId="0" nodeType="withEffect">
                                  <p:stCondLst>
                                    <p:cond delay="60"/>
                                  </p:stCondLst>
                                  <p:childTnLst>
                                    <p:set>
                                      <p:cBhvr>
                                        <p:cTn id="98" dur="1" fill="hold">
                                          <p:stCondLst>
                                            <p:cond delay="0"/>
                                          </p:stCondLst>
                                        </p:cTn>
                                        <p:tgtEl>
                                          <p:spTgt spid="33"/>
                                        </p:tgtEl>
                                        <p:attrNameLst>
                                          <p:attrName>style.visibility</p:attrName>
                                        </p:attrNameLst>
                                      </p:cBhvr>
                                      <p:to>
                                        <p:strVal val="visible"/>
                                      </p:to>
                                    </p:set>
                                    <p:animEffect transition="in" filter="fade">
                                      <p:cBhvr>
                                        <p:cTn id="99" dur="250"/>
                                        <p:tgtEl>
                                          <p:spTgt spid="33"/>
                                        </p:tgtEl>
                                      </p:cBhvr>
                                    </p:animEffect>
                                  </p:childTnLst>
                                </p:cTn>
                              </p:par>
                            </p:childTnLst>
                          </p:cTn>
                        </p:par>
                        <p:par>
                          <p:cTn id="100" fill="hold">
                            <p:stCondLst>
                              <p:cond delay="2100"/>
                            </p:stCondLst>
                            <p:childTnLst>
                              <p:par>
                                <p:cTn id="101" presetID="10" presetClass="entr" presetSubtype="0" fill="hold" grpId="0" nodeType="afterEffect">
                                  <p:stCondLst>
                                    <p:cond delay="6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250"/>
                                        <p:tgtEl>
                                          <p:spTgt spid="34"/>
                                        </p:tgtEl>
                                      </p:cBhvr>
                                    </p:animEffect>
                                  </p:childTnLst>
                                </p:cTn>
                              </p:par>
                              <p:par>
                                <p:cTn id="104" presetID="10" presetClass="entr" presetSubtype="0" fill="hold" grpId="0" nodeType="withEffect">
                                  <p:stCondLst>
                                    <p:cond delay="6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250"/>
                                        <p:tgtEl>
                                          <p:spTgt spid="35"/>
                                        </p:tgtEl>
                                      </p:cBhvr>
                                    </p:animEffect>
                                  </p:childTnLst>
                                </p:cTn>
                              </p:par>
                              <p:par>
                                <p:cTn id="107" presetID="10" presetClass="entr" presetSubtype="0" fill="hold" nodeType="withEffect">
                                  <p:stCondLst>
                                    <p:cond delay="6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250"/>
                                        <p:tgtEl>
                                          <p:spTgt spid="36"/>
                                        </p:tgtEl>
                                      </p:cBhvr>
                                    </p:animEffect>
                                  </p:childTnLst>
                                </p:cTn>
                              </p:par>
                              <p:par>
                                <p:cTn id="110" presetID="10" presetClass="entr" presetSubtype="0" fill="hold" grpId="0" nodeType="withEffect">
                                  <p:stCondLst>
                                    <p:cond delay="6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250"/>
                                        <p:tgtEl>
                                          <p:spTgt spid="37"/>
                                        </p:tgtEl>
                                      </p:cBhvr>
                                    </p:animEffect>
                                  </p:childTnLst>
                                </p:cTn>
                              </p:par>
                              <p:par>
                                <p:cTn id="113" presetID="10" presetClass="entr" presetSubtype="0" fill="hold" grpId="0" nodeType="withEffect">
                                  <p:stCondLst>
                                    <p:cond delay="6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250"/>
                                        <p:tgtEl>
                                          <p:spTgt spid="38"/>
                                        </p:tgtEl>
                                      </p:cBhvr>
                                    </p:animEffect>
                                  </p:childTnLst>
                                </p:cTn>
                              </p:par>
                            </p:childTnLst>
                          </p:cTn>
                        </p:par>
                        <p:par>
                          <p:cTn id="116" fill="hold">
                            <p:stCondLst>
                              <p:cond delay="2410"/>
                            </p:stCondLst>
                            <p:childTnLst>
                              <p:par>
                                <p:cTn id="117" presetID="10" presetClass="entr" presetSubtype="0" fill="hold" grpId="0" nodeType="afterEffect">
                                  <p:stCondLst>
                                    <p:cond delay="300"/>
                                  </p:stCondLst>
                                  <p:childTnLst>
                                    <p:set>
                                      <p:cBhvr>
                                        <p:cTn id="118" dur="1" fill="hold">
                                          <p:stCondLst>
                                            <p:cond delay="0"/>
                                          </p:stCondLst>
                                        </p:cTn>
                                        <p:tgtEl>
                                          <p:spTgt spid="39"/>
                                        </p:tgtEl>
                                        <p:attrNameLst>
                                          <p:attrName>style.visibility</p:attrName>
                                        </p:attrNameLst>
                                      </p:cBhvr>
                                      <p:to>
                                        <p:strVal val="visible"/>
                                      </p:to>
                                    </p:set>
                                    <p:animEffect transition="in" filter="fade">
                                      <p:cBhvr>
                                        <p:cTn id="119" dur="250"/>
                                        <p:tgtEl>
                                          <p:spTgt spid="39"/>
                                        </p:tgtEl>
                                      </p:cBhvr>
                                    </p:animEffect>
                                  </p:childTnLst>
                                </p:cTn>
                              </p:par>
                              <p:par>
                                <p:cTn id="120" presetID="10" presetClass="entr" presetSubtype="0" fill="hold" grpId="0" nodeType="withEffect">
                                  <p:stCondLst>
                                    <p:cond delay="300"/>
                                  </p:stCondLst>
                                  <p:childTnLst>
                                    <p:set>
                                      <p:cBhvr>
                                        <p:cTn id="121" dur="1" fill="hold">
                                          <p:stCondLst>
                                            <p:cond delay="0"/>
                                          </p:stCondLst>
                                        </p:cTn>
                                        <p:tgtEl>
                                          <p:spTgt spid="40"/>
                                        </p:tgtEl>
                                        <p:attrNameLst>
                                          <p:attrName>style.visibility</p:attrName>
                                        </p:attrNameLst>
                                      </p:cBhvr>
                                      <p:to>
                                        <p:strVal val="visible"/>
                                      </p:to>
                                    </p:set>
                                    <p:animEffect transition="in" filter="fade">
                                      <p:cBhvr>
                                        <p:cTn id="122" dur="250"/>
                                        <p:tgtEl>
                                          <p:spTgt spid="40"/>
                                        </p:tgtEl>
                                      </p:cBhvr>
                                    </p:animEffect>
                                  </p:childTnLst>
                                </p:cTn>
                              </p:par>
                              <p:par>
                                <p:cTn id="123" presetID="10" presetClass="entr" presetSubtype="0" fill="hold" nodeType="withEffect">
                                  <p:stCondLst>
                                    <p:cond delay="300"/>
                                  </p:stCondLst>
                                  <p:childTnLst>
                                    <p:set>
                                      <p:cBhvr>
                                        <p:cTn id="124" dur="1" fill="hold">
                                          <p:stCondLst>
                                            <p:cond delay="0"/>
                                          </p:stCondLst>
                                        </p:cTn>
                                        <p:tgtEl>
                                          <p:spTgt spid="41"/>
                                        </p:tgtEl>
                                        <p:attrNameLst>
                                          <p:attrName>style.visibility</p:attrName>
                                        </p:attrNameLst>
                                      </p:cBhvr>
                                      <p:to>
                                        <p:strVal val="visible"/>
                                      </p:to>
                                    </p:set>
                                    <p:animEffect transition="in" filter="fade">
                                      <p:cBhvr>
                                        <p:cTn id="125" dur="250"/>
                                        <p:tgtEl>
                                          <p:spTgt spid="41"/>
                                        </p:tgtEl>
                                      </p:cBhvr>
                                    </p:animEffect>
                                  </p:childTnLst>
                                </p:cTn>
                              </p:par>
                              <p:par>
                                <p:cTn id="126" presetID="10" presetClass="entr" presetSubtype="0" fill="hold" grpId="0" nodeType="withEffect">
                                  <p:stCondLst>
                                    <p:cond delay="300"/>
                                  </p:stCondLst>
                                  <p:childTnLst>
                                    <p:set>
                                      <p:cBhvr>
                                        <p:cTn id="127" dur="1" fill="hold">
                                          <p:stCondLst>
                                            <p:cond delay="0"/>
                                          </p:stCondLst>
                                        </p:cTn>
                                        <p:tgtEl>
                                          <p:spTgt spid="42"/>
                                        </p:tgtEl>
                                        <p:attrNameLst>
                                          <p:attrName>style.visibility</p:attrName>
                                        </p:attrNameLst>
                                      </p:cBhvr>
                                      <p:to>
                                        <p:strVal val="visible"/>
                                      </p:to>
                                    </p:set>
                                    <p:animEffect transition="in" filter="fade">
                                      <p:cBhvr>
                                        <p:cTn id="128" dur="250"/>
                                        <p:tgtEl>
                                          <p:spTgt spid="42"/>
                                        </p:tgtEl>
                                      </p:cBhvr>
                                    </p:animEffect>
                                  </p:childTnLst>
                                </p:cTn>
                              </p:par>
                              <p:par>
                                <p:cTn id="129" presetID="10" presetClass="entr" presetSubtype="0" fill="hold" grpId="0" nodeType="withEffect">
                                  <p:stCondLst>
                                    <p:cond delay="300"/>
                                  </p:stCondLst>
                                  <p:childTnLst>
                                    <p:set>
                                      <p:cBhvr>
                                        <p:cTn id="130" dur="1" fill="hold">
                                          <p:stCondLst>
                                            <p:cond delay="0"/>
                                          </p:stCondLst>
                                        </p:cTn>
                                        <p:tgtEl>
                                          <p:spTgt spid="43"/>
                                        </p:tgtEl>
                                        <p:attrNameLst>
                                          <p:attrName>style.visibility</p:attrName>
                                        </p:attrNameLst>
                                      </p:cBhvr>
                                      <p:to>
                                        <p:strVal val="visible"/>
                                      </p:to>
                                    </p:set>
                                    <p:animEffect transition="in" filter="fade">
                                      <p:cBhvr>
                                        <p:cTn id="131" dur="2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9-eyebrow"/>
          <p:cNvSpPr txBox="1"/>
          <p:nvPr/>
        </p:nvSpPr>
        <p:spPr>
          <a:xfrm>
            <a:off x="548640" y="384048"/>
            <a:ext cx="5486400" cy="256032"/>
          </a:xfrm>
          <a:prstGeom prst="rect">
            <a:avLst/>
          </a:prstGeom>
          <a:noFill/>
          <a:ln/>
        </p:spPr>
        <p:txBody>
          <a:bodyPr wrap="square" lIns="0" tIns="0" rIns="0" bIns="0" rtlCol="0" anchor="ctr"/>
          <a:lstStyle/>
          <a:p>
            <a:pPr indent="0" marL="0">
              <a:buNone/>
            </a:pPr>
            <a:r>
              <a:rPr lang="en-US" sz="1200" b="1" spc="300" kern="0" dirty="0">
                <a:solidFill>
                  <a:schemeClr val="accent4"/>
                </a:solidFill>
                <a:latin typeface="Courier New" pitchFamily="34" charset="0"/>
                <a:ea typeface="Courier New" pitchFamily="34" charset="-122"/>
                <a:cs typeface="Courier New" pitchFamily="34" charset="-120"/>
              </a:rPr>
              <a:t>WHY YOU CAN TRUST IT</a:t>
            </a:r>
            <a:endParaRPr lang="en-US" sz="1200" dirty="0"/>
          </a:p>
        </p:txBody>
      </p:sp>
      <p:sp>
        <p:nvSpPr>
          <p:cNvPr id="3" name="Title"/>
          <p:cNvSpPr/>
          <p:nvPr>
            <p:ph idx="102" type="title" hasCustomPrompt="1"/>
          </p:nvPr>
        </p:nvSpPr>
        <p:spPr>
          <a:xfrm>
            <a:off x="548640" y="640080"/>
            <a:ext cx="11094415" cy="749808"/>
          </a:xfrm>
          <a:prstGeom prst="rect">
            <a:avLst/>
          </a:prstGeom>
          <a:noFill/>
          <a:ln/>
        </p:spPr>
        <p:txBody>
          <a:bodyPr wrap="square" lIns="0" tIns="0" rIns="0" bIns="0" rtlCol="0" anchor="ctr"/>
          <a:lstStyle/>
          <a:p>
            <a:pPr algn="l" indent="0" marL="0">
              <a:buNone/>
            </a:pPr>
            <a:r>
              <a:rPr lang="en-US" sz="3400" spc="-75" kern="0" dirty="0">
                <a:solidFill>
                  <a:schemeClr val="bg1"/>
                </a:solidFill>
              </a:rPr>
              <a:t>Built to fail in one direction</a:t>
            </a:r>
            <a:endParaRPr lang="en-US" sz="3400" dirty="0"/>
          </a:p>
        </p:txBody>
      </p:sp>
      <p:sp>
        <p:nvSpPr>
          <p:cNvPr id="4" name="s9-card1-bg"/>
          <p:cNvSpPr/>
          <p:nvPr/>
        </p:nvSpPr>
        <p:spPr>
          <a:xfrm>
            <a:off x="548640" y="1645920"/>
            <a:ext cx="3401568" cy="2103120"/>
          </a:xfrm>
          <a:prstGeom prst="roundRect">
            <a:avLst>
              <a:gd name="adj" fmla="val 7826"/>
            </a:avLst>
          </a:prstGeom>
          <a:solidFill>
            <a:schemeClr val="tx1"/>
          </a:solidFill>
          <a:ln w="12700">
            <a:solidFill>
              <a:srgbClr val="3A3129"/>
            </a:solidFill>
            <a:prstDash val="solid"/>
          </a:ln>
        </p:spPr>
      </p:sp>
      <p:sp>
        <p:nvSpPr>
          <p:cNvPr id="5" name="s9-card1-dot"/>
          <p:cNvSpPr/>
          <p:nvPr/>
        </p:nvSpPr>
        <p:spPr>
          <a:xfrm>
            <a:off x="777240" y="1892808"/>
            <a:ext cx="493776" cy="493776"/>
          </a:xfrm>
          <a:prstGeom prst="ellipse">
            <a:avLst/>
          </a:prstGeom>
          <a:solidFill>
            <a:schemeClr val="accent5"/>
          </a:solidFill>
          <a:ln w="12700">
            <a:solidFill>
              <a:srgbClr val="3A3129"/>
            </a:solidFill>
            <a:prstDash val="solid"/>
          </a:ln>
        </p:spPr>
      </p:sp>
      <p:pic>
        <p:nvPicPr>
          <p:cNvPr id="6" name="s9-card1-icon" descr="Icon">    </p:cNvPr>
          <p:cNvPicPr>
            <a:picLocks noChangeAspect="1"/>
          </p:cNvPicPr>
          <p:nvPr/>
        </p:nvPicPr>
        <p:blipFill>
          <a:blip r:embed="rId1"/>
          <a:stretch>
            <a:fillRect/>
          </a:stretch>
        </p:blipFill>
        <p:spPr>
          <a:xfrm>
            <a:off x="905256" y="2020824"/>
            <a:ext cx="237744" cy="237744"/>
          </a:xfrm>
          <a:prstGeom prst="rect">
            <a:avLst/>
          </a:prstGeom>
        </p:spPr>
      </p:pic>
      <p:sp>
        <p:nvSpPr>
          <p:cNvPr id="7" name="s9-card1-title"/>
          <p:cNvSpPr txBox="1"/>
          <p:nvPr/>
        </p:nvSpPr>
        <p:spPr>
          <a:xfrm>
            <a:off x="777240" y="2468880"/>
            <a:ext cx="2944368" cy="548640"/>
          </a:xfrm>
          <a:prstGeom prst="rect">
            <a:avLst/>
          </a:prstGeom>
          <a:noFill/>
          <a:ln/>
        </p:spPr>
        <p:txBody>
          <a:bodyPr wrap="square" lIns="0" tIns="0" rIns="0" bIns="0" rtlCol="0" anchor="b"/>
          <a:lstStyle/>
          <a:p>
            <a:pPr indent="0" marL="0">
              <a:buNone/>
            </a:pPr>
            <a:r>
              <a:rPr lang="en-US" sz="1600" b="1" dirty="0">
                <a:solidFill>
                  <a:schemeClr val="bg1"/>
                </a:solidFill>
              </a:rPr>
              <a:t>Rules decide,</a:t>
            </a:r>
            <a:endParaRPr lang="en-US" sz="1600" dirty="0"/>
          </a:p>
          <a:p>
            <a:pPr indent="0" marL="0">
              <a:buNone/>
            </a:pPr>
            <a:r>
              <a:rPr lang="en-US" sz="1600" b="1" dirty="0">
                <a:solidFill>
                  <a:schemeClr val="bg1"/>
                </a:solidFill>
              </a:rPr>
              <a:t>the model writes</a:t>
            </a:r>
            <a:endParaRPr lang="en-US" sz="1600" dirty="0"/>
          </a:p>
        </p:txBody>
      </p:sp>
      <p:sp>
        <p:nvSpPr>
          <p:cNvPr id="8" name="s9-card1-desc"/>
          <p:cNvSpPr txBox="1"/>
          <p:nvPr/>
        </p:nvSpPr>
        <p:spPr>
          <a:xfrm>
            <a:off x="777240" y="3090672"/>
            <a:ext cx="2944368" cy="548640"/>
          </a:xfrm>
          <a:prstGeom prst="rect">
            <a:avLst/>
          </a:prstGeom>
          <a:noFill/>
          <a:ln/>
        </p:spPr>
        <p:txBody>
          <a:bodyPr wrap="square" lIns="0" tIns="0" rIns="0" bIns="0" rtlCol="0" anchor="t"/>
          <a:lstStyle/>
          <a:p>
            <a:pPr indent="0" marL="0">
              <a:buNone/>
            </a:pPr>
            <a:r>
              <a:rPr lang="en-US" sz="1400" dirty="0">
                <a:solidFill>
                  <a:schemeClr val="bg2"/>
                </a:solidFill>
              </a:rPr>
              <a:t>A scam email cannot talk the verdict down.</a:t>
            </a:r>
            <a:endParaRPr lang="en-US" sz="1400" dirty="0"/>
          </a:p>
        </p:txBody>
      </p:sp>
      <p:sp>
        <p:nvSpPr>
          <p:cNvPr id="9" name="s9-card2-bg"/>
          <p:cNvSpPr/>
          <p:nvPr/>
        </p:nvSpPr>
        <p:spPr>
          <a:xfrm>
            <a:off x="4160520" y="1645920"/>
            <a:ext cx="3401568" cy="2103120"/>
          </a:xfrm>
          <a:prstGeom prst="roundRect">
            <a:avLst>
              <a:gd name="adj" fmla="val 7826"/>
            </a:avLst>
          </a:prstGeom>
          <a:solidFill>
            <a:schemeClr val="tx1"/>
          </a:solidFill>
          <a:ln w="12700">
            <a:solidFill>
              <a:srgbClr val="3A3129"/>
            </a:solidFill>
            <a:prstDash val="solid"/>
          </a:ln>
        </p:spPr>
      </p:sp>
      <p:sp>
        <p:nvSpPr>
          <p:cNvPr id="10" name="s9-card2-dot"/>
          <p:cNvSpPr/>
          <p:nvPr/>
        </p:nvSpPr>
        <p:spPr>
          <a:xfrm>
            <a:off x="4389120" y="1892808"/>
            <a:ext cx="493776" cy="493776"/>
          </a:xfrm>
          <a:prstGeom prst="ellipse">
            <a:avLst/>
          </a:prstGeom>
          <a:solidFill>
            <a:schemeClr val="accent5"/>
          </a:solidFill>
          <a:ln w="12700">
            <a:solidFill>
              <a:srgbClr val="3A3129"/>
            </a:solidFill>
            <a:prstDash val="solid"/>
          </a:ln>
        </p:spPr>
      </p:sp>
      <p:pic>
        <p:nvPicPr>
          <p:cNvPr id="11" name="s9-card2-icon" descr="Icon">    </p:cNvPr>
          <p:cNvPicPr>
            <a:picLocks noChangeAspect="1"/>
          </p:cNvPicPr>
          <p:nvPr/>
        </p:nvPicPr>
        <p:blipFill>
          <a:blip r:embed="rId2"/>
          <a:stretch>
            <a:fillRect/>
          </a:stretch>
        </p:blipFill>
        <p:spPr>
          <a:xfrm>
            <a:off x="4517136" y="2020824"/>
            <a:ext cx="237744" cy="237744"/>
          </a:xfrm>
          <a:prstGeom prst="rect">
            <a:avLst/>
          </a:prstGeom>
        </p:spPr>
      </p:pic>
      <p:sp>
        <p:nvSpPr>
          <p:cNvPr id="12" name="s9-card2-title"/>
          <p:cNvSpPr txBox="1"/>
          <p:nvPr/>
        </p:nvSpPr>
        <p:spPr>
          <a:xfrm>
            <a:off x="4389120" y="2468880"/>
            <a:ext cx="2944368" cy="548640"/>
          </a:xfrm>
          <a:prstGeom prst="rect">
            <a:avLst/>
          </a:prstGeom>
          <a:noFill/>
          <a:ln/>
        </p:spPr>
        <p:txBody>
          <a:bodyPr wrap="square" lIns="0" tIns="0" rIns="0" bIns="0" rtlCol="0" anchor="b"/>
          <a:lstStyle/>
          <a:p>
            <a:pPr indent="0" marL="0">
              <a:buNone/>
            </a:pPr>
            <a:r>
              <a:rPr lang="en-US" sz="1600" b="1" dirty="0">
                <a:solidFill>
                  <a:schemeClr val="bg1"/>
                </a:solidFill>
              </a:rPr>
              <a:t>It looks. It never types.</a:t>
            </a:r>
            <a:endParaRPr lang="en-US" sz="1600" dirty="0"/>
          </a:p>
        </p:txBody>
      </p:sp>
      <p:sp>
        <p:nvSpPr>
          <p:cNvPr id="13" name="s9-card2-desc"/>
          <p:cNvSpPr txBox="1"/>
          <p:nvPr/>
        </p:nvSpPr>
        <p:spPr>
          <a:xfrm>
            <a:off x="4389120" y="3090672"/>
            <a:ext cx="2944368" cy="548640"/>
          </a:xfrm>
          <a:prstGeom prst="rect">
            <a:avLst/>
          </a:prstGeom>
          <a:noFill/>
          <a:ln/>
        </p:spPr>
        <p:txBody>
          <a:bodyPr wrap="square" lIns="0" tIns="0" rIns="0" bIns="0" rtlCol="0" anchor="t"/>
          <a:lstStyle/>
          <a:p>
            <a:pPr indent="0" marL="0">
              <a:buNone/>
            </a:pPr>
            <a:r>
              <a:rPr lang="en-US" sz="1400" dirty="0">
                <a:solidFill>
                  <a:schemeClr val="bg2"/>
                </a:solidFill>
              </a:rPr>
              <a:t>Fake details go into one place only: our own training pages.</a:t>
            </a:r>
            <a:endParaRPr lang="en-US" sz="1400" dirty="0"/>
          </a:p>
        </p:txBody>
      </p:sp>
      <p:sp>
        <p:nvSpPr>
          <p:cNvPr id="14" name="s9-card3-bg"/>
          <p:cNvSpPr/>
          <p:nvPr/>
        </p:nvSpPr>
        <p:spPr>
          <a:xfrm>
            <a:off x="548640" y="3959352"/>
            <a:ext cx="3401568" cy="2103120"/>
          </a:xfrm>
          <a:prstGeom prst="roundRect">
            <a:avLst>
              <a:gd name="adj" fmla="val 7826"/>
            </a:avLst>
          </a:prstGeom>
          <a:solidFill>
            <a:schemeClr val="tx1"/>
          </a:solidFill>
          <a:ln w="12700">
            <a:solidFill>
              <a:srgbClr val="3A3129"/>
            </a:solidFill>
            <a:prstDash val="solid"/>
          </a:ln>
        </p:spPr>
      </p:sp>
      <p:sp>
        <p:nvSpPr>
          <p:cNvPr id="15" name="s9-card3-dot"/>
          <p:cNvSpPr/>
          <p:nvPr/>
        </p:nvSpPr>
        <p:spPr>
          <a:xfrm>
            <a:off x="777240" y="4206240"/>
            <a:ext cx="493776" cy="493776"/>
          </a:xfrm>
          <a:prstGeom prst="ellipse">
            <a:avLst/>
          </a:prstGeom>
          <a:solidFill>
            <a:schemeClr val="accent5"/>
          </a:solidFill>
          <a:ln w="12700">
            <a:solidFill>
              <a:srgbClr val="3A3129"/>
            </a:solidFill>
            <a:prstDash val="solid"/>
          </a:ln>
        </p:spPr>
      </p:sp>
      <p:pic>
        <p:nvPicPr>
          <p:cNvPr id="16" name="s9-card3-icon" descr="Icon">    </p:cNvPr>
          <p:cNvPicPr>
            <a:picLocks noChangeAspect="1"/>
          </p:cNvPicPr>
          <p:nvPr/>
        </p:nvPicPr>
        <p:blipFill>
          <a:blip r:embed="rId3"/>
          <a:stretch>
            <a:fillRect/>
          </a:stretch>
        </p:blipFill>
        <p:spPr>
          <a:xfrm>
            <a:off x="905256" y="4334256"/>
            <a:ext cx="237744" cy="237744"/>
          </a:xfrm>
          <a:prstGeom prst="rect">
            <a:avLst/>
          </a:prstGeom>
        </p:spPr>
      </p:pic>
      <p:sp>
        <p:nvSpPr>
          <p:cNvPr id="17" name="s9-card3-title"/>
          <p:cNvSpPr txBox="1"/>
          <p:nvPr/>
        </p:nvSpPr>
        <p:spPr>
          <a:xfrm>
            <a:off x="777240" y="4782312"/>
            <a:ext cx="2944368" cy="548640"/>
          </a:xfrm>
          <a:prstGeom prst="rect">
            <a:avLst/>
          </a:prstGeom>
          <a:noFill/>
          <a:ln/>
        </p:spPr>
        <p:txBody>
          <a:bodyPr wrap="square" lIns="0" tIns="0" rIns="0" bIns="0" rtlCol="0" anchor="b"/>
          <a:lstStyle/>
          <a:p>
            <a:pPr indent="0" marL="0">
              <a:buNone/>
            </a:pPr>
            <a:r>
              <a:rPr lang="en-US" sz="1600" b="1" dirty="0">
                <a:solidFill>
                  <a:schemeClr val="bg1"/>
                </a:solidFill>
              </a:rPr>
              <a:t>A dead link is evidence</a:t>
            </a:r>
            <a:endParaRPr lang="en-US" sz="1600" dirty="0"/>
          </a:p>
        </p:txBody>
      </p:sp>
      <p:sp>
        <p:nvSpPr>
          <p:cNvPr id="18" name="s9-card3-desc"/>
          <p:cNvSpPr txBox="1"/>
          <p:nvPr/>
        </p:nvSpPr>
        <p:spPr>
          <a:xfrm>
            <a:off x="777240" y="5404104"/>
            <a:ext cx="2944368" cy="548640"/>
          </a:xfrm>
          <a:prstGeom prst="rect">
            <a:avLst/>
          </a:prstGeom>
          <a:noFill/>
          <a:ln/>
        </p:spPr>
        <p:txBody>
          <a:bodyPr wrap="square" lIns="0" tIns="0" rIns="0" bIns="0" rtlCol="0" anchor="t"/>
          <a:lstStyle/>
          <a:p>
            <a:pPr indent="0" marL="0">
              <a:buNone/>
            </a:pPr>
            <a:r>
              <a:rPr lang="en-US" sz="1400" dirty="0">
                <a:solidFill>
                  <a:schemeClr val="bg2"/>
                </a:solidFill>
              </a:rPr>
              <a:t>Hidden, blocked or taken down means treat as a scam.</a:t>
            </a:r>
            <a:endParaRPr lang="en-US" sz="1400" dirty="0"/>
          </a:p>
        </p:txBody>
      </p:sp>
      <p:sp>
        <p:nvSpPr>
          <p:cNvPr id="19" name="s9-card4-bg"/>
          <p:cNvSpPr/>
          <p:nvPr/>
        </p:nvSpPr>
        <p:spPr>
          <a:xfrm>
            <a:off x="4160520" y="3959352"/>
            <a:ext cx="3401568" cy="2103120"/>
          </a:xfrm>
          <a:prstGeom prst="roundRect">
            <a:avLst>
              <a:gd name="adj" fmla="val 7826"/>
            </a:avLst>
          </a:prstGeom>
          <a:solidFill>
            <a:schemeClr val="tx1"/>
          </a:solidFill>
          <a:ln w="12700">
            <a:solidFill>
              <a:srgbClr val="3A3129"/>
            </a:solidFill>
            <a:prstDash val="solid"/>
          </a:ln>
        </p:spPr>
      </p:sp>
      <p:sp>
        <p:nvSpPr>
          <p:cNvPr id="20" name="s9-card4-dot"/>
          <p:cNvSpPr/>
          <p:nvPr/>
        </p:nvSpPr>
        <p:spPr>
          <a:xfrm>
            <a:off x="4389120" y="4206240"/>
            <a:ext cx="493776" cy="493776"/>
          </a:xfrm>
          <a:prstGeom prst="ellipse">
            <a:avLst/>
          </a:prstGeom>
          <a:solidFill>
            <a:schemeClr val="accent5"/>
          </a:solidFill>
          <a:ln w="12700">
            <a:solidFill>
              <a:srgbClr val="3A3129"/>
            </a:solidFill>
            <a:prstDash val="solid"/>
          </a:ln>
        </p:spPr>
      </p:sp>
      <p:pic>
        <p:nvPicPr>
          <p:cNvPr id="21" name="s9-card4-icon" descr="Icon">    </p:cNvPr>
          <p:cNvPicPr>
            <a:picLocks noChangeAspect="1"/>
          </p:cNvPicPr>
          <p:nvPr/>
        </p:nvPicPr>
        <p:blipFill>
          <a:blip r:embed="rId4"/>
          <a:stretch>
            <a:fillRect/>
          </a:stretch>
        </p:blipFill>
        <p:spPr>
          <a:xfrm>
            <a:off x="4517136" y="4334256"/>
            <a:ext cx="237744" cy="237744"/>
          </a:xfrm>
          <a:prstGeom prst="rect">
            <a:avLst/>
          </a:prstGeom>
        </p:spPr>
      </p:pic>
      <p:sp>
        <p:nvSpPr>
          <p:cNvPr id="22" name="s9-card4-title"/>
          <p:cNvSpPr txBox="1"/>
          <p:nvPr/>
        </p:nvSpPr>
        <p:spPr>
          <a:xfrm>
            <a:off x="4389120" y="4782312"/>
            <a:ext cx="2944368" cy="548640"/>
          </a:xfrm>
          <a:prstGeom prst="rect">
            <a:avLst/>
          </a:prstGeom>
          <a:noFill/>
          <a:ln/>
        </p:spPr>
        <p:txBody>
          <a:bodyPr wrap="square" lIns="0" tIns="0" rIns="0" bIns="0" rtlCol="0" anchor="b"/>
          <a:lstStyle/>
          <a:p>
            <a:pPr indent="0" marL="0">
              <a:buNone/>
            </a:pPr>
            <a:r>
              <a:rPr lang="en-US" sz="1600" b="1" dirty="0">
                <a:solidFill>
                  <a:schemeClr val="bg1"/>
                </a:solidFill>
              </a:rPr>
              <a:t>Shared screens get less</a:t>
            </a:r>
            <a:endParaRPr lang="en-US" sz="1600" dirty="0"/>
          </a:p>
        </p:txBody>
      </p:sp>
      <p:sp>
        <p:nvSpPr>
          <p:cNvPr id="23" name="s9-card4-desc"/>
          <p:cNvSpPr txBox="1"/>
          <p:nvPr/>
        </p:nvSpPr>
        <p:spPr>
          <a:xfrm>
            <a:off x="4389120" y="5404104"/>
            <a:ext cx="2944368" cy="548640"/>
          </a:xfrm>
          <a:prstGeom prst="rect">
            <a:avLst/>
          </a:prstGeom>
          <a:noFill/>
          <a:ln/>
        </p:spPr>
        <p:txBody>
          <a:bodyPr wrap="square" lIns="0" tIns="0" rIns="0" bIns="0" rtlCol="0" anchor="t"/>
          <a:lstStyle/>
          <a:p>
            <a:pPr indent="0" marL="0">
              <a:buNone/>
            </a:pPr>
            <a:r>
              <a:rPr lang="en-US" sz="1400" dirty="0">
                <a:solidFill>
                  <a:schemeClr val="bg2"/>
                </a:solidFill>
              </a:rPr>
              <a:t>Only a cleaned-up subject line reaches the wall.</a:t>
            </a:r>
            <a:endParaRPr lang="en-US" sz="1400" dirty="0"/>
          </a:p>
        </p:txBody>
      </p:sp>
      <p:sp>
        <p:nvSpPr>
          <p:cNvPr id="24" name="!!frame"/>
          <p:cNvSpPr/>
          <p:nvPr/>
        </p:nvSpPr>
        <p:spPr>
          <a:xfrm>
            <a:off x="7900416" y="1645920"/>
            <a:ext cx="3742639" cy="4416552"/>
          </a:xfrm>
          <a:prstGeom prst="roundRect">
            <a:avLst>
              <a:gd name="adj" fmla="val 4398"/>
            </a:avLst>
          </a:prstGeom>
          <a:solidFill>
            <a:schemeClr val="bg1"/>
          </a:solidFill>
          <a:ln/>
        </p:spPr>
      </p:sp>
      <p:sp>
        <p:nvSpPr>
          <p:cNvPr id="25" name="s9-stat-label"/>
          <p:cNvSpPr txBox="1"/>
          <p:nvPr/>
        </p:nvSpPr>
        <p:spPr>
          <a:xfrm>
            <a:off x="8220456" y="2212848"/>
            <a:ext cx="3102559" cy="256032"/>
          </a:xfrm>
          <a:prstGeom prst="rect">
            <a:avLst/>
          </a:prstGeom>
          <a:noFill/>
          <a:ln/>
        </p:spPr>
        <p:txBody>
          <a:bodyPr wrap="square" lIns="0" tIns="0" rIns="0" bIns="0" rtlCol="0" anchor="ctr"/>
          <a:lstStyle/>
          <a:p>
            <a:pPr indent="0" marL="0">
              <a:buNone/>
            </a:pPr>
            <a:r>
              <a:rPr lang="en-US" sz="1200" b="1" spc="300" kern="0" dirty="0">
                <a:solidFill>
                  <a:srgbClr val="62574A"/>
                </a:solidFill>
                <a:latin typeface="Courier New" pitchFamily="34" charset="0"/>
                <a:ea typeface="Courier New" pitchFamily="34" charset="-122"/>
                <a:cs typeface="Courier New" pitchFamily="34" charset="-120"/>
              </a:rPr>
              <a:t>THE HONEST SCORE</a:t>
            </a:r>
            <a:endParaRPr lang="en-US" sz="1200" dirty="0"/>
          </a:p>
        </p:txBody>
      </p:sp>
      <p:sp>
        <p:nvSpPr>
          <p:cNvPr id="26" name="s9-stat-num"/>
          <p:cNvSpPr txBox="1"/>
          <p:nvPr/>
        </p:nvSpPr>
        <p:spPr>
          <a:xfrm>
            <a:off x="8174736" y="2624328"/>
            <a:ext cx="3285439" cy="1463040"/>
          </a:xfrm>
          <a:prstGeom prst="rect">
            <a:avLst/>
          </a:prstGeom>
          <a:noFill/>
          <a:ln/>
        </p:spPr>
        <p:txBody>
          <a:bodyPr wrap="square" lIns="0" tIns="0" rIns="0" bIns="0" rtlCol="0" anchor="ctr"/>
          <a:lstStyle/>
          <a:p>
            <a:pPr indent="0" marL="0">
              <a:buNone/>
            </a:pPr>
            <a:r>
              <a:rPr lang="en-US" sz="9600" spc="-200" kern="0" dirty="0">
                <a:solidFill>
                  <a:schemeClr val="tx1"/>
                </a:solidFill>
                <a:latin typeface="Arial Black" pitchFamily="34" charset="0"/>
                <a:ea typeface="Arial Black" pitchFamily="34" charset="-122"/>
                <a:cs typeface="Arial Black" pitchFamily="34" charset="-120"/>
              </a:rPr>
              <a:t>12</a:t>
            </a:r>
            <a:pPr indent="0" marL="0">
              <a:buNone/>
            </a:pPr>
            <a:r>
              <a:rPr lang="en-US" sz="4400" spc="-200" kern="0" dirty="0">
                <a:solidFill>
                  <a:schemeClr val="accent4"/>
                </a:solidFill>
                <a:latin typeface="Arial Black" pitchFamily="34" charset="0"/>
                <a:ea typeface="Arial Black" pitchFamily="34" charset="-122"/>
                <a:cs typeface="Arial Black" pitchFamily="34" charset="-120"/>
              </a:rPr>
              <a:t> / 12</a:t>
            </a:r>
            <a:endParaRPr lang="en-US" sz="9600" dirty="0"/>
          </a:p>
        </p:txBody>
      </p:sp>
      <p:sp>
        <p:nvSpPr>
          <p:cNvPr id="27" name="s9-stat-text"/>
          <p:cNvSpPr txBox="1"/>
          <p:nvPr/>
        </p:nvSpPr>
        <p:spPr>
          <a:xfrm>
            <a:off x="8220456" y="4270248"/>
            <a:ext cx="3102559" cy="640080"/>
          </a:xfrm>
          <a:prstGeom prst="rect">
            <a:avLst/>
          </a:prstGeom>
          <a:noFill/>
          <a:ln/>
        </p:spPr>
        <p:txBody>
          <a:bodyPr wrap="square" lIns="0" tIns="0" rIns="0" bIns="0" rtlCol="0" anchor="t"/>
          <a:lstStyle/>
          <a:p>
            <a:pPr indent="0" marL="0">
              <a:buNone/>
            </a:pPr>
            <a:r>
              <a:rPr lang="en-US" sz="1600" b="1" dirty="0">
                <a:solidFill>
                  <a:schemeClr val="tx1"/>
                </a:solidFill>
              </a:rPr>
              <a:t>labelled messages judged correctly (8 scams, 4 genuine)</a:t>
            </a:r>
            <a:endParaRPr lang="en-US" sz="1600" dirty="0"/>
          </a:p>
        </p:txBody>
      </p:sp>
      <p:sp>
        <p:nvSpPr>
          <p:cNvPr id="28" name="s9-stat-note"/>
          <p:cNvSpPr txBox="1"/>
          <p:nvPr/>
        </p:nvSpPr>
        <p:spPr>
          <a:xfrm>
            <a:off x="8220456" y="5120640"/>
            <a:ext cx="3102559" cy="512064"/>
          </a:xfrm>
          <a:prstGeom prst="rect">
            <a:avLst/>
          </a:prstGeom>
          <a:noFill/>
          <a:ln/>
        </p:spPr>
        <p:txBody>
          <a:bodyPr wrap="square" lIns="0" tIns="0" rIns="0" bIns="0" rtlCol="0" anchor="t"/>
          <a:lstStyle/>
          <a:p>
            <a:pPr indent="0" marL="0">
              <a:buNone/>
            </a:pPr>
            <a:r>
              <a:rPr lang="en-US" sz="1200" b="1" spc="200" kern="0" dirty="0">
                <a:solidFill>
                  <a:srgbClr val="62574A"/>
                </a:solidFill>
                <a:latin typeface="Courier New" pitchFamily="34" charset="0"/>
                <a:ea typeface="Courier New" pitchFamily="34" charset="-122"/>
                <a:cs typeface="Courier New" pitchFamily="34" charset="-120"/>
              </a:rPr>
              <a:t>A REGRESSION CHECK,</a:t>
            </a:r>
            <a:endParaRPr lang="en-US" sz="1200" dirty="0"/>
          </a:p>
          <a:p>
            <a:pPr indent="0" marL="0">
              <a:buNone/>
            </a:pPr>
            <a:r>
              <a:rPr lang="en-US" sz="1200" b="1" spc="200" kern="0" dirty="0">
                <a:solidFill>
                  <a:srgbClr val="62574A"/>
                </a:solidFill>
                <a:latin typeface="Courier New" pitchFamily="34" charset="0"/>
                <a:ea typeface="Courier New" pitchFamily="34" charset="-122"/>
                <a:cs typeface="Courier New" pitchFamily="34" charset="-120"/>
              </a:rPr>
              <a:t>NOT A BENCHMARK</a:t>
            </a:r>
            <a:endParaRPr lang="en-US" sz="1200" dirty="0"/>
          </a:p>
        </p:txBody>
      </p:sp>
      <p:sp>
        <p:nvSpPr>
          <p:cNvPr id="29" name="Slide Number Placeholder 0"/>
          <p:cNvSpPr>
            <a:spLocks noGrp="1"/>
          </p:cNvSpPr>
          <p:nvPr>
            <p:ph type="sldNum" sz="quarter" idx="4294967295"/>
          </p:nvPr>
        </p:nvSpPr>
        <p:spPr>
          <a:xfrm>
            <a:off x="10911535" y="6336792"/>
            <a:ext cx="731520" cy="237744"/>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latin typeface="Courier New"/>
                <a:ea typeface="Courier New"/>
                <a:cs typeface="Courier New"/>
              </a:defRPr>
            </a:lvl1pPr>
          </a:lstStyle>
          <a:p>
            <a:pPr algn="r"/>
            <a:fld id="{F7021451-1387-4CA6-816F-3879F97B5CBC}" type="slidenum">
              <a:rPr b="1"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3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50"/>
                                        <p:tgtEl>
                                          <p:spTgt spid="4"/>
                                        </p:tgtEl>
                                      </p:cBhvr>
                                    </p:animEffect>
                                    <p:anim calcmode="lin" valueType="num">
                                      <p:cBhvr>
                                        <p:cTn id="8" dur="350" decel="100000" fill="hold"/>
                                        <p:tgtEl>
                                          <p:spTgt spid="4"/>
                                        </p:tgtEl>
                                        <p:attrNameLst>
                                          <p:attrName>ppt_x</p:attrName>
                                        </p:attrNameLst>
                                      </p:cBhvr>
                                      <p:tavLst>
                                        <p:tav tm="0">
                                          <p:val>
                                            <p:strVal val="#ppt_x"/>
                                          </p:val>
                                        </p:tav>
                                        <p:tav tm="100000">
                                          <p:val>
                                            <p:strVal val="#ppt_x"/>
                                          </p:val>
                                        </p:tav>
                                      </p:tavLst>
                                    </p:anim>
                                    <p:anim calcmode="lin" valueType="num">
                                      <p:cBhvr>
                                        <p:cTn id="9" dur="350" decel="100000" fill="hold"/>
                                        <p:tgtEl>
                                          <p:spTgt spid="4"/>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3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350"/>
                                        <p:tgtEl>
                                          <p:spTgt spid="5"/>
                                        </p:tgtEl>
                                      </p:cBhvr>
                                    </p:animEffect>
                                    <p:anim calcmode="lin" valueType="num">
                                      <p:cBhvr>
                                        <p:cTn id="13" dur="350" decel="100000" fill="hold"/>
                                        <p:tgtEl>
                                          <p:spTgt spid="5"/>
                                        </p:tgtEl>
                                        <p:attrNameLst>
                                          <p:attrName>ppt_x</p:attrName>
                                        </p:attrNameLst>
                                      </p:cBhvr>
                                      <p:tavLst>
                                        <p:tav tm="0">
                                          <p:val>
                                            <p:strVal val="#ppt_x"/>
                                          </p:val>
                                        </p:tav>
                                        <p:tav tm="100000">
                                          <p:val>
                                            <p:strVal val="#ppt_x"/>
                                          </p:val>
                                        </p:tav>
                                      </p:tavLst>
                                    </p:anim>
                                    <p:anim calcmode="lin" valueType="num">
                                      <p:cBhvr>
                                        <p:cTn id="14" dur="350" decel="100000" fill="hold"/>
                                        <p:tgtEl>
                                          <p:spTgt spid="5"/>
                                        </p:tgtEl>
                                        <p:attrNameLst>
                                          <p:attrName>ppt_y</p:attrName>
                                        </p:attrNameLst>
                                      </p:cBhvr>
                                      <p:tavLst>
                                        <p:tav tm="0">
                                          <p:val>
                                            <p:strVal val="#ppt_y+.05"/>
                                          </p:val>
                                        </p:tav>
                                        <p:tav tm="100000">
                                          <p:val>
                                            <p:strVal val="#ppt_y"/>
                                          </p:val>
                                        </p:tav>
                                      </p:tavLst>
                                    </p:anim>
                                  </p:childTnLst>
                                </p:cTn>
                              </p:par>
                              <p:par>
                                <p:cTn id="15" presetID="42" presetClass="entr" presetSubtype="0" fill="hold" nodeType="withEffect">
                                  <p:stCondLst>
                                    <p:cond delay="3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50"/>
                                        <p:tgtEl>
                                          <p:spTgt spid="6"/>
                                        </p:tgtEl>
                                      </p:cBhvr>
                                    </p:animEffect>
                                    <p:anim calcmode="lin" valueType="num">
                                      <p:cBhvr>
                                        <p:cTn id="18" dur="350" decel="100000" fill="hold"/>
                                        <p:tgtEl>
                                          <p:spTgt spid="6"/>
                                        </p:tgtEl>
                                        <p:attrNameLst>
                                          <p:attrName>ppt_x</p:attrName>
                                        </p:attrNameLst>
                                      </p:cBhvr>
                                      <p:tavLst>
                                        <p:tav tm="0">
                                          <p:val>
                                            <p:strVal val="#ppt_x"/>
                                          </p:val>
                                        </p:tav>
                                        <p:tav tm="100000">
                                          <p:val>
                                            <p:strVal val="#ppt_x"/>
                                          </p:val>
                                        </p:tav>
                                      </p:tavLst>
                                    </p:anim>
                                    <p:anim calcmode="lin" valueType="num">
                                      <p:cBhvr>
                                        <p:cTn id="19" dur="350" decel="100000" fill="hold"/>
                                        <p:tgtEl>
                                          <p:spTgt spid="6"/>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3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50"/>
                                        <p:tgtEl>
                                          <p:spTgt spid="7"/>
                                        </p:tgtEl>
                                      </p:cBhvr>
                                    </p:animEffect>
                                    <p:anim calcmode="lin" valueType="num">
                                      <p:cBhvr>
                                        <p:cTn id="23" dur="350" decel="100000" fill="hold"/>
                                        <p:tgtEl>
                                          <p:spTgt spid="7"/>
                                        </p:tgtEl>
                                        <p:attrNameLst>
                                          <p:attrName>ppt_x</p:attrName>
                                        </p:attrNameLst>
                                      </p:cBhvr>
                                      <p:tavLst>
                                        <p:tav tm="0">
                                          <p:val>
                                            <p:strVal val="#ppt_x"/>
                                          </p:val>
                                        </p:tav>
                                        <p:tav tm="100000">
                                          <p:val>
                                            <p:strVal val="#ppt_x"/>
                                          </p:val>
                                        </p:tav>
                                      </p:tavLst>
                                    </p:anim>
                                    <p:anim calcmode="lin" valueType="num">
                                      <p:cBhvr>
                                        <p:cTn id="24" dur="350" decel="100000" fill="hold"/>
                                        <p:tgtEl>
                                          <p:spTgt spid="7"/>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3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350"/>
                                        <p:tgtEl>
                                          <p:spTgt spid="8"/>
                                        </p:tgtEl>
                                      </p:cBhvr>
                                    </p:animEffect>
                                    <p:anim calcmode="lin" valueType="num">
                                      <p:cBhvr>
                                        <p:cTn id="28" dur="350" decel="100000" fill="hold"/>
                                        <p:tgtEl>
                                          <p:spTgt spid="8"/>
                                        </p:tgtEl>
                                        <p:attrNameLst>
                                          <p:attrName>ppt_x</p:attrName>
                                        </p:attrNameLst>
                                      </p:cBhvr>
                                      <p:tavLst>
                                        <p:tav tm="0">
                                          <p:val>
                                            <p:strVal val="#ppt_x"/>
                                          </p:val>
                                        </p:tav>
                                        <p:tav tm="100000">
                                          <p:val>
                                            <p:strVal val="#ppt_x"/>
                                          </p:val>
                                        </p:tav>
                                      </p:tavLst>
                                    </p:anim>
                                    <p:anim calcmode="lin" valueType="num">
                                      <p:cBhvr>
                                        <p:cTn id="29" dur="350" decel="100000" fill="hold"/>
                                        <p:tgtEl>
                                          <p:spTgt spid="8"/>
                                        </p:tgtEl>
                                        <p:attrNameLst>
                                          <p:attrName>ppt_y</p:attrName>
                                        </p:attrNameLst>
                                      </p:cBhvr>
                                      <p:tavLst>
                                        <p:tav tm="0">
                                          <p:val>
                                            <p:strVal val="#ppt_y+.05"/>
                                          </p:val>
                                        </p:tav>
                                        <p:tav tm="100000">
                                          <p:val>
                                            <p:strVal val="#ppt_y"/>
                                          </p:val>
                                        </p:tav>
                                      </p:tavLst>
                                    </p:anim>
                                  </p:childTnLst>
                                </p:cTn>
                              </p:par>
                            </p:childTnLst>
                          </p:cTn>
                        </p:par>
                        <p:par>
                          <p:cTn id="30" fill="hold">
                            <p:stCondLst>
                              <p:cond delay="650"/>
                            </p:stCondLst>
                            <p:childTnLst>
                              <p:par>
                                <p:cTn id="31" presetID="42" presetClass="entr" presetSubtype="0" fill="hold" grpId="0" nodeType="afterEffect">
                                  <p:stCondLst>
                                    <p:cond delay="2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350"/>
                                        <p:tgtEl>
                                          <p:spTgt spid="9"/>
                                        </p:tgtEl>
                                      </p:cBhvr>
                                    </p:animEffect>
                                    <p:anim calcmode="lin" valueType="num">
                                      <p:cBhvr>
                                        <p:cTn id="34" dur="350" decel="100000" fill="hold"/>
                                        <p:tgtEl>
                                          <p:spTgt spid="9"/>
                                        </p:tgtEl>
                                        <p:attrNameLst>
                                          <p:attrName>ppt_x</p:attrName>
                                        </p:attrNameLst>
                                      </p:cBhvr>
                                      <p:tavLst>
                                        <p:tav tm="0">
                                          <p:val>
                                            <p:strVal val="#ppt_x"/>
                                          </p:val>
                                        </p:tav>
                                        <p:tav tm="100000">
                                          <p:val>
                                            <p:strVal val="#ppt_x"/>
                                          </p:val>
                                        </p:tav>
                                      </p:tavLst>
                                    </p:anim>
                                    <p:anim calcmode="lin" valueType="num">
                                      <p:cBhvr>
                                        <p:cTn id="35" dur="350" decel="100000" fill="hold"/>
                                        <p:tgtEl>
                                          <p:spTgt spid="9"/>
                                        </p:tgtEl>
                                        <p:attrNameLst>
                                          <p:attrName>ppt_y</p:attrName>
                                        </p:attrNameLst>
                                      </p:cBhvr>
                                      <p:tavLst>
                                        <p:tav tm="0">
                                          <p:val>
                                            <p:strVal val="#ppt_y+.05"/>
                                          </p:val>
                                        </p:tav>
                                        <p:tav tm="100000">
                                          <p:val>
                                            <p:strVal val="#ppt_y"/>
                                          </p:val>
                                        </p:tav>
                                      </p:tavLst>
                                    </p:anim>
                                  </p:childTnLst>
                                </p:cTn>
                              </p:par>
                              <p:par>
                                <p:cTn id="36" presetID="42" presetClass="entr" presetSubtype="0" fill="hold" grpId="0" nodeType="withEffect">
                                  <p:stCondLst>
                                    <p:cond delay="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350"/>
                                        <p:tgtEl>
                                          <p:spTgt spid="10"/>
                                        </p:tgtEl>
                                      </p:cBhvr>
                                    </p:animEffect>
                                    <p:anim calcmode="lin" valueType="num">
                                      <p:cBhvr>
                                        <p:cTn id="39" dur="350" decel="100000" fill="hold"/>
                                        <p:tgtEl>
                                          <p:spTgt spid="10"/>
                                        </p:tgtEl>
                                        <p:attrNameLst>
                                          <p:attrName>ppt_x</p:attrName>
                                        </p:attrNameLst>
                                      </p:cBhvr>
                                      <p:tavLst>
                                        <p:tav tm="0">
                                          <p:val>
                                            <p:strVal val="#ppt_x"/>
                                          </p:val>
                                        </p:tav>
                                        <p:tav tm="100000">
                                          <p:val>
                                            <p:strVal val="#ppt_x"/>
                                          </p:val>
                                        </p:tav>
                                      </p:tavLst>
                                    </p:anim>
                                    <p:anim calcmode="lin" valueType="num">
                                      <p:cBhvr>
                                        <p:cTn id="40" dur="350" decel="100000" fill="hold"/>
                                        <p:tgtEl>
                                          <p:spTgt spid="10"/>
                                        </p:tgtEl>
                                        <p:attrNameLst>
                                          <p:attrName>ppt_y</p:attrName>
                                        </p:attrNameLst>
                                      </p:cBhvr>
                                      <p:tavLst>
                                        <p:tav tm="0">
                                          <p:val>
                                            <p:strVal val="#ppt_y+.05"/>
                                          </p:val>
                                        </p:tav>
                                        <p:tav tm="100000">
                                          <p:val>
                                            <p:strVal val="#ppt_y"/>
                                          </p:val>
                                        </p:tav>
                                      </p:tavLst>
                                    </p:anim>
                                  </p:childTnLst>
                                </p:cTn>
                              </p:par>
                              <p:par>
                                <p:cTn id="41" presetID="42" presetClass="entr" presetSubtype="0" fill="hold" nodeType="withEffect">
                                  <p:stCondLst>
                                    <p:cond delay="2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350"/>
                                        <p:tgtEl>
                                          <p:spTgt spid="11"/>
                                        </p:tgtEl>
                                      </p:cBhvr>
                                    </p:animEffect>
                                    <p:anim calcmode="lin" valueType="num">
                                      <p:cBhvr>
                                        <p:cTn id="44" dur="350" decel="100000" fill="hold"/>
                                        <p:tgtEl>
                                          <p:spTgt spid="11"/>
                                        </p:tgtEl>
                                        <p:attrNameLst>
                                          <p:attrName>ppt_x</p:attrName>
                                        </p:attrNameLst>
                                      </p:cBhvr>
                                      <p:tavLst>
                                        <p:tav tm="0">
                                          <p:val>
                                            <p:strVal val="#ppt_x"/>
                                          </p:val>
                                        </p:tav>
                                        <p:tav tm="100000">
                                          <p:val>
                                            <p:strVal val="#ppt_x"/>
                                          </p:val>
                                        </p:tav>
                                      </p:tavLst>
                                    </p:anim>
                                    <p:anim calcmode="lin" valueType="num">
                                      <p:cBhvr>
                                        <p:cTn id="45" dur="350" decel="100000" fill="hold"/>
                                        <p:tgtEl>
                                          <p:spTgt spid="11"/>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20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350"/>
                                        <p:tgtEl>
                                          <p:spTgt spid="12"/>
                                        </p:tgtEl>
                                      </p:cBhvr>
                                    </p:animEffect>
                                    <p:anim calcmode="lin" valueType="num">
                                      <p:cBhvr>
                                        <p:cTn id="49" dur="350" decel="100000" fill="hold"/>
                                        <p:tgtEl>
                                          <p:spTgt spid="12"/>
                                        </p:tgtEl>
                                        <p:attrNameLst>
                                          <p:attrName>ppt_x</p:attrName>
                                        </p:attrNameLst>
                                      </p:cBhvr>
                                      <p:tavLst>
                                        <p:tav tm="0">
                                          <p:val>
                                            <p:strVal val="#ppt_x"/>
                                          </p:val>
                                        </p:tav>
                                        <p:tav tm="100000">
                                          <p:val>
                                            <p:strVal val="#ppt_x"/>
                                          </p:val>
                                        </p:tav>
                                      </p:tavLst>
                                    </p:anim>
                                    <p:anim calcmode="lin" valueType="num">
                                      <p:cBhvr>
                                        <p:cTn id="50" dur="350" decel="100000" fill="hold"/>
                                        <p:tgtEl>
                                          <p:spTgt spid="12"/>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20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350"/>
                                        <p:tgtEl>
                                          <p:spTgt spid="13"/>
                                        </p:tgtEl>
                                      </p:cBhvr>
                                    </p:animEffect>
                                    <p:anim calcmode="lin" valueType="num">
                                      <p:cBhvr>
                                        <p:cTn id="54" dur="350" decel="100000" fill="hold"/>
                                        <p:tgtEl>
                                          <p:spTgt spid="13"/>
                                        </p:tgtEl>
                                        <p:attrNameLst>
                                          <p:attrName>ppt_x</p:attrName>
                                        </p:attrNameLst>
                                      </p:cBhvr>
                                      <p:tavLst>
                                        <p:tav tm="0">
                                          <p:val>
                                            <p:strVal val="#ppt_x"/>
                                          </p:val>
                                        </p:tav>
                                        <p:tav tm="100000">
                                          <p:val>
                                            <p:strVal val="#ppt_x"/>
                                          </p:val>
                                        </p:tav>
                                      </p:tavLst>
                                    </p:anim>
                                    <p:anim calcmode="lin" valueType="num">
                                      <p:cBhvr>
                                        <p:cTn id="55" dur="350" decel="100000" fill="hold"/>
                                        <p:tgtEl>
                                          <p:spTgt spid="13"/>
                                        </p:tgtEl>
                                        <p:attrNameLst>
                                          <p:attrName>ppt_y</p:attrName>
                                        </p:attrNameLst>
                                      </p:cBhvr>
                                      <p:tavLst>
                                        <p:tav tm="0">
                                          <p:val>
                                            <p:strVal val="#ppt_y+.05"/>
                                          </p:val>
                                        </p:tav>
                                        <p:tav tm="100000">
                                          <p:val>
                                            <p:strVal val="#ppt_y"/>
                                          </p:val>
                                        </p:tav>
                                      </p:tavLst>
                                    </p:anim>
                                  </p:childTnLst>
                                </p:cTn>
                              </p:par>
                            </p:childTnLst>
                          </p:cTn>
                        </p:par>
                        <p:par>
                          <p:cTn id="56" fill="hold">
                            <p:stCondLst>
                              <p:cond delay="1200"/>
                            </p:stCondLst>
                            <p:childTnLst>
                              <p:par>
                                <p:cTn id="57" presetID="42" presetClass="entr" presetSubtype="0" fill="hold" grpId="0" nodeType="afterEffect">
                                  <p:stCondLst>
                                    <p:cond delay="20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350"/>
                                        <p:tgtEl>
                                          <p:spTgt spid="14"/>
                                        </p:tgtEl>
                                      </p:cBhvr>
                                    </p:animEffect>
                                    <p:anim calcmode="lin" valueType="num">
                                      <p:cBhvr>
                                        <p:cTn id="60" dur="350" decel="100000" fill="hold"/>
                                        <p:tgtEl>
                                          <p:spTgt spid="14"/>
                                        </p:tgtEl>
                                        <p:attrNameLst>
                                          <p:attrName>ppt_x</p:attrName>
                                        </p:attrNameLst>
                                      </p:cBhvr>
                                      <p:tavLst>
                                        <p:tav tm="0">
                                          <p:val>
                                            <p:strVal val="#ppt_x"/>
                                          </p:val>
                                        </p:tav>
                                        <p:tav tm="100000">
                                          <p:val>
                                            <p:strVal val="#ppt_x"/>
                                          </p:val>
                                        </p:tav>
                                      </p:tavLst>
                                    </p:anim>
                                    <p:anim calcmode="lin" valueType="num">
                                      <p:cBhvr>
                                        <p:cTn id="61" dur="350" decel="100000" fill="hold"/>
                                        <p:tgtEl>
                                          <p:spTgt spid="14"/>
                                        </p:tgtEl>
                                        <p:attrNameLst>
                                          <p:attrName>ppt_y</p:attrName>
                                        </p:attrNameLst>
                                      </p:cBhvr>
                                      <p:tavLst>
                                        <p:tav tm="0">
                                          <p:val>
                                            <p:strVal val="#ppt_y+.05"/>
                                          </p:val>
                                        </p:tav>
                                        <p:tav tm="100000">
                                          <p:val>
                                            <p:strVal val="#ppt_y"/>
                                          </p:val>
                                        </p:tav>
                                      </p:tavLst>
                                    </p:anim>
                                  </p:childTnLst>
                                </p:cTn>
                              </p:par>
                              <p:par>
                                <p:cTn id="62" presetID="42" presetClass="entr" presetSubtype="0" fill="hold" grpId="0" nodeType="withEffect">
                                  <p:stCondLst>
                                    <p:cond delay="20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350"/>
                                        <p:tgtEl>
                                          <p:spTgt spid="15"/>
                                        </p:tgtEl>
                                      </p:cBhvr>
                                    </p:animEffect>
                                    <p:anim calcmode="lin" valueType="num">
                                      <p:cBhvr>
                                        <p:cTn id="65" dur="350" decel="100000" fill="hold"/>
                                        <p:tgtEl>
                                          <p:spTgt spid="15"/>
                                        </p:tgtEl>
                                        <p:attrNameLst>
                                          <p:attrName>ppt_x</p:attrName>
                                        </p:attrNameLst>
                                      </p:cBhvr>
                                      <p:tavLst>
                                        <p:tav tm="0">
                                          <p:val>
                                            <p:strVal val="#ppt_x"/>
                                          </p:val>
                                        </p:tav>
                                        <p:tav tm="100000">
                                          <p:val>
                                            <p:strVal val="#ppt_x"/>
                                          </p:val>
                                        </p:tav>
                                      </p:tavLst>
                                    </p:anim>
                                    <p:anim calcmode="lin" valueType="num">
                                      <p:cBhvr>
                                        <p:cTn id="66" dur="350" decel="100000" fill="hold"/>
                                        <p:tgtEl>
                                          <p:spTgt spid="15"/>
                                        </p:tgtEl>
                                        <p:attrNameLst>
                                          <p:attrName>ppt_y</p:attrName>
                                        </p:attrNameLst>
                                      </p:cBhvr>
                                      <p:tavLst>
                                        <p:tav tm="0">
                                          <p:val>
                                            <p:strVal val="#ppt_y+.05"/>
                                          </p:val>
                                        </p:tav>
                                        <p:tav tm="100000">
                                          <p:val>
                                            <p:strVal val="#ppt_y"/>
                                          </p:val>
                                        </p:tav>
                                      </p:tavLst>
                                    </p:anim>
                                  </p:childTnLst>
                                </p:cTn>
                              </p:par>
                              <p:par>
                                <p:cTn id="67" presetID="42" presetClass="entr" presetSubtype="0" fill="hold" nodeType="withEffect">
                                  <p:stCondLst>
                                    <p:cond delay="20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350"/>
                                        <p:tgtEl>
                                          <p:spTgt spid="16"/>
                                        </p:tgtEl>
                                      </p:cBhvr>
                                    </p:animEffect>
                                    <p:anim calcmode="lin" valueType="num">
                                      <p:cBhvr>
                                        <p:cTn id="70" dur="350" decel="100000" fill="hold"/>
                                        <p:tgtEl>
                                          <p:spTgt spid="16"/>
                                        </p:tgtEl>
                                        <p:attrNameLst>
                                          <p:attrName>ppt_x</p:attrName>
                                        </p:attrNameLst>
                                      </p:cBhvr>
                                      <p:tavLst>
                                        <p:tav tm="0">
                                          <p:val>
                                            <p:strVal val="#ppt_x"/>
                                          </p:val>
                                        </p:tav>
                                        <p:tav tm="100000">
                                          <p:val>
                                            <p:strVal val="#ppt_x"/>
                                          </p:val>
                                        </p:tav>
                                      </p:tavLst>
                                    </p:anim>
                                    <p:anim calcmode="lin" valueType="num">
                                      <p:cBhvr>
                                        <p:cTn id="71" dur="350" decel="100000" fill="hold"/>
                                        <p:tgtEl>
                                          <p:spTgt spid="16"/>
                                        </p:tgtEl>
                                        <p:attrNameLst>
                                          <p:attrName>ppt_y</p:attrName>
                                        </p:attrNameLst>
                                      </p:cBhvr>
                                      <p:tavLst>
                                        <p:tav tm="0">
                                          <p:val>
                                            <p:strVal val="#ppt_y+.05"/>
                                          </p:val>
                                        </p:tav>
                                        <p:tav tm="100000">
                                          <p:val>
                                            <p:strVal val="#ppt_y"/>
                                          </p:val>
                                        </p:tav>
                                      </p:tavLst>
                                    </p:anim>
                                  </p:childTnLst>
                                </p:cTn>
                              </p:par>
                              <p:par>
                                <p:cTn id="72" presetID="42" presetClass="entr" presetSubtype="0" fill="hold" grpId="0" nodeType="withEffect">
                                  <p:stCondLst>
                                    <p:cond delay="20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350"/>
                                        <p:tgtEl>
                                          <p:spTgt spid="17"/>
                                        </p:tgtEl>
                                      </p:cBhvr>
                                    </p:animEffect>
                                    <p:anim calcmode="lin" valueType="num">
                                      <p:cBhvr>
                                        <p:cTn id="75" dur="350" decel="100000" fill="hold"/>
                                        <p:tgtEl>
                                          <p:spTgt spid="17"/>
                                        </p:tgtEl>
                                        <p:attrNameLst>
                                          <p:attrName>ppt_x</p:attrName>
                                        </p:attrNameLst>
                                      </p:cBhvr>
                                      <p:tavLst>
                                        <p:tav tm="0">
                                          <p:val>
                                            <p:strVal val="#ppt_x"/>
                                          </p:val>
                                        </p:tav>
                                        <p:tav tm="100000">
                                          <p:val>
                                            <p:strVal val="#ppt_x"/>
                                          </p:val>
                                        </p:tav>
                                      </p:tavLst>
                                    </p:anim>
                                    <p:anim calcmode="lin" valueType="num">
                                      <p:cBhvr>
                                        <p:cTn id="76" dur="350" decel="100000" fill="hold"/>
                                        <p:tgtEl>
                                          <p:spTgt spid="17"/>
                                        </p:tgtEl>
                                        <p:attrNameLst>
                                          <p:attrName>ppt_y</p:attrName>
                                        </p:attrNameLst>
                                      </p:cBhvr>
                                      <p:tavLst>
                                        <p:tav tm="0">
                                          <p:val>
                                            <p:strVal val="#ppt_y+.05"/>
                                          </p:val>
                                        </p:tav>
                                        <p:tav tm="100000">
                                          <p:val>
                                            <p:strVal val="#ppt_y"/>
                                          </p:val>
                                        </p:tav>
                                      </p:tavLst>
                                    </p:anim>
                                  </p:childTnLst>
                                </p:cTn>
                              </p:par>
                              <p:par>
                                <p:cTn id="77" presetID="42" presetClass="entr" presetSubtype="0" fill="hold" grpId="0" nodeType="withEffect">
                                  <p:stCondLst>
                                    <p:cond delay="20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350"/>
                                        <p:tgtEl>
                                          <p:spTgt spid="18"/>
                                        </p:tgtEl>
                                      </p:cBhvr>
                                    </p:animEffect>
                                    <p:anim calcmode="lin" valueType="num">
                                      <p:cBhvr>
                                        <p:cTn id="80" dur="350" decel="100000" fill="hold"/>
                                        <p:tgtEl>
                                          <p:spTgt spid="18"/>
                                        </p:tgtEl>
                                        <p:attrNameLst>
                                          <p:attrName>ppt_x</p:attrName>
                                        </p:attrNameLst>
                                      </p:cBhvr>
                                      <p:tavLst>
                                        <p:tav tm="0">
                                          <p:val>
                                            <p:strVal val="#ppt_x"/>
                                          </p:val>
                                        </p:tav>
                                        <p:tav tm="100000">
                                          <p:val>
                                            <p:strVal val="#ppt_x"/>
                                          </p:val>
                                        </p:tav>
                                      </p:tavLst>
                                    </p:anim>
                                    <p:anim calcmode="lin" valueType="num">
                                      <p:cBhvr>
                                        <p:cTn id="81" dur="350" decel="100000" fill="hold"/>
                                        <p:tgtEl>
                                          <p:spTgt spid="18"/>
                                        </p:tgtEl>
                                        <p:attrNameLst>
                                          <p:attrName>ppt_y</p:attrName>
                                        </p:attrNameLst>
                                      </p:cBhvr>
                                      <p:tavLst>
                                        <p:tav tm="0">
                                          <p:val>
                                            <p:strVal val="#ppt_y+.05"/>
                                          </p:val>
                                        </p:tav>
                                        <p:tav tm="100000">
                                          <p:val>
                                            <p:strVal val="#ppt_y"/>
                                          </p:val>
                                        </p:tav>
                                      </p:tavLst>
                                    </p:anim>
                                  </p:childTnLst>
                                </p:cTn>
                              </p:par>
                            </p:childTnLst>
                          </p:cTn>
                        </p:par>
                        <p:par>
                          <p:cTn id="82" fill="hold">
                            <p:stCondLst>
                              <p:cond delay="1750"/>
                            </p:stCondLst>
                            <p:childTnLst>
                              <p:par>
                                <p:cTn id="83" presetID="42" presetClass="entr" presetSubtype="0" fill="hold" grpId="0" nodeType="afterEffect">
                                  <p:stCondLst>
                                    <p:cond delay="20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350"/>
                                        <p:tgtEl>
                                          <p:spTgt spid="19"/>
                                        </p:tgtEl>
                                      </p:cBhvr>
                                    </p:animEffect>
                                    <p:anim calcmode="lin" valueType="num">
                                      <p:cBhvr>
                                        <p:cTn id="86" dur="350" decel="100000" fill="hold"/>
                                        <p:tgtEl>
                                          <p:spTgt spid="19"/>
                                        </p:tgtEl>
                                        <p:attrNameLst>
                                          <p:attrName>ppt_x</p:attrName>
                                        </p:attrNameLst>
                                      </p:cBhvr>
                                      <p:tavLst>
                                        <p:tav tm="0">
                                          <p:val>
                                            <p:strVal val="#ppt_x"/>
                                          </p:val>
                                        </p:tav>
                                        <p:tav tm="100000">
                                          <p:val>
                                            <p:strVal val="#ppt_x"/>
                                          </p:val>
                                        </p:tav>
                                      </p:tavLst>
                                    </p:anim>
                                    <p:anim calcmode="lin" valueType="num">
                                      <p:cBhvr>
                                        <p:cTn id="87" dur="350" decel="100000" fill="hold"/>
                                        <p:tgtEl>
                                          <p:spTgt spid="19"/>
                                        </p:tgtEl>
                                        <p:attrNameLst>
                                          <p:attrName>ppt_y</p:attrName>
                                        </p:attrNameLst>
                                      </p:cBhvr>
                                      <p:tavLst>
                                        <p:tav tm="0">
                                          <p:val>
                                            <p:strVal val="#ppt_y+.05"/>
                                          </p:val>
                                        </p:tav>
                                        <p:tav tm="100000">
                                          <p:val>
                                            <p:strVal val="#ppt_y"/>
                                          </p:val>
                                        </p:tav>
                                      </p:tavLst>
                                    </p:anim>
                                  </p:childTnLst>
                                </p:cTn>
                              </p:par>
                              <p:par>
                                <p:cTn id="88" presetID="42" presetClass="entr" presetSubtype="0" fill="hold" grpId="0" nodeType="withEffect">
                                  <p:stCondLst>
                                    <p:cond delay="20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350"/>
                                        <p:tgtEl>
                                          <p:spTgt spid="20"/>
                                        </p:tgtEl>
                                      </p:cBhvr>
                                    </p:animEffect>
                                    <p:anim calcmode="lin" valueType="num">
                                      <p:cBhvr>
                                        <p:cTn id="91" dur="350" decel="100000" fill="hold"/>
                                        <p:tgtEl>
                                          <p:spTgt spid="20"/>
                                        </p:tgtEl>
                                        <p:attrNameLst>
                                          <p:attrName>ppt_x</p:attrName>
                                        </p:attrNameLst>
                                      </p:cBhvr>
                                      <p:tavLst>
                                        <p:tav tm="0">
                                          <p:val>
                                            <p:strVal val="#ppt_x"/>
                                          </p:val>
                                        </p:tav>
                                        <p:tav tm="100000">
                                          <p:val>
                                            <p:strVal val="#ppt_x"/>
                                          </p:val>
                                        </p:tav>
                                      </p:tavLst>
                                    </p:anim>
                                    <p:anim calcmode="lin" valueType="num">
                                      <p:cBhvr>
                                        <p:cTn id="92" dur="350" decel="100000" fill="hold"/>
                                        <p:tgtEl>
                                          <p:spTgt spid="20"/>
                                        </p:tgtEl>
                                        <p:attrNameLst>
                                          <p:attrName>ppt_y</p:attrName>
                                        </p:attrNameLst>
                                      </p:cBhvr>
                                      <p:tavLst>
                                        <p:tav tm="0">
                                          <p:val>
                                            <p:strVal val="#ppt_y+.05"/>
                                          </p:val>
                                        </p:tav>
                                        <p:tav tm="100000">
                                          <p:val>
                                            <p:strVal val="#ppt_y"/>
                                          </p:val>
                                        </p:tav>
                                      </p:tavLst>
                                    </p:anim>
                                  </p:childTnLst>
                                </p:cTn>
                              </p:par>
                              <p:par>
                                <p:cTn id="93" presetID="42" presetClass="entr" presetSubtype="0" fill="hold" nodeType="withEffect">
                                  <p:stCondLst>
                                    <p:cond delay="20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350"/>
                                        <p:tgtEl>
                                          <p:spTgt spid="21"/>
                                        </p:tgtEl>
                                      </p:cBhvr>
                                    </p:animEffect>
                                    <p:anim calcmode="lin" valueType="num">
                                      <p:cBhvr>
                                        <p:cTn id="96" dur="350" decel="100000" fill="hold"/>
                                        <p:tgtEl>
                                          <p:spTgt spid="21"/>
                                        </p:tgtEl>
                                        <p:attrNameLst>
                                          <p:attrName>ppt_x</p:attrName>
                                        </p:attrNameLst>
                                      </p:cBhvr>
                                      <p:tavLst>
                                        <p:tav tm="0">
                                          <p:val>
                                            <p:strVal val="#ppt_x"/>
                                          </p:val>
                                        </p:tav>
                                        <p:tav tm="100000">
                                          <p:val>
                                            <p:strVal val="#ppt_x"/>
                                          </p:val>
                                        </p:tav>
                                      </p:tavLst>
                                    </p:anim>
                                    <p:anim calcmode="lin" valueType="num">
                                      <p:cBhvr>
                                        <p:cTn id="97" dur="350" decel="100000" fill="hold"/>
                                        <p:tgtEl>
                                          <p:spTgt spid="21"/>
                                        </p:tgtEl>
                                        <p:attrNameLst>
                                          <p:attrName>ppt_y</p:attrName>
                                        </p:attrNameLst>
                                      </p:cBhvr>
                                      <p:tavLst>
                                        <p:tav tm="0">
                                          <p:val>
                                            <p:strVal val="#ppt_y+.05"/>
                                          </p:val>
                                        </p:tav>
                                        <p:tav tm="100000">
                                          <p:val>
                                            <p:strVal val="#ppt_y"/>
                                          </p:val>
                                        </p:tav>
                                      </p:tavLst>
                                    </p:anim>
                                  </p:childTnLst>
                                </p:cTn>
                              </p:par>
                              <p:par>
                                <p:cTn id="98" presetID="42" presetClass="entr" presetSubtype="0" fill="hold" grpId="0" nodeType="withEffect">
                                  <p:stCondLst>
                                    <p:cond delay="20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350"/>
                                        <p:tgtEl>
                                          <p:spTgt spid="22"/>
                                        </p:tgtEl>
                                      </p:cBhvr>
                                    </p:animEffect>
                                    <p:anim calcmode="lin" valueType="num">
                                      <p:cBhvr>
                                        <p:cTn id="101" dur="350" decel="100000" fill="hold"/>
                                        <p:tgtEl>
                                          <p:spTgt spid="22"/>
                                        </p:tgtEl>
                                        <p:attrNameLst>
                                          <p:attrName>ppt_x</p:attrName>
                                        </p:attrNameLst>
                                      </p:cBhvr>
                                      <p:tavLst>
                                        <p:tav tm="0">
                                          <p:val>
                                            <p:strVal val="#ppt_x"/>
                                          </p:val>
                                        </p:tav>
                                        <p:tav tm="100000">
                                          <p:val>
                                            <p:strVal val="#ppt_x"/>
                                          </p:val>
                                        </p:tav>
                                      </p:tavLst>
                                    </p:anim>
                                    <p:anim calcmode="lin" valueType="num">
                                      <p:cBhvr>
                                        <p:cTn id="102" dur="350" decel="100000" fill="hold"/>
                                        <p:tgtEl>
                                          <p:spTgt spid="22"/>
                                        </p:tgtEl>
                                        <p:attrNameLst>
                                          <p:attrName>ppt_y</p:attrName>
                                        </p:attrNameLst>
                                      </p:cBhvr>
                                      <p:tavLst>
                                        <p:tav tm="0">
                                          <p:val>
                                            <p:strVal val="#ppt_y+.05"/>
                                          </p:val>
                                        </p:tav>
                                        <p:tav tm="100000">
                                          <p:val>
                                            <p:strVal val="#ppt_y"/>
                                          </p:val>
                                        </p:tav>
                                      </p:tavLst>
                                    </p:anim>
                                  </p:childTnLst>
                                </p:cTn>
                              </p:par>
                              <p:par>
                                <p:cTn id="103" presetID="42" presetClass="entr" presetSubtype="0" fill="hold" grpId="0" nodeType="withEffect">
                                  <p:stCondLst>
                                    <p:cond delay="20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350"/>
                                        <p:tgtEl>
                                          <p:spTgt spid="23"/>
                                        </p:tgtEl>
                                      </p:cBhvr>
                                    </p:animEffect>
                                    <p:anim calcmode="lin" valueType="num">
                                      <p:cBhvr>
                                        <p:cTn id="106" dur="350" decel="100000" fill="hold"/>
                                        <p:tgtEl>
                                          <p:spTgt spid="23"/>
                                        </p:tgtEl>
                                        <p:attrNameLst>
                                          <p:attrName>ppt_x</p:attrName>
                                        </p:attrNameLst>
                                      </p:cBhvr>
                                      <p:tavLst>
                                        <p:tav tm="0">
                                          <p:val>
                                            <p:strVal val="#ppt_x"/>
                                          </p:val>
                                        </p:tav>
                                        <p:tav tm="100000">
                                          <p:val>
                                            <p:strVal val="#ppt_x"/>
                                          </p:val>
                                        </p:tav>
                                      </p:tavLst>
                                    </p:anim>
                                    <p:anim calcmode="lin" valueType="num">
                                      <p:cBhvr>
                                        <p:cTn id="107" dur="350" decel="100000" fill="hold"/>
                                        <p:tgtEl>
                                          <p:spTgt spid="23"/>
                                        </p:tgtEl>
                                        <p:attrNameLst>
                                          <p:attrName>ppt_y</p:attrName>
                                        </p:attrNameLst>
                                      </p:cBhvr>
                                      <p:tavLst>
                                        <p:tav tm="0">
                                          <p:val>
                                            <p:strVal val="#ppt_y+.05"/>
                                          </p:val>
                                        </p:tav>
                                        <p:tav tm="100000">
                                          <p:val>
                                            <p:strVal val="#ppt_y"/>
                                          </p:val>
                                        </p:tav>
                                      </p:tavLst>
                                    </p:anim>
                                  </p:childTnLst>
                                </p:cTn>
                              </p:par>
                            </p:childTnLst>
                          </p:cTn>
                        </p:par>
                        <p:par>
                          <p:cTn id="108" fill="hold">
                            <p:stCondLst>
                              <p:cond delay="2300"/>
                            </p:stCondLst>
                            <p:childTnLst>
                              <p:par>
                                <p:cTn id="109" presetID="10" presetClass="entr" presetSubtype="0" fill="hold" grpId="0" nodeType="afterEffect">
                                  <p:stCondLst>
                                    <p:cond delay="35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500"/>
                                        <p:tgtEl>
                                          <p:spTgt spid="24"/>
                                        </p:tgtEl>
                                      </p:cBhvr>
                                    </p:animEffect>
                                  </p:childTnLst>
                                </p:cTn>
                              </p:par>
                              <p:par>
                                <p:cTn id="112" presetID="10" presetClass="entr" presetSubtype="0" fill="hold" grpId="0" nodeType="withEffect">
                                  <p:stCondLst>
                                    <p:cond delay="35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500"/>
                                        <p:tgtEl>
                                          <p:spTgt spid="25"/>
                                        </p:tgtEl>
                                      </p:cBhvr>
                                    </p:animEffect>
                                  </p:childTnLst>
                                </p:cTn>
                              </p:par>
                              <p:par>
                                <p:cTn id="115" presetID="10" presetClass="entr" presetSubtype="0" fill="hold" grpId="0" nodeType="withEffect">
                                  <p:stCondLst>
                                    <p:cond delay="35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00"/>
                                        <p:tgtEl>
                                          <p:spTgt spid="26"/>
                                        </p:tgtEl>
                                      </p:cBhvr>
                                    </p:animEffect>
                                  </p:childTnLst>
                                </p:cTn>
                              </p:par>
                              <p:par>
                                <p:cTn id="118" presetID="10" presetClass="entr" presetSubtype="0" fill="hold" grpId="0" nodeType="withEffect">
                                  <p:stCondLst>
                                    <p:cond delay="350"/>
                                  </p:stCondLst>
                                  <p:childTnLst>
                                    <p:set>
                                      <p:cBhvr>
                                        <p:cTn id="119" dur="1" fill="hold">
                                          <p:stCondLst>
                                            <p:cond delay="0"/>
                                          </p:stCondLst>
                                        </p:cTn>
                                        <p:tgtEl>
                                          <p:spTgt spid="27"/>
                                        </p:tgtEl>
                                        <p:attrNameLst>
                                          <p:attrName>style.visibility</p:attrName>
                                        </p:attrNameLst>
                                      </p:cBhvr>
                                      <p:to>
                                        <p:strVal val="visible"/>
                                      </p:to>
                                    </p:set>
                                    <p:animEffect transition="in" filter="fade">
                                      <p:cBhvr>
                                        <p:cTn id="120" dur="500"/>
                                        <p:tgtEl>
                                          <p:spTgt spid="27"/>
                                        </p:tgtEl>
                                      </p:cBhvr>
                                    </p:animEffect>
                                  </p:childTnLst>
                                </p:cTn>
                              </p:par>
                              <p:par>
                                <p:cTn id="121" presetID="10" presetClass="entr" presetSubtype="0" fill="hold" grpId="0" nodeType="withEffect">
                                  <p:stCondLst>
                                    <p:cond delay="350"/>
                                  </p:stCondLst>
                                  <p:childTnLst>
                                    <p:set>
                                      <p:cBhvr>
                                        <p:cTn id="122" dur="1" fill="hold">
                                          <p:stCondLst>
                                            <p:cond delay="0"/>
                                          </p:stCondLst>
                                        </p:cTn>
                                        <p:tgtEl>
                                          <p:spTgt spid="28"/>
                                        </p:tgtEl>
                                        <p:attrNameLst>
                                          <p:attrName>style.visibility</p:attrName>
                                        </p:attrNameLst>
                                      </p:cBhvr>
                                      <p:to>
                                        <p:strVal val="visible"/>
                                      </p:to>
                                    </p:set>
                                    <p:animEffect transition="in" filter="fade">
                                      <p:cBhvr>
                                        <p:cTn id="12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6"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p:nvPr>
            <p:ph idx="100" type="title" hasCustomPrompt="1"/>
          </p:nvPr>
        </p:nvSpPr>
        <p:spPr>
          <a:xfrm>
            <a:off x="548640" y="822960"/>
            <a:ext cx="11094415" cy="777240"/>
          </a:xfrm>
          <a:prstGeom prst="rect">
            <a:avLst/>
          </a:prstGeom>
          <a:noFill/>
          <a:ln/>
        </p:spPr>
        <p:txBody>
          <a:bodyPr wrap="square" lIns="0" tIns="0" rIns="0" bIns="0" rtlCol="0" anchor="ctr"/>
          <a:lstStyle/>
          <a:p>
            <a:pPr algn="l" indent="0" marL="0">
              <a:buNone/>
            </a:pPr>
            <a:r>
              <a:rPr lang="en-US" sz="4000" spc="-100" kern="0" dirty="0">
                <a:solidFill>
                  <a:schemeClr val="bg1"/>
                </a:solidFill>
              </a:rPr>
              <a:t>Mom forwards.</a:t>
            </a:r>
            <a:endParaRPr lang="en-US" sz="4000" dirty="0"/>
          </a:p>
        </p:txBody>
      </p:sp>
      <p:sp>
        <p:nvSpPr>
          <p:cNvPr id="3" name="s10-line2"/>
          <p:cNvSpPr txBox="1"/>
          <p:nvPr/>
        </p:nvSpPr>
        <p:spPr>
          <a:xfrm>
            <a:off x="548640" y="1572768"/>
            <a:ext cx="8229600" cy="777240"/>
          </a:xfrm>
          <a:prstGeom prst="rect">
            <a:avLst/>
          </a:prstGeom>
          <a:noFill/>
          <a:ln/>
        </p:spPr>
        <p:txBody>
          <a:bodyPr wrap="square" lIns="0" tIns="0" rIns="0" bIns="0" rtlCol="0" anchor="ctr"/>
          <a:lstStyle/>
          <a:p>
            <a:pPr indent="0" marL="0">
              <a:buNone/>
            </a:pPr>
            <a:r>
              <a:rPr lang="en-US" sz="4000" spc="-100" kern="0" dirty="0">
                <a:solidFill>
                  <a:schemeClr val="bg1"/>
                </a:solidFill>
                <a:latin typeface="Arial Black" pitchFamily="34" charset="0"/>
                <a:ea typeface="Arial Black" pitchFamily="34" charset="-122"/>
                <a:cs typeface="Arial Black" pitchFamily="34" charset="-120"/>
              </a:rPr>
              <a:t>It clicks.</a:t>
            </a:r>
            <a:endParaRPr lang="en-US" sz="4000" dirty="0"/>
          </a:p>
        </p:txBody>
      </p:sp>
      <p:sp>
        <p:nvSpPr>
          <p:cNvPr id="4" name="s10-line3a"/>
          <p:cNvSpPr txBox="1"/>
          <p:nvPr/>
        </p:nvSpPr>
        <p:spPr>
          <a:xfrm>
            <a:off x="548640" y="2322576"/>
            <a:ext cx="8229600" cy="777240"/>
          </a:xfrm>
          <a:prstGeom prst="rect">
            <a:avLst/>
          </a:prstGeom>
          <a:noFill/>
          <a:ln/>
        </p:spPr>
        <p:txBody>
          <a:bodyPr wrap="square" lIns="0" tIns="0" rIns="0" bIns="0" rtlCol="0" anchor="ctr"/>
          <a:lstStyle/>
          <a:p>
            <a:pPr indent="0" marL="0">
              <a:buNone/>
            </a:pPr>
            <a:r>
              <a:rPr lang="en-US" sz="4000" spc="-100" kern="0" dirty="0">
                <a:solidFill>
                  <a:schemeClr val="accent1"/>
                </a:solidFill>
                <a:latin typeface="Arial Black" pitchFamily="34" charset="0"/>
                <a:ea typeface="Arial Black" pitchFamily="34" charset="-122"/>
                <a:cs typeface="Arial Black" pitchFamily="34" charset="-120"/>
              </a:rPr>
              <a:t>You only hear about it</a:t>
            </a:r>
            <a:endParaRPr lang="en-US" sz="4000" dirty="0"/>
          </a:p>
        </p:txBody>
      </p:sp>
      <p:sp>
        <p:nvSpPr>
          <p:cNvPr id="5" name="s10-line3b"/>
          <p:cNvSpPr txBox="1"/>
          <p:nvPr/>
        </p:nvSpPr>
        <p:spPr>
          <a:xfrm>
            <a:off x="548640" y="3072384"/>
            <a:ext cx="8229600" cy="777240"/>
          </a:xfrm>
          <a:prstGeom prst="rect">
            <a:avLst/>
          </a:prstGeom>
          <a:noFill/>
          <a:ln/>
        </p:spPr>
        <p:txBody>
          <a:bodyPr wrap="square" lIns="0" tIns="0" rIns="0" bIns="0" rtlCol="0" anchor="ctr"/>
          <a:lstStyle/>
          <a:p>
            <a:pPr indent="0" marL="0">
              <a:buNone/>
            </a:pPr>
            <a:r>
              <a:rPr lang="en-US" sz="4000" spc="-100" kern="0" dirty="0">
                <a:solidFill>
                  <a:schemeClr val="accent1"/>
                </a:solidFill>
                <a:latin typeface="Arial Black" pitchFamily="34" charset="0"/>
                <a:ea typeface="Arial Black" pitchFamily="34" charset="-122"/>
                <a:cs typeface="Arial Black" pitchFamily="34" charset="-120"/>
              </a:rPr>
              <a:t>when it matters.</a:t>
            </a:r>
            <a:endParaRPr lang="en-US" sz="4000" dirty="0"/>
          </a:p>
        </p:txBody>
      </p:sp>
      <p:sp>
        <p:nvSpPr>
          <p:cNvPr id="6" name="s10-pays-label"/>
          <p:cNvSpPr txBox="1"/>
          <p:nvPr/>
        </p:nvSpPr>
        <p:spPr>
          <a:xfrm>
            <a:off x="548640" y="4224528"/>
            <a:ext cx="1371600" cy="256032"/>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urier New" pitchFamily="34" charset="0"/>
                <a:ea typeface="Courier New" pitchFamily="34" charset="-122"/>
                <a:cs typeface="Courier New" pitchFamily="34" charset="-120"/>
              </a:rPr>
              <a:t>WHO PAYS</a:t>
            </a:r>
            <a:endParaRPr lang="en-US" sz="1200" dirty="0"/>
          </a:p>
        </p:txBody>
      </p:sp>
      <p:sp>
        <p:nvSpPr>
          <p:cNvPr id="7" name="s10-pays-text"/>
          <p:cNvSpPr txBox="1"/>
          <p:nvPr/>
        </p:nvSpPr>
        <p:spPr>
          <a:xfrm>
            <a:off x="1920240" y="4160520"/>
            <a:ext cx="6766560" cy="365760"/>
          </a:xfrm>
          <a:prstGeom prst="rect">
            <a:avLst/>
          </a:prstGeom>
          <a:noFill/>
          <a:ln/>
        </p:spPr>
        <p:txBody>
          <a:bodyPr wrap="square" lIns="0" tIns="0" rIns="0" bIns="0" rtlCol="0" anchor="ctr"/>
          <a:lstStyle/>
          <a:p>
            <a:pPr indent="0" marL="0">
              <a:buNone/>
            </a:pPr>
            <a:r>
              <a:rPr lang="en-US" sz="1800" dirty="0">
                <a:solidFill>
                  <a:schemeClr val="bg1"/>
                </a:solidFill>
              </a:rPr>
              <a:t>The adult child, a few dollars a month per parent.</a:t>
            </a:r>
            <a:endParaRPr lang="en-US" sz="1800" dirty="0"/>
          </a:p>
        </p:txBody>
      </p:sp>
      <p:sp>
        <p:nvSpPr>
          <p:cNvPr id="8" name="s10-next-label"/>
          <p:cNvSpPr txBox="1"/>
          <p:nvPr/>
        </p:nvSpPr>
        <p:spPr>
          <a:xfrm>
            <a:off x="548640" y="4928616"/>
            <a:ext cx="1371600" cy="256032"/>
          </a:xfrm>
          <a:prstGeom prst="rect">
            <a:avLst/>
          </a:prstGeom>
          <a:noFill/>
          <a:ln/>
        </p:spPr>
        <p:txBody>
          <a:bodyPr wrap="square" lIns="0" tIns="0" rIns="0" bIns="0" rtlCol="0" anchor="ctr"/>
          <a:lstStyle/>
          <a:p>
            <a:pPr indent="0" marL="0">
              <a:buNone/>
            </a:pPr>
            <a:r>
              <a:rPr lang="en-US" sz="1200" b="1" spc="300" kern="0" dirty="0">
                <a:solidFill>
                  <a:schemeClr val="accent2"/>
                </a:solidFill>
                <a:latin typeface="Courier New" pitchFamily="34" charset="0"/>
                <a:ea typeface="Courier New" pitchFamily="34" charset="-122"/>
                <a:cs typeface="Courier New" pitchFamily="34" charset="-120"/>
              </a:rPr>
              <a:t>NEXT</a:t>
            </a:r>
            <a:endParaRPr lang="en-US" sz="1200" dirty="0"/>
          </a:p>
        </p:txBody>
      </p:sp>
      <p:sp>
        <p:nvSpPr>
          <p:cNvPr id="9" name="s10-next1-bg"/>
          <p:cNvSpPr/>
          <p:nvPr/>
        </p:nvSpPr>
        <p:spPr>
          <a:xfrm>
            <a:off x="1920240" y="4837176"/>
            <a:ext cx="2697480" cy="420624"/>
          </a:xfrm>
          <a:prstGeom prst="roundRect">
            <a:avLst>
              <a:gd name="adj" fmla="val 21739"/>
            </a:avLst>
          </a:prstGeom>
          <a:solidFill>
            <a:schemeClr val="accent5"/>
          </a:solidFill>
          <a:ln w="12700">
            <a:solidFill>
              <a:srgbClr val="3A3129"/>
            </a:solidFill>
            <a:prstDash val="solid"/>
          </a:ln>
        </p:spPr>
      </p:sp>
      <p:pic>
        <p:nvPicPr>
          <p:cNvPr id="10" name="s10-next1-icon" descr="Icon">    </p:cNvPr>
          <p:cNvPicPr>
            <a:picLocks noChangeAspect="1"/>
          </p:cNvPicPr>
          <p:nvPr/>
        </p:nvPicPr>
        <p:blipFill>
          <a:blip r:embed="rId1"/>
          <a:stretch>
            <a:fillRect/>
          </a:stretch>
        </p:blipFill>
        <p:spPr>
          <a:xfrm>
            <a:off x="2048256" y="4956048"/>
            <a:ext cx="182880" cy="182880"/>
          </a:xfrm>
          <a:prstGeom prst="rect">
            <a:avLst/>
          </a:prstGeom>
        </p:spPr>
      </p:pic>
      <p:sp>
        <p:nvSpPr>
          <p:cNvPr id="11" name="s10-next1-text"/>
          <p:cNvSpPr txBox="1"/>
          <p:nvPr/>
        </p:nvSpPr>
        <p:spPr>
          <a:xfrm>
            <a:off x="2322576" y="4837176"/>
            <a:ext cx="2240280" cy="420624"/>
          </a:xfrm>
          <a:prstGeom prst="rect">
            <a:avLst/>
          </a:prstGeom>
          <a:noFill/>
          <a:ln/>
        </p:spPr>
        <p:txBody>
          <a:bodyPr wrap="square" lIns="0" tIns="0" rIns="0" bIns="0" rtlCol="0" anchor="ctr"/>
          <a:lstStyle/>
          <a:p>
            <a:pPr indent="0" marL="0">
              <a:buNone/>
            </a:pPr>
            <a:r>
              <a:rPr lang="en-US" sz="1300" b="1" dirty="0">
                <a:solidFill>
                  <a:schemeClr val="bg1"/>
                </a:solidFill>
              </a:rPr>
              <a:t>A phone number for texts</a:t>
            </a:r>
            <a:endParaRPr lang="en-US" sz="1300" dirty="0"/>
          </a:p>
        </p:txBody>
      </p:sp>
      <p:sp>
        <p:nvSpPr>
          <p:cNvPr id="12" name="s10-next2-bg"/>
          <p:cNvSpPr/>
          <p:nvPr/>
        </p:nvSpPr>
        <p:spPr>
          <a:xfrm>
            <a:off x="4745736" y="4837176"/>
            <a:ext cx="2240280" cy="420624"/>
          </a:xfrm>
          <a:prstGeom prst="roundRect">
            <a:avLst>
              <a:gd name="adj" fmla="val 21739"/>
            </a:avLst>
          </a:prstGeom>
          <a:solidFill>
            <a:schemeClr val="accent5"/>
          </a:solidFill>
          <a:ln w="12700">
            <a:solidFill>
              <a:srgbClr val="3A3129"/>
            </a:solidFill>
            <a:prstDash val="solid"/>
          </a:ln>
        </p:spPr>
      </p:sp>
      <p:pic>
        <p:nvPicPr>
          <p:cNvPr id="13" name="s10-next2-icon" descr="Icon">    </p:cNvPr>
          <p:cNvPicPr>
            <a:picLocks noChangeAspect="1"/>
          </p:cNvPicPr>
          <p:nvPr/>
        </p:nvPicPr>
        <p:blipFill>
          <a:blip r:embed="rId2"/>
          <a:stretch>
            <a:fillRect/>
          </a:stretch>
        </p:blipFill>
        <p:spPr>
          <a:xfrm>
            <a:off x="4873752" y="4956048"/>
            <a:ext cx="182880" cy="182880"/>
          </a:xfrm>
          <a:prstGeom prst="rect">
            <a:avLst/>
          </a:prstGeom>
        </p:spPr>
      </p:pic>
      <p:sp>
        <p:nvSpPr>
          <p:cNvPr id="14" name="s10-next2-text"/>
          <p:cNvSpPr txBox="1"/>
          <p:nvPr/>
        </p:nvSpPr>
        <p:spPr>
          <a:xfrm>
            <a:off x="5148072" y="4837176"/>
            <a:ext cx="1783080" cy="420624"/>
          </a:xfrm>
          <a:prstGeom prst="rect">
            <a:avLst/>
          </a:prstGeom>
          <a:noFill/>
          <a:ln/>
        </p:spPr>
        <p:txBody>
          <a:bodyPr wrap="square" lIns="0" tIns="0" rIns="0" bIns="0" rtlCol="0" anchor="ctr"/>
          <a:lstStyle/>
          <a:p>
            <a:pPr indent="0" marL="0">
              <a:buNone/>
            </a:pPr>
            <a:r>
              <a:rPr lang="en-US" sz="1300" b="1" dirty="0">
                <a:solidFill>
                  <a:schemeClr val="bg1"/>
                </a:solidFill>
              </a:rPr>
              <a:t>A family dashboard</a:t>
            </a:r>
            <a:endParaRPr lang="en-US" sz="1300" dirty="0"/>
          </a:p>
        </p:txBody>
      </p:sp>
      <p:sp>
        <p:nvSpPr>
          <p:cNvPr id="15" name="s10-next3-bg"/>
          <p:cNvSpPr/>
          <p:nvPr/>
        </p:nvSpPr>
        <p:spPr>
          <a:xfrm>
            <a:off x="1920240" y="5367528"/>
            <a:ext cx="3200400" cy="420624"/>
          </a:xfrm>
          <a:prstGeom prst="roundRect">
            <a:avLst>
              <a:gd name="adj" fmla="val 21739"/>
            </a:avLst>
          </a:prstGeom>
          <a:solidFill>
            <a:schemeClr val="accent5"/>
          </a:solidFill>
          <a:ln w="12700">
            <a:solidFill>
              <a:srgbClr val="3A3129"/>
            </a:solidFill>
            <a:prstDash val="solid"/>
          </a:ln>
        </p:spPr>
      </p:sp>
      <p:pic>
        <p:nvPicPr>
          <p:cNvPr id="16" name="s10-next3-icon" descr="Icon">    </p:cNvPr>
          <p:cNvPicPr>
            <a:picLocks noChangeAspect="1"/>
          </p:cNvPicPr>
          <p:nvPr/>
        </p:nvPicPr>
        <p:blipFill>
          <a:blip r:embed="rId3"/>
          <a:stretch>
            <a:fillRect/>
          </a:stretch>
        </p:blipFill>
        <p:spPr>
          <a:xfrm>
            <a:off x="2048256" y="5486400"/>
            <a:ext cx="182880" cy="182880"/>
          </a:xfrm>
          <a:prstGeom prst="rect">
            <a:avLst/>
          </a:prstGeom>
        </p:spPr>
      </p:pic>
      <p:sp>
        <p:nvSpPr>
          <p:cNvPr id="17" name="s10-next3-text"/>
          <p:cNvSpPr txBox="1"/>
          <p:nvPr/>
        </p:nvSpPr>
        <p:spPr>
          <a:xfrm>
            <a:off x="2322576" y="5367528"/>
            <a:ext cx="2743200" cy="420624"/>
          </a:xfrm>
          <a:prstGeom prst="rect">
            <a:avLst/>
          </a:prstGeom>
          <a:noFill/>
          <a:ln/>
        </p:spPr>
        <p:txBody>
          <a:bodyPr wrap="square" lIns="0" tIns="0" rIns="0" bIns="0" rtlCol="0" anchor="ctr"/>
          <a:lstStyle/>
          <a:p>
            <a:pPr indent="0" marL="0">
              <a:buNone/>
            </a:pPr>
            <a:r>
              <a:rPr lang="en-US" sz="1300" b="1" dirty="0">
                <a:solidFill>
                  <a:schemeClr val="bg1"/>
                </a:solidFill>
              </a:rPr>
              <a:t>Shared memory across families</a:t>
            </a:r>
            <a:endParaRPr lang="en-US" sz="1300" dirty="0"/>
          </a:p>
        </p:txBody>
      </p:sp>
      <p:pic>
        <p:nvPicPr>
          <p:cNvPr id="18" name="s10-github-icon" descr="Icon">    </p:cNvPr>
          <p:cNvPicPr>
            <a:picLocks noChangeAspect="1"/>
          </p:cNvPicPr>
          <p:nvPr/>
        </p:nvPicPr>
        <p:blipFill>
          <a:blip r:embed="rId4"/>
          <a:stretch>
            <a:fillRect/>
          </a:stretch>
        </p:blipFill>
        <p:spPr>
          <a:xfrm>
            <a:off x="548640" y="6071616"/>
            <a:ext cx="274320" cy="274320"/>
          </a:xfrm>
          <a:prstGeom prst="rect">
            <a:avLst/>
          </a:prstGeom>
        </p:spPr>
      </p:pic>
      <p:sp>
        <p:nvSpPr>
          <p:cNvPr id="19" name="s10-github"/>
          <p:cNvSpPr txBox="1"/>
          <p:nvPr/>
        </p:nvSpPr>
        <p:spPr>
          <a:xfrm>
            <a:off x="960120" y="6035040"/>
            <a:ext cx="6400800" cy="347472"/>
          </a:xfrm>
          <a:prstGeom prst="rect">
            <a:avLst/>
          </a:prstGeom>
          <a:noFill/>
          <a:ln/>
        </p:spPr>
        <p:txBody>
          <a:bodyPr wrap="square" lIns="0" tIns="0" rIns="0" bIns="0" rtlCol="0" anchor="ctr"/>
          <a:lstStyle/>
          <a:p>
            <a:pPr indent="0" marL="0">
              <a:buNone/>
            </a:pPr>
            <a:r>
              <a:rPr lang="en-US" sz="1600" b="1" dirty="0">
                <a:solidFill>
                  <a:schemeClr val="bg1"/>
                </a:solidFill>
                <a:latin typeface="Courier New" pitchFamily="34" charset="0"/>
                <a:ea typeface="Courier New" pitchFamily="34" charset="-122"/>
                <a:cs typeface="Courier New" pitchFamily="34" charset="-120"/>
              </a:rPr>
              <a:t>github.com/vnmoorthy/mom-dont-click</a:t>
            </a:r>
            <a:endParaRPr lang="en-US" sz="1600" dirty="0"/>
          </a:p>
        </p:txBody>
      </p:sp>
      <p:sp>
        <p:nvSpPr>
          <p:cNvPr id="20" name="!!frame"/>
          <p:cNvSpPr/>
          <p:nvPr/>
        </p:nvSpPr>
        <p:spPr>
          <a:xfrm>
            <a:off x="9192463" y="959104"/>
            <a:ext cx="2450592" cy="4939792"/>
          </a:xfrm>
          <a:prstGeom prst="roundRect">
            <a:avLst>
              <a:gd name="adj" fmla="val 11194"/>
            </a:avLst>
          </a:prstGeom>
          <a:solidFill>
            <a:schemeClr val="accent5"/>
          </a:solidFill>
          <a:ln w="12700">
            <a:solidFill>
              <a:srgbClr val="3A3129"/>
            </a:solidFill>
            <a:prstDash val="solid"/>
          </a:ln>
        </p:spPr>
      </p:sp>
      <p:pic>
        <p:nvPicPr>
          <p:cNvPr id="21" name="s10-phone-shot" descr="The guardian sign-up on a phone: Be the first to know. Without being the help desk.">    </p:cNvPr>
          <p:cNvPicPr>
            <a:picLocks noChangeAspect="1"/>
          </p:cNvPicPr>
          <p:nvPr/>
        </p:nvPicPr>
        <p:blipFill>
          <a:blip r:embed="rId5"/>
          <a:stretch>
            <a:fillRect/>
          </a:stretch>
        </p:blipFill>
        <p:spPr>
          <a:xfrm>
            <a:off x="9274759" y="1041400"/>
            <a:ext cx="2286000" cy="477520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anim calcmode="lin" valueType="num">
                                      <p:cBhvr>
                                        <p:cTn id="8" dur="450" decel="100000" fill="hold"/>
                                        <p:tgtEl>
                                          <p:spTgt spid="2"/>
                                        </p:tgtEl>
                                        <p:attrNameLst>
                                          <p:attrName>ppt_x</p:attrName>
                                        </p:attrNameLst>
                                      </p:cBhvr>
                                      <p:tavLst>
                                        <p:tav tm="0">
                                          <p:val>
                                            <p:strVal val="#ppt_x"/>
                                          </p:val>
                                        </p:tav>
                                        <p:tav tm="100000">
                                          <p:val>
                                            <p:strVal val="#ppt_x"/>
                                          </p:val>
                                        </p:tav>
                                      </p:tavLst>
                                    </p:anim>
                                    <p:anim calcmode="lin" valueType="num">
                                      <p:cBhvr>
                                        <p:cTn id="9" dur="450" decel="100000" fill="hold"/>
                                        <p:tgtEl>
                                          <p:spTgt spid="2"/>
                                        </p:tgtEl>
                                        <p:attrNameLst>
                                          <p:attrName>ppt_y</p:attrName>
                                        </p:attrNameLst>
                                      </p:cBhvr>
                                      <p:tavLst>
                                        <p:tav tm="0">
                                          <p:val>
                                            <p:strVal val="#ppt_y+.05"/>
                                          </p:val>
                                        </p:tav>
                                        <p:tav tm="100000">
                                          <p:val>
                                            <p:strVal val="#ppt_y"/>
                                          </p:val>
                                        </p:tav>
                                      </p:tavLst>
                                    </p:anim>
                                  </p:childTnLst>
                                </p:cTn>
                              </p:par>
                            </p:childTnLst>
                          </p:cTn>
                        </p:par>
                        <p:par>
                          <p:cTn id="10" fill="hold">
                            <p:stCondLst>
                              <p:cond delay="950"/>
                            </p:stCondLst>
                            <p:childTnLst>
                              <p:par>
                                <p:cTn id="11" presetID="42" presetClass="entr" presetSubtype="0" fill="hold" grpId="0" nodeType="afterEffect">
                                  <p:stCondLst>
                                    <p:cond delay="50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50"/>
                                        <p:tgtEl>
                                          <p:spTgt spid="3"/>
                                        </p:tgtEl>
                                      </p:cBhvr>
                                    </p:animEffect>
                                    <p:anim calcmode="lin" valueType="num">
                                      <p:cBhvr>
                                        <p:cTn id="14" dur="450" decel="100000" fill="hold"/>
                                        <p:tgtEl>
                                          <p:spTgt spid="3"/>
                                        </p:tgtEl>
                                        <p:attrNameLst>
                                          <p:attrName>ppt_x</p:attrName>
                                        </p:attrNameLst>
                                      </p:cBhvr>
                                      <p:tavLst>
                                        <p:tav tm="0">
                                          <p:val>
                                            <p:strVal val="#ppt_x"/>
                                          </p:val>
                                        </p:tav>
                                        <p:tav tm="100000">
                                          <p:val>
                                            <p:strVal val="#ppt_x"/>
                                          </p:val>
                                        </p:tav>
                                      </p:tavLst>
                                    </p:anim>
                                    <p:anim calcmode="lin" valueType="num">
                                      <p:cBhvr>
                                        <p:cTn id="15" dur="450" decel="100000" fill="hold"/>
                                        <p:tgtEl>
                                          <p:spTgt spid="3"/>
                                        </p:tgtEl>
                                        <p:attrNameLst>
                                          <p:attrName>ppt_y</p:attrName>
                                        </p:attrNameLst>
                                      </p:cBhvr>
                                      <p:tavLst>
                                        <p:tav tm="0">
                                          <p:val>
                                            <p:strVal val="#ppt_y+.05"/>
                                          </p:val>
                                        </p:tav>
                                        <p:tav tm="100000">
                                          <p:val>
                                            <p:strVal val="#ppt_y"/>
                                          </p:val>
                                        </p:tav>
                                      </p:tavLst>
                                    </p:anim>
                                  </p:childTnLst>
                                </p:cTn>
                              </p:par>
                            </p:childTnLst>
                          </p:cTn>
                        </p:par>
                        <p:par>
                          <p:cTn id="16" fill="hold">
                            <p:stCondLst>
                              <p:cond delay="1900"/>
                            </p:stCondLst>
                            <p:childTnLst>
                              <p:par>
                                <p:cTn id="17" presetID="42" presetClass="entr" presetSubtype="0" fill="hold" grpId="0" nodeType="afterEffect">
                                  <p:stCondLst>
                                    <p:cond delay="5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600"/>
                                        <p:tgtEl>
                                          <p:spTgt spid="4"/>
                                        </p:tgtEl>
                                      </p:cBhvr>
                                    </p:animEffect>
                                    <p:anim calcmode="lin" valueType="num">
                                      <p:cBhvr>
                                        <p:cTn id="20" dur="600" decel="100000" fill="hold"/>
                                        <p:tgtEl>
                                          <p:spTgt spid="4"/>
                                        </p:tgtEl>
                                        <p:attrNameLst>
                                          <p:attrName>ppt_x</p:attrName>
                                        </p:attrNameLst>
                                      </p:cBhvr>
                                      <p:tavLst>
                                        <p:tav tm="0">
                                          <p:val>
                                            <p:strVal val="#ppt_x"/>
                                          </p:val>
                                        </p:tav>
                                        <p:tav tm="100000">
                                          <p:val>
                                            <p:strVal val="#ppt_x"/>
                                          </p:val>
                                        </p:tav>
                                      </p:tavLst>
                                    </p:anim>
                                    <p:anim calcmode="lin" valueType="num">
                                      <p:cBhvr>
                                        <p:cTn id="21" dur="600" decel="100000" fill="hold"/>
                                        <p:tgtEl>
                                          <p:spTgt spid="4"/>
                                        </p:tgtEl>
                                        <p:attrNameLst>
                                          <p:attrName>ppt_y</p:attrName>
                                        </p:attrNameLst>
                                      </p:cBhvr>
                                      <p:tavLst>
                                        <p:tav tm="0">
                                          <p:val>
                                            <p:strVal val="#ppt_y+.05"/>
                                          </p:val>
                                        </p:tav>
                                        <p:tav tm="100000">
                                          <p:val>
                                            <p:strVal val="#ppt_y"/>
                                          </p:val>
                                        </p:tav>
                                      </p:tavLst>
                                    </p:anim>
                                  </p:childTnLst>
                                </p:cTn>
                              </p:par>
                              <p:par>
                                <p:cTn id="22" presetID="42" presetClass="entr" presetSubtype="0" fill="hold" grpId="0" nodeType="withEffect">
                                  <p:stCondLst>
                                    <p:cond delay="50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600"/>
                                        <p:tgtEl>
                                          <p:spTgt spid="5"/>
                                        </p:tgtEl>
                                      </p:cBhvr>
                                    </p:animEffect>
                                    <p:anim calcmode="lin" valueType="num">
                                      <p:cBhvr>
                                        <p:cTn id="25" dur="600" decel="100000" fill="hold"/>
                                        <p:tgtEl>
                                          <p:spTgt spid="5"/>
                                        </p:tgtEl>
                                        <p:attrNameLst>
                                          <p:attrName>ppt_x</p:attrName>
                                        </p:attrNameLst>
                                      </p:cBhvr>
                                      <p:tavLst>
                                        <p:tav tm="0">
                                          <p:val>
                                            <p:strVal val="#ppt_x"/>
                                          </p:val>
                                        </p:tav>
                                        <p:tav tm="100000">
                                          <p:val>
                                            <p:strVal val="#ppt_x"/>
                                          </p:val>
                                        </p:tav>
                                      </p:tavLst>
                                    </p:anim>
                                    <p:anim calcmode="lin" valueType="num">
                                      <p:cBhvr>
                                        <p:cTn id="26" dur="600" decel="100000" fill="hold"/>
                                        <p:tgtEl>
                                          <p:spTgt spid="5"/>
                                        </p:tgtEl>
                                        <p:attrNameLst>
                                          <p:attrName>ppt_y</p:attrName>
                                        </p:attrNameLst>
                                      </p:cBhvr>
                                      <p:tavLst>
                                        <p:tav tm="0">
                                          <p:val>
                                            <p:strVal val="#ppt_y+.05"/>
                                          </p:val>
                                        </p:tav>
                                        <p:tav tm="100000">
                                          <p:val>
                                            <p:strVal val="#ppt_y"/>
                                          </p:val>
                                        </p:tav>
                                      </p:tavLst>
                                    </p:anim>
                                  </p:childTnLst>
                                </p:cTn>
                              </p:par>
                            </p:childTnLst>
                          </p:cTn>
                        </p:par>
                        <p:par>
                          <p:cTn id="27" fill="hold">
                            <p:stCondLst>
                              <p:cond delay="3000"/>
                            </p:stCondLst>
                            <p:childTnLst>
                              <p:par>
                                <p:cTn id="28" presetID="10" presetClass="entr" presetSubtype="0" fill="hold" grpId="0" nodeType="afterEffect">
                                  <p:stCondLst>
                                    <p:cond delay="6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400"/>
                                        <p:tgtEl>
                                          <p:spTgt spid="6"/>
                                        </p:tgtEl>
                                      </p:cBhvr>
                                    </p:animEffect>
                                  </p:childTnLst>
                                </p:cTn>
                              </p:par>
                              <p:par>
                                <p:cTn id="31" presetID="10" presetClass="entr" presetSubtype="0" fill="hold" grpId="0" nodeType="withEffect">
                                  <p:stCondLst>
                                    <p:cond delay="60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400"/>
                                        <p:tgtEl>
                                          <p:spTgt spid="7"/>
                                        </p:tgtEl>
                                      </p:cBhvr>
                                    </p:animEffect>
                                  </p:childTnLst>
                                </p:cTn>
                              </p:par>
                            </p:childTnLst>
                          </p:cTn>
                        </p:par>
                        <p:par>
                          <p:cTn id="34" fill="hold">
                            <p:stCondLst>
                              <p:cond delay="4000"/>
                            </p:stCondLst>
                            <p:childTnLst>
                              <p:par>
                                <p:cTn id="35" presetID="10" presetClass="entr" presetSubtype="0" fill="hold" grpId="0" nodeType="afterEffect">
                                  <p:stCondLst>
                                    <p:cond delay="25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400"/>
                                        <p:tgtEl>
                                          <p:spTgt spid="8"/>
                                        </p:tgtEl>
                                      </p:cBhvr>
                                    </p:animEffect>
                                  </p:childTnLst>
                                </p:cTn>
                              </p:par>
                              <p:par>
                                <p:cTn id="38" presetID="10" presetClass="entr" presetSubtype="0" fill="hold" grpId="0" nodeType="withEffect">
                                  <p:stCondLst>
                                    <p:cond delay="25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400"/>
                                        <p:tgtEl>
                                          <p:spTgt spid="9"/>
                                        </p:tgtEl>
                                      </p:cBhvr>
                                    </p:animEffect>
                                  </p:childTnLst>
                                </p:cTn>
                              </p:par>
                              <p:par>
                                <p:cTn id="41" presetID="10" presetClass="entr" presetSubtype="0" fill="hold" nodeType="withEffect">
                                  <p:stCondLst>
                                    <p:cond delay="2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400"/>
                                        <p:tgtEl>
                                          <p:spTgt spid="10"/>
                                        </p:tgtEl>
                                      </p:cBhvr>
                                    </p:animEffect>
                                  </p:childTnLst>
                                </p:cTn>
                              </p:par>
                              <p:par>
                                <p:cTn id="44" presetID="10" presetClass="entr" presetSubtype="0" fill="hold" grpId="0" nodeType="withEffect">
                                  <p:stCondLst>
                                    <p:cond delay="25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400"/>
                                        <p:tgtEl>
                                          <p:spTgt spid="11"/>
                                        </p:tgtEl>
                                      </p:cBhvr>
                                    </p:animEffect>
                                  </p:childTnLst>
                                </p:cTn>
                              </p:par>
                              <p:par>
                                <p:cTn id="47" presetID="10" presetClass="entr" presetSubtype="0" fill="hold" grpId="0" nodeType="withEffect">
                                  <p:stCondLst>
                                    <p:cond delay="25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400"/>
                                        <p:tgtEl>
                                          <p:spTgt spid="12"/>
                                        </p:tgtEl>
                                      </p:cBhvr>
                                    </p:animEffect>
                                  </p:childTnLst>
                                </p:cTn>
                              </p:par>
                              <p:par>
                                <p:cTn id="50" presetID="10" presetClass="entr" presetSubtype="0" fill="hold" nodeType="withEffect">
                                  <p:stCondLst>
                                    <p:cond delay="25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400"/>
                                        <p:tgtEl>
                                          <p:spTgt spid="13"/>
                                        </p:tgtEl>
                                      </p:cBhvr>
                                    </p:animEffect>
                                  </p:childTnLst>
                                </p:cTn>
                              </p:par>
                              <p:par>
                                <p:cTn id="53" presetID="10" presetClass="entr" presetSubtype="0" fill="hold" grpId="0" nodeType="withEffect">
                                  <p:stCondLst>
                                    <p:cond delay="25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400"/>
                                        <p:tgtEl>
                                          <p:spTgt spid="14"/>
                                        </p:tgtEl>
                                      </p:cBhvr>
                                    </p:animEffect>
                                  </p:childTnLst>
                                </p:cTn>
                              </p:par>
                              <p:par>
                                <p:cTn id="56" presetID="10" presetClass="entr" presetSubtype="0" fill="hold" grpId="0" nodeType="withEffect">
                                  <p:stCondLst>
                                    <p:cond delay="25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400"/>
                                        <p:tgtEl>
                                          <p:spTgt spid="15"/>
                                        </p:tgtEl>
                                      </p:cBhvr>
                                    </p:animEffect>
                                  </p:childTnLst>
                                </p:cTn>
                              </p:par>
                              <p:par>
                                <p:cTn id="59" presetID="10" presetClass="entr" presetSubtype="0" fill="hold" nodeType="withEffect">
                                  <p:stCondLst>
                                    <p:cond delay="25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400"/>
                                        <p:tgtEl>
                                          <p:spTgt spid="16"/>
                                        </p:tgtEl>
                                      </p:cBhvr>
                                    </p:animEffect>
                                  </p:childTnLst>
                                </p:cTn>
                              </p:par>
                              <p:par>
                                <p:cTn id="62" presetID="10" presetClass="entr" presetSubtype="0" fill="hold" grpId="0" nodeType="withEffect">
                                  <p:stCondLst>
                                    <p:cond delay="25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400"/>
                                        <p:tgtEl>
                                          <p:spTgt spid="17"/>
                                        </p:tgtEl>
                                      </p:cBhvr>
                                    </p:animEffect>
                                  </p:childTnLst>
                                </p:cTn>
                              </p:par>
                            </p:childTnLst>
                          </p:cTn>
                        </p:par>
                        <p:par>
                          <p:cTn id="65" fill="hold">
                            <p:stCondLst>
                              <p:cond delay="4650"/>
                            </p:stCondLst>
                            <p:childTnLst>
                              <p:par>
                                <p:cTn id="66" presetID="10" presetClass="entr" presetSubtype="0" fill="hold" nodeType="afterEffect">
                                  <p:stCondLst>
                                    <p:cond delay="25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400"/>
                                        <p:tgtEl>
                                          <p:spTgt spid="18"/>
                                        </p:tgtEl>
                                      </p:cBhvr>
                                    </p:animEffect>
                                  </p:childTnLst>
                                </p:cTn>
                              </p:par>
                              <p:par>
                                <p:cTn id="69" presetID="10" presetClass="entr" presetSubtype="0" fill="hold" grpId="0" nodeType="withEffect">
                                  <p:stCondLst>
                                    <p:cond delay="25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1" grpId="0" animBg="1"/>
      <p:bldP spid="12" grpId="0" animBg="1"/>
      <p:bldP spid="14" grpId="0" animBg="1"/>
      <p:bldP spid="15" grpId="0" animBg="1"/>
      <p:bldP spid="17" grpId="0" animBg="1"/>
      <p:bldP spid="19" grpId="0" animBg="1"/>
    </p:bldLst>
  </p:timing>
</p:sld>
</file>

<file path=ppt/theme/theme1.xml><?xml version="1.0" encoding="utf-8"?>
<a:theme xmlns:a="http://schemas.openxmlformats.org/drawingml/2006/main" name="Mom Dont Click">
  <a:themeElements>
    <a:clrScheme name="Mom Dont Click">
      <a:dk1>
        <a:srgbClr val="17130F"/>
      </a:dk1>
      <a:lt1>
        <a:srgbClr val="F6F0E4"/>
      </a:lt1>
      <a:dk2>
        <a:srgbClr val="0D0B09"/>
      </a:dk2>
      <a:lt2>
        <a:srgbClr val="CFC4B0"/>
      </a:lt2>
      <a:accent1>
        <a:srgbClr val="E8391C"/>
      </a:accent1>
      <a:accent2>
        <a:srgbClr val="F2A417"/>
      </a:accent2>
      <a:accent3>
        <a:srgbClr val="5D7186"/>
      </a:accent3>
      <a:accent4>
        <a:srgbClr val="8F8473"/>
      </a:accent4>
      <a:accent5>
        <a:srgbClr val="241E19"/>
      </a:accent5>
      <a:accent6>
        <a:srgbClr val="D6CAB3"/>
      </a:accent6>
      <a:hlink>
        <a:srgbClr val="E8391C"/>
      </a:hlink>
      <a:folHlink>
        <a:srgbClr val="8F8473"/>
      </a:folHlink>
    </a:clrScheme>
    <a:fontScheme name="Mom Dont Click">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Mom, Don't Click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Mom, Don't Click</dc:title>
  <dc:subject>One email address your mom forwards anything sketchy to</dc:subject>
  <dc:creator>Mom, Don't Click</dc:creator>
  <cp:lastModifiedBy>Mom, Don't Click</cp:lastModifiedBy>
  <cp:revision>1</cp:revision>
  <dcterms:created xsi:type="dcterms:W3CDTF">2026-10-04T21:22:47Z</dcterms:created>
  <dcterms:modified xsi:type="dcterms:W3CDTF">2026-10-04T21:22:47Z</dcterms:modified>
</cp:coreProperties>
</file>